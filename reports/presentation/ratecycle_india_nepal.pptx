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270387-520c-756b-1544-a67ec03e8054}">
          <p14:sldIdLst>
            <p14:sldId id="256"/>
            <p14:sldId id="257"/>
          </p14:sldIdLst>
        </p14:section>
        <p14:section name="Method" id="{e6db16f2-a866-4850-4ff8-95b824663875}">
          <p14:sldIdLst>
            <p14:sldId id="258"/>
          </p14:sldIdLst>
        </p14:section>
        <p14:section name="India" id="{3e459e15-b1af-1910-518c-9fcab83edd90}">
          <p14:sldIdLst>
            <p14:sldId id="259"/>
            <p14:sldId id="260"/>
            <p14:sldId id="261"/>
          </p14:sldIdLst>
        </p14:section>
        <p14:section name="Nepal" id="{ef0d3795-49b0-c54c-fe0f-7d6f07703429}">
          <p14:sldIdLst>
            <p14:sldId id="262"/>
            <p14:sldId id="263"/>
            <p14:sldId id="264"/>
            <p14:sldId id="265"/>
          </p14:sldIdLst>
        </p14:section>
        <p14:section name="Outlook and limits" id="{ae575309-8e32-2805-1289-1d876e141a32}">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Average change in the probability of a hike, points</a:t>
            </a:r>
          </a:p>
        </c:rich>
      </c:tx>
      <c:layout/>
      <c:overlay val="0"/>
    </c:title>
    <c:autoTitleDeleted val="0"/>
    <c:plotArea>
      <c:layout/>
      <c:barChart>
        <c:barDir val="bar"/>
        <c:grouping val="clustered"/>
        <c:varyColors val="0"/>
        <c:ser>
          <c:idx val="0"/>
          <c:order val="0"/>
          <c:tx>
            <c:strRef>
              <c:f>Sheet1!$B$1</c:f>
              <c:strCache>
                <c:ptCount val="1"/>
                <c:pt idx="0">
                  <c:v>Change in P(hike), points</c:v>
                </c:pt>
              </c:strCache>
            </c:strRef>
          </c:tx>
          <c:spPr>
            <a:solidFill>
              <a:srgbClr val="EB6834"/>
            </a:solidFill>
            <a:effectLst/>
          </c:spPr>
          <c:invertIfNegative val="0"/>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dPt>
            <c:idx val="5"/>
            <c:invertIfNegative val="0"/>
            <c:bubble3D val="0"/>
            <c:spPr>
              <a:solidFill>
                <a:srgbClr val="8A8F98"/>
              </a:solidFill>
              <a:effectLst/>
            </c:spPr>
          </c:dPt>
          <c:cat>
            <c:multiLvlStrRef>
              <c:f>Sheet1!$A$2:$A$7</c:f>
              <c:multiLvlStrCache>
                <c:ptCount val="6"/>
                <c:lvl>
                  <c:pt idx="0">
                    <c:v>Previous decision was a hike</c:v>
                  </c:pt>
                  <c:pt idx="1">
                    <c:v>RBI raised its inflation projection by 1 point</c:v>
                  </c:pt>
                  <c:pt idx="2">
                    <c:v>Realized inflation 1 point above anchor</c:v>
                  </c:pt>
                  <c:pt idx="3">
                    <c:v>Projected inflation 1 point above anchor</c:v>
                  </c:pt>
                  <c:pt idx="4">
                    <c:v>Growth gap 1 point higher</c:v>
                  </c:pt>
                  <c:pt idx="5">
                    <c:v>Rupee 1 percent weaker</c:v>
                  </c:pt>
                </c:lvl>
              </c:multiLvlStrCache>
            </c:multiLvlStrRef>
          </c:cat>
          <c:val>
            <c:numRef>
              <c:f>Sheet1!$B$2:$B$7</c:f>
              <c:numCache>
                <c:formatCode>General</c:formatCode>
                <c:ptCount val="6"/>
                <c:pt idx="0">
                  <c:v>24.5</c:v>
                </c:pt>
                <c:pt idx="1">
                  <c:v>27.6</c:v>
                </c:pt>
                <c:pt idx="2">
                  <c:v>2.5</c:v>
                </c:pt>
                <c:pt idx="3">
                  <c:v>-4.7</c:v>
                </c:pt>
                <c:pt idx="4">
                  <c:v>0.2</c:v>
                </c:pt>
                <c:pt idx="5">
                  <c:v>-0.3</c:v>
                </c:pt>
              </c:numCache>
            </c:numRef>
          </c:val>
        </c:ser>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5"/>
          <c:min val="-15"/>
        </c:scaling>
        <c:delete val="1"/>
        <c:axPos val="b"/>
        <c:majorGridlines>
          <c:spPr>
            <a:ln w="6350" cap="flat">
              <a:solidFill>
                <a:srgbClr val="D9DCE1"/>
              </a:solidFill>
              <a:prstDash val="solid"/>
              <a:round/>
            </a:ln>
          </c:spPr>
        </c:majorGridlines>
        <c:numFmt formatCode="0;&quot;minus &quot;0"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31 decisions, November 2021 to October 2026</a:t>
            </a:r>
          </a:p>
        </c:rich>
      </c:tx>
      <c:layout/>
      <c:overlay val="0"/>
    </c:title>
    <c:autoTitleDeleted val="0"/>
    <c:plotArea>
      <c:layout/>
      <c:barChart>
        <c:barDir val="col"/>
        <c:grouping val="clustered"/>
        <c:varyColors val="0"/>
        <c:ser>
          <c:idx val="0"/>
          <c:order val="0"/>
          <c:tx>
            <c:strRef>
              <c:f>Sheet1!$B$1</c:f>
              <c:strCache>
                <c:ptCount val="1"/>
                <c:pt idx="0">
                  <c:v>Balanced accuracy</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8A8F98"/>
              </a:solidFill>
              <a:effectLst/>
            </c:spPr>
          </c:dPt>
          <c:dPt>
            <c:idx val="1"/>
            <c:invertIfNegative val="0"/>
            <c:bubble3D val="0"/>
            <c:spPr>
              <a:solidFill>
                <a:srgbClr val="8A8F98"/>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EB6834"/>
              </a:solidFill>
              <a:effectLst/>
            </c:spPr>
          </c:dPt>
          <c:cat>
            <c:multiLvlStrRef>
              <c:f>Sheet1!$A$2:$A$6</c:f>
              <c:multiLvlStrCache>
                <c:ptCount val="5"/>
                <c:lvl>
                  <c:pt idx="0">
                    <c:v>Majority class</c:v>
                  </c:pt>
                  <c:pt idx="1">
                    <c:v>Persistence</c:v>
                  </c:pt>
                  <c:pt idx="2">
                    <c:v>Random forest</c:v>
                  </c:pt>
                  <c:pt idx="3">
                    <c:v>Taylor rule probit</c:v>
                  </c:pt>
                  <c:pt idx="4">
                    <c:v>Economic probit</c:v>
                  </c:pt>
                </c:lvl>
              </c:multiLvlStrCache>
            </c:multiLvlStrRef>
          </c:cat>
          <c:val>
            <c:numRef>
              <c:f>Sheet1!$B$2:$B$6</c:f>
              <c:numCache>
                <c:formatCode>General</c:formatCode>
                <c:ptCount val="5"/>
                <c:pt idx="0">
                  <c:v>0.333</c:v>
                </c:pt>
                <c:pt idx="1">
                  <c:v>0.555</c:v>
                </c:pt>
                <c:pt idx="2">
                  <c:v>0.491</c:v>
                </c:pt>
                <c:pt idx="3">
                  <c:v>0.641</c:v>
                </c:pt>
                <c:pt idx="4">
                  <c:v>0.693</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at each stage</a:t>
            </a:r>
          </a:p>
        </c:rich>
      </c:tx>
      <c:layout/>
      <c:overlay val="0"/>
    </c:title>
    <c:autoTitleDeleted val="0"/>
    <c:plotArea>
      <c:layout/>
      <c:barChart>
        <c:barDir val="col"/>
        <c:grouping val="clustered"/>
        <c:varyColors val="0"/>
        <c:ser>
          <c:idx val="0"/>
          <c:order val="0"/>
          <c:tx>
            <c:strRef>
              <c:f>Sheet1!$B$1</c:f>
              <c:strCache>
                <c:ptCount val="1"/>
                <c:pt idx="0">
                  <c:v>In sample</c:v>
                </c:pt>
              </c:strCache>
            </c:strRef>
          </c:tx>
          <c:spPr>
            <a:solidFill>
              <a:srgbClr val="BFC4CC"/>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Sheet1!$B$2:$B$4</c:f>
              <c:numCache>
                <c:formatCode>General</c:formatCode>
                <c:ptCount val="3"/>
                <c:pt idx="0">
                  <c:v>0.598</c:v>
                </c:pt>
                <c:pt idx="1">
                  <c:v>0.735</c:v>
                </c:pt>
                <c:pt idx="2">
                  <c:v>0.751</c:v>
                </c:pt>
              </c:numCache>
            </c:numRef>
          </c:val>
        </c:ser>
        <c:ser>
          <c:idx val="1"/>
          <c:order val="1"/>
          <c:tx>
            <c:strRef>
              <c:f>Sheet1!$C$1</c:f>
              <c:strCache>
                <c:ptCount val="1"/>
                <c:pt idx="0">
                  <c:v>Walk forward, training years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Sheet1!$C$2:$C$4</c:f>
              <c:numCache>
                <c:formatCode>General</c:formatCode>
                <c:ptCount val="3"/>
                <c:pt idx="0">
                  <c:v>0.639</c:v>
                </c:pt>
                <c:pt idx="1">
                  <c:v>0.64</c:v>
                </c:pt>
                <c:pt idx="2">
                  <c:v>0.727</c:v>
                </c:pt>
              </c:numCache>
            </c:numRef>
          </c:val>
        </c:ser>
        <c:ser>
          <c:idx val="2"/>
          <c:order val="2"/>
          <c:tx>
            <c:strRef>
              <c:f>Sheet1!$D$1</c:f>
              <c:strCache>
                <c:ptCount val="1"/>
                <c:pt idx="0">
                  <c:v>Unseen 2021 to 2026</c:v>
                </c:pt>
              </c:strCache>
            </c:strRef>
          </c:tx>
          <c:spPr>
            <a:solidFill>
              <a:srgbClr val="1F2D4A"/>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Sheet1!$D$2:$D$4</c:f>
              <c:numCache>
                <c:formatCode>General</c:formatCode>
                <c:ptCount val="3"/>
                <c:pt idx="0">
                  <c:v>0.693</c:v>
                </c:pt>
                <c:pt idx="1">
                  <c:v>0.669</c:v>
                </c:pt>
                <c:pt idx="2">
                  <c:v>0.53</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57 months, 2021 to 2026</a:t>
            </a:r>
          </a:p>
        </c:rich>
      </c:tx>
      <c:layout/>
      <c:overlay val="0"/>
    </c:title>
    <c:autoTitleDeleted val="0"/>
    <c:plotArea>
      <c:layout/>
      <c:barChart>
        <c:barDir val="col"/>
        <c:grouping val="clustered"/>
        <c:varyColors val="0"/>
        <c:ser>
          <c:idx val="0"/>
          <c:order val="0"/>
          <c:tx>
            <c:strRef>
              <c:f>Sheet1!$B$1</c:f>
              <c:strCache>
                <c:ptCount val="1"/>
                <c:pt idx="0">
                  <c:v>Model</c:v>
                </c:pt>
              </c:strCache>
            </c:strRef>
          </c:tx>
          <c:spPr>
            <a:solidFill>
              <a:srgbClr val="2A78D6"/>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Sheet1!$B$2:$B$3</c:f>
              <c:numCache>
                <c:formatCode>General</c:formatCode>
                <c:ptCount val="2"/>
                <c:pt idx="0">
                  <c:v>0.669</c:v>
                </c:pt>
                <c:pt idx="1">
                  <c:v>0.53</c:v>
                </c:pt>
              </c:numCache>
            </c:numRef>
          </c:val>
        </c:ser>
        <c:ser>
          <c:idx val="1"/>
          <c:order val="1"/>
          <c:tx>
            <c:strRef>
              <c:f>Sheet1!$C$1</c:f>
              <c:strCache>
                <c:ptCount val="1"/>
                <c:pt idx="0">
                  <c:v>Persistence</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Sheet1!$C$2:$C$3</c:f>
              <c:numCache>
                <c:formatCode>General</c:formatCode>
                <c:ptCount val="2"/>
                <c:pt idx="0">
                  <c:v>0.604</c:v>
                </c:pt>
                <c:pt idx="1">
                  <c:v>0.651</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asks two questions: can the RBI's next decision be predicted from what it could see at the meeting, and does Indian monetary policy set Nepali interest rates under the peg. The short answer to the second is in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results carry the talk. The India model works on data it never saw, but mostly because the RBI is predictable most of the time. Nepal's interest rates do not follow India's. Nepal's prices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threat in forecasting work is choosing a model after seeing how it scores. Every choice here was written into the decision log before it was run, the configuration is frozen by hash, and five years of decisions were kept unseen until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probit on 115 training decisions with six economic inputs. Bars are average marginal effects on the probability of a hike. Orange bars are significant at 1 percent. Inflation gaps are measured from the nominal anchor of each regime: the multiple indicator years, the Patel glide path and the 4 percent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accuracy averages the hit rate over cut, hold and hike, so always predicting hold scores 0.33. The model reaches 0.69, but its plain accuracy equals the persistence rule. Its gain is that it sometimes calls a change correctly where persistence never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overfitted model scores much better on the data it was fitted to than on new data. None of the final models shows that pattern. Complex models did: the random forest fell to 0.49 on unseen data and a ten feature probit to 0.44 in training, which is why the small models were kept. Source: reports/tables/fit_gap.csv, decision D051.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target is the published interbank rate. The binary design was chosen on the training years only, so the 2021 to 2026 scores are labelled post hoc rather than blind. The sealed forecasts for August to October 2026 can be scored when the NRB publishes those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 comparison, decision D052. India's inflation is WPI before 2014 and CPI after; with CPI on both sides since 2013 the correlation is 0.66. The one period with a positive rate correlation, 2016 to 2021, contains a single cycle and the pandemic, a common shock. Building this chart exposed an error in the IMF CPI file for Nepal: twelve months in 2006 and 2007 repeated the year before. They are now left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 projections, August 2000 to October 2021, controlling for oil, US policy and Indian inflation, with Newey West errors. Coefficients are the cumulative response in percentage points to a 1 point change in the RBI repo rate. The forecasting test agrees: adding the RBI repo to the Nepal liquidity model does not improve it (Diebold Mariano p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peg the NRB must buy the foreign currency that remittances bring in, and each purchase creates bank reserves. When deposits grow faster than credit, the surplus pushes the interbank rate to the floor of the corridor; when credit outruns deposits, it rises to the ceiling. Slow government spending did not cause the current floor: the fiscal injection was smaller during it. Decision D049.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D050. The ordered probit was refitted on all 146 known decisions and not otherwise changed. Oil enters through the RBI's own sensitivity: crude 10 percent above baseline raises inflation by about 0.3 points and lowers growth by about 0.2. Nepal: the frozen model's latest sealed forecast gives a rise 0.29 and a fall 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our own earlier claims were corrected during the project and the corrections are logged: the fiscal explanation of the Nepal floor (D049) and the two year inflation effect, which came from an error in the IMF CPI file (D052).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data manifests and the decision log are in the project repository; every number in this deck comes from a committed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4"/>
                </a:solidFill>
              </a:rPr>
              <a:t>RateCycle India Nepal</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Pegged but not imported</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indent="0" marL="0">
              <a:buNone/>
            </a:pPr>
            <a:r>
              <a:rPr lang="en-US" sz="1800" dirty="0">
                <a:solidFill>
                  <a:srgbClr val="CADCFC"/>
                </a:solidFill>
              </a:rPr>
              <a:t>Predicting RBI and NRB policy, and how Indian monetary policy reaches Nepal under the 1.6 peg</a:t>
            </a:r>
            <a:endParaRPr lang="en-US" sz="1800" dirty="0"/>
          </a:p>
          <a:p>
            <a:pPr indent="0" marL="0">
              <a:buNone/>
            </a:pPr>
            <a:r>
              <a:rPr lang="en-US" sz="1000" dirty="0">
                <a:solidFill>
                  <a:srgbClr val="CADCFC"/>
                </a:solidFill>
              </a:rPr>
              <a:t> </a:t>
            </a:r>
            <a:endParaRPr lang="en-US" sz="1800" dirty="0"/>
          </a:p>
          <a:p>
            <a:pPr indent="0" marL="0">
              <a:buNone/>
            </a:pPr>
            <a:r>
              <a:rPr lang="en-US" sz="1300" dirty="0">
                <a:solidFill>
                  <a:srgbClr val="9FB3D1"/>
                </a:solidFill>
              </a:rPr>
              <a:t>RateCycle India Nepal  |  Macroeconomics project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answer in three numbers</a:t>
            </a:r>
            <a:endParaRPr lang="en-US" sz="2600" dirty="0"/>
          </a:p>
        </p:txBody>
      </p:sp>
      <p:sp>
        <p:nvSpPr>
          <p:cNvPr id="3" name="stat0"/>
          <p:cNvSpPr/>
          <p:nvPr/>
        </p:nvSpPr>
        <p:spPr>
          <a:xfrm>
            <a:off x="457200" y="1188720"/>
            <a:ext cx="2606040" cy="2331720"/>
          </a:xfrm>
          <a:prstGeom prst="roundRect">
            <a:avLst>
              <a:gd name="adj" fmla="val 3137"/>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0.69</a:t>
            </a:r>
            <a:endParaRPr lang="en-US" sz="4400" dirty="0"/>
          </a:p>
        </p:txBody>
      </p:sp>
      <p:sp>
        <p:nvSpPr>
          <p:cNvPr id="5" name="Text 3"/>
          <p:cNvSpPr txBox="1"/>
          <p:nvPr/>
        </p:nvSpPr>
        <p:spPr>
          <a:xfrm>
            <a:off x="685800" y="2286000"/>
            <a:ext cx="2194560" cy="11430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Balanced accuracy predicting RBI cut, hold or hike on 31 unseen decisions, 2021 to 2026 (chance 0.33)</a:t>
            </a:r>
            <a:endParaRPr lang="en-US" sz="1300" dirty="0"/>
          </a:p>
        </p:txBody>
      </p:sp>
      <p:sp>
        <p:nvSpPr>
          <p:cNvPr id="6" name="stat1"/>
          <p:cNvSpPr/>
          <p:nvPr/>
        </p:nvSpPr>
        <p:spPr>
          <a:xfrm>
            <a:off x="3264408" y="1188720"/>
            <a:ext cx="2606040" cy="2331720"/>
          </a:xfrm>
          <a:prstGeom prst="roundRect">
            <a:avLst>
              <a:gd name="adj" fmla="val 3137"/>
            </a:avLst>
          </a:prstGeom>
          <a:solidFill>
            <a:schemeClr val="bg2"/>
          </a:solidFill>
          <a:ln/>
        </p:spPr>
      </p:sp>
      <p:sp>
        <p:nvSpPr>
          <p:cNvPr id="7" name="Text 5"/>
          <p:cNvSpPr txBox="1"/>
          <p:nvPr/>
        </p:nvSpPr>
        <p:spPr>
          <a:xfrm>
            <a:off x="3493008" y="1371600"/>
            <a:ext cx="2194560" cy="868680"/>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minus 0.07</a:t>
            </a:r>
            <a:endParaRPr lang="en-US" sz="2800" dirty="0"/>
          </a:p>
        </p:txBody>
      </p:sp>
      <p:sp>
        <p:nvSpPr>
          <p:cNvPr id="8" name="Text 6"/>
          <p:cNvSpPr txBox="1"/>
          <p:nvPr/>
        </p:nvSpPr>
        <p:spPr>
          <a:xfrm>
            <a:off x="3493008" y="2286000"/>
            <a:ext cx="2194560" cy="11430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Correlation of yearly changes in the RBI repo rate and Nepal's interbank rate, 2001 to 2026</a:t>
            </a:r>
            <a:endParaRPr lang="en-US" sz="1300" dirty="0"/>
          </a:p>
        </p:txBody>
      </p:sp>
      <p:sp>
        <p:nvSpPr>
          <p:cNvPr id="9" name="stat2"/>
          <p:cNvSpPr/>
          <p:nvPr/>
        </p:nvSpPr>
        <p:spPr>
          <a:xfrm>
            <a:off x="6071616" y="1188720"/>
            <a:ext cx="2606040" cy="2331720"/>
          </a:xfrm>
          <a:prstGeom prst="roundRect">
            <a:avLst>
              <a:gd name="adj" fmla="val 3137"/>
            </a:avLst>
          </a:prstGeom>
          <a:solidFill>
            <a:schemeClr val="bg2"/>
          </a:solidFill>
          <a:ln/>
        </p:spPr>
      </p:sp>
      <p:sp>
        <p:nvSpPr>
          <p:cNvPr id="10" name="Text 8"/>
          <p:cNvSpPr txBox="1"/>
          <p:nvPr/>
        </p:nvSpPr>
        <p:spPr>
          <a:xfrm>
            <a:off x="6300216" y="1371600"/>
            <a:ext cx="2194560" cy="86868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0.66</a:t>
            </a:r>
            <a:endParaRPr lang="en-US" sz="4400" dirty="0"/>
          </a:p>
        </p:txBody>
      </p:sp>
      <p:sp>
        <p:nvSpPr>
          <p:cNvPr id="11" name="Text 9"/>
          <p:cNvSpPr txBox="1"/>
          <p:nvPr/>
        </p:nvSpPr>
        <p:spPr>
          <a:xfrm>
            <a:off x="6300216" y="2286000"/>
            <a:ext cx="2194560" cy="11430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Correlation of Nepal and India CPI inflation since 2013: the peg carries prices, not policy rates</a:t>
            </a:r>
            <a:endParaRPr lang="en-US" sz="1300" dirty="0"/>
          </a:p>
        </p:txBody>
      </p:sp>
      <p:sp>
        <p:nvSpPr>
          <p:cNvPr id="12" name="Text 10"/>
          <p:cNvSpPr txBox="1"/>
          <p:nvPr/>
        </p:nvSpPr>
        <p:spPr>
          <a:xfrm>
            <a:off x="457200" y="3749040"/>
            <a:ext cx="8229600" cy="82296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The RBI follows a smooth, forecast led inflation rule. Nepal's interest rate is set by its own liquidity, which the peg creates when remittances are converted at the fixed rate. Public macro data run out of signal at turning points.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 process built to avoid fooling ourselves</a:t>
            </a:r>
            <a:endParaRPr lang="en-US" sz="2600" dirty="0"/>
          </a:p>
        </p:txBody>
      </p:sp>
      <p:sp>
        <p:nvSpPr>
          <p:cNvPr id="3" name="step0"/>
          <p:cNvSpPr/>
          <p:nvPr/>
        </p:nvSpPr>
        <p:spPr>
          <a:xfrm>
            <a:off x="457200" y="1234440"/>
            <a:ext cx="1554480" cy="3063240"/>
          </a:xfrm>
          <a:prstGeom prst="roundRect">
            <a:avLst>
              <a:gd name="adj" fmla="val 4706"/>
            </a:avLst>
          </a:prstGeom>
          <a:solidFill>
            <a:schemeClr val="bg2"/>
          </a:solidFill>
          <a:ln/>
        </p:spPr>
      </p:sp>
      <p:sp>
        <p:nvSpPr>
          <p:cNvPr id="4" name="stepdot0"/>
          <p:cNvSpPr/>
          <p:nvPr/>
        </p:nvSpPr>
        <p:spPr>
          <a:xfrm>
            <a:off x="640080" y="1417320"/>
            <a:ext cx="384048" cy="384048"/>
          </a:xfrm>
          <a:prstGeom prst="ellipse">
            <a:avLst/>
          </a:prstGeom>
          <a:solidFill>
            <a:schemeClr val="tx2"/>
          </a:solidFill>
          <a:ln/>
        </p:spPr>
      </p:sp>
      <p:sp>
        <p:nvSpPr>
          <p:cNvPr id="5" name="Text 3"/>
          <p:cNvSpPr txBox="1"/>
          <p:nvPr/>
        </p:nvSpPr>
        <p:spPr>
          <a:xfrm>
            <a:off x="640080"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640080"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Collect</a:t>
            </a:r>
            <a:endParaRPr lang="en-US" sz="1500" dirty="0"/>
          </a:p>
        </p:txBody>
      </p:sp>
      <p:sp>
        <p:nvSpPr>
          <p:cNvPr id="7" name="Text 5"/>
          <p:cNvSpPr txBox="1"/>
          <p:nvPr/>
        </p:nvSpPr>
        <p:spPr>
          <a:xfrm>
            <a:off x="640080"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RBI, MOSPI, IMF, BIS, FRED and about 430 NRB workbooks; zero cost, every download logged with a hash</a:t>
            </a:r>
            <a:endParaRPr lang="en-US" sz="1200" dirty="0"/>
          </a:p>
        </p:txBody>
      </p:sp>
      <p:sp>
        <p:nvSpPr>
          <p:cNvPr id="8" name="step1"/>
          <p:cNvSpPr/>
          <p:nvPr/>
        </p:nvSpPr>
        <p:spPr>
          <a:xfrm>
            <a:off x="2139696" y="1234440"/>
            <a:ext cx="1554480" cy="3063240"/>
          </a:xfrm>
          <a:prstGeom prst="roundRect">
            <a:avLst>
              <a:gd name="adj" fmla="val 4706"/>
            </a:avLst>
          </a:prstGeom>
          <a:solidFill>
            <a:schemeClr val="bg2"/>
          </a:solidFill>
          <a:ln/>
        </p:spPr>
      </p:sp>
      <p:sp>
        <p:nvSpPr>
          <p:cNvPr id="9" name="stepdot1"/>
          <p:cNvSpPr/>
          <p:nvPr/>
        </p:nvSpPr>
        <p:spPr>
          <a:xfrm>
            <a:off x="2322576" y="1417320"/>
            <a:ext cx="384048" cy="384048"/>
          </a:xfrm>
          <a:prstGeom prst="ellipse">
            <a:avLst/>
          </a:prstGeom>
          <a:solidFill>
            <a:schemeClr val="tx2"/>
          </a:solidFill>
          <a:ln/>
        </p:spPr>
      </p:sp>
      <p:sp>
        <p:nvSpPr>
          <p:cNvPr id="10" name="Text 8"/>
          <p:cNvSpPr txBox="1"/>
          <p:nvPr/>
        </p:nvSpPr>
        <p:spPr>
          <a:xfrm>
            <a:off x="2322576"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2322576"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Point in time</a:t>
            </a:r>
            <a:endParaRPr lang="en-US" sz="1500" dirty="0"/>
          </a:p>
        </p:txBody>
      </p:sp>
      <p:sp>
        <p:nvSpPr>
          <p:cNvPr id="12" name="Text 10"/>
          <p:cNvSpPr txBox="1"/>
          <p:nvPr/>
        </p:nvSpPr>
        <p:spPr>
          <a:xfrm>
            <a:off x="2322576"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meeting sees only data published before it, with the true publication lags</a:t>
            </a:r>
            <a:endParaRPr lang="en-US" sz="1200" dirty="0"/>
          </a:p>
        </p:txBody>
      </p:sp>
      <p:sp>
        <p:nvSpPr>
          <p:cNvPr id="13" name="step2"/>
          <p:cNvSpPr/>
          <p:nvPr/>
        </p:nvSpPr>
        <p:spPr>
          <a:xfrm>
            <a:off x="3822192" y="1234440"/>
            <a:ext cx="1554480" cy="3063240"/>
          </a:xfrm>
          <a:prstGeom prst="roundRect">
            <a:avLst>
              <a:gd name="adj" fmla="val 4706"/>
            </a:avLst>
          </a:prstGeom>
          <a:solidFill>
            <a:schemeClr val="bg2"/>
          </a:solidFill>
          <a:ln/>
        </p:spPr>
      </p:sp>
      <p:sp>
        <p:nvSpPr>
          <p:cNvPr id="14" name="stepdot2"/>
          <p:cNvSpPr/>
          <p:nvPr/>
        </p:nvSpPr>
        <p:spPr>
          <a:xfrm>
            <a:off x="4005072" y="1417320"/>
            <a:ext cx="384048" cy="384048"/>
          </a:xfrm>
          <a:prstGeom prst="ellipse">
            <a:avLst/>
          </a:prstGeom>
          <a:solidFill>
            <a:schemeClr val="tx2"/>
          </a:solidFill>
          <a:ln/>
        </p:spPr>
      </p:sp>
      <p:sp>
        <p:nvSpPr>
          <p:cNvPr id="15" name="Text 13"/>
          <p:cNvSpPr txBox="1"/>
          <p:nvPr/>
        </p:nvSpPr>
        <p:spPr>
          <a:xfrm>
            <a:off x="4005072"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4005072"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Declare first</a:t>
            </a:r>
            <a:endParaRPr lang="en-US" sz="1500" dirty="0"/>
          </a:p>
        </p:txBody>
      </p:sp>
      <p:sp>
        <p:nvSpPr>
          <p:cNvPr id="17" name="Text 15"/>
          <p:cNvSpPr txBox="1"/>
          <p:nvPr/>
        </p:nvSpPr>
        <p:spPr>
          <a:xfrm>
            <a:off x="4005072"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52 logged decisions: every model, feature and test fixed before it was run; configs frozen by SHA256</a:t>
            </a:r>
            <a:endParaRPr lang="en-US" sz="1200" dirty="0"/>
          </a:p>
        </p:txBody>
      </p:sp>
      <p:sp>
        <p:nvSpPr>
          <p:cNvPr id="18" name="step3"/>
          <p:cNvSpPr/>
          <p:nvPr/>
        </p:nvSpPr>
        <p:spPr>
          <a:xfrm>
            <a:off x="5504688" y="1234440"/>
            <a:ext cx="1554480" cy="3063240"/>
          </a:xfrm>
          <a:prstGeom prst="roundRect">
            <a:avLst>
              <a:gd name="adj" fmla="val 4706"/>
            </a:avLst>
          </a:prstGeom>
          <a:solidFill>
            <a:schemeClr val="bg2"/>
          </a:solidFill>
          <a:ln/>
        </p:spPr>
      </p:sp>
      <p:sp>
        <p:nvSpPr>
          <p:cNvPr id="19" name="stepdot3"/>
          <p:cNvSpPr/>
          <p:nvPr/>
        </p:nvSpPr>
        <p:spPr>
          <a:xfrm>
            <a:off x="5687568" y="1417320"/>
            <a:ext cx="384048" cy="384048"/>
          </a:xfrm>
          <a:prstGeom prst="ellipse">
            <a:avLst/>
          </a:prstGeom>
          <a:solidFill>
            <a:schemeClr val="tx2"/>
          </a:solidFill>
          <a:ln/>
        </p:spPr>
      </p:sp>
      <p:sp>
        <p:nvSpPr>
          <p:cNvPr id="20" name="Text 18"/>
          <p:cNvSpPr txBox="1"/>
          <p:nvPr/>
        </p:nvSpPr>
        <p:spPr>
          <a:xfrm>
            <a:off x="5687568"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5687568"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Walk forward</a:t>
            </a:r>
            <a:endParaRPr lang="en-US" sz="1500" dirty="0"/>
          </a:p>
        </p:txBody>
      </p:sp>
      <p:sp>
        <p:nvSpPr>
          <p:cNvPr id="22" name="Text 20"/>
          <p:cNvSpPr txBox="1"/>
          <p:nvPr/>
        </p:nvSpPr>
        <p:spPr>
          <a:xfrm>
            <a:off x="5687568"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Refit at every decision on past data only, 2001 to October 2021; four month embargo for Nepal</a:t>
            </a:r>
            <a:endParaRPr lang="en-US" sz="1200" dirty="0"/>
          </a:p>
        </p:txBody>
      </p:sp>
      <p:sp>
        <p:nvSpPr>
          <p:cNvPr id="23" name="step4"/>
          <p:cNvSpPr/>
          <p:nvPr/>
        </p:nvSpPr>
        <p:spPr>
          <a:xfrm>
            <a:off x="7187184" y="1234440"/>
            <a:ext cx="1554480" cy="3063240"/>
          </a:xfrm>
          <a:prstGeom prst="roundRect">
            <a:avLst>
              <a:gd name="adj" fmla="val 4706"/>
            </a:avLst>
          </a:prstGeom>
          <a:solidFill>
            <a:schemeClr val="bg2"/>
          </a:solidFill>
          <a:ln/>
        </p:spPr>
      </p:sp>
      <p:sp>
        <p:nvSpPr>
          <p:cNvPr id="24" name="stepdot4"/>
          <p:cNvSpPr/>
          <p:nvPr/>
        </p:nvSpPr>
        <p:spPr>
          <a:xfrm>
            <a:off x="7370064" y="1417320"/>
            <a:ext cx="384048" cy="384048"/>
          </a:xfrm>
          <a:prstGeom prst="ellipse">
            <a:avLst/>
          </a:prstGeom>
          <a:solidFill>
            <a:schemeClr val="accent1"/>
          </a:solidFill>
          <a:ln/>
        </p:spPr>
      </p:sp>
      <p:sp>
        <p:nvSpPr>
          <p:cNvPr id="25" name="Text 23"/>
          <p:cNvSpPr txBox="1"/>
          <p:nvPr/>
        </p:nvSpPr>
        <p:spPr>
          <a:xfrm>
            <a:off x="7370064" y="1417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7370064" y="1920240"/>
            <a:ext cx="123444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Blind test</a:t>
            </a:r>
            <a:endParaRPr lang="en-US" sz="1500" dirty="0"/>
          </a:p>
        </p:txBody>
      </p:sp>
      <p:sp>
        <p:nvSpPr>
          <p:cNvPr id="27" name="Text 25"/>
          <p:cNvSpPr txBox="1"/>
          <p:nvPr/>
        </p:nvSpPr>
        <p:spPr>
          <a:xfrm>
            <a:off x="7370064" y="2377440"/>
            <a:ext cx="1234440" cy="18288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November 2021 to October 2026 kept unseen until the end; Nepal forecasts sealed for later scoring</a:t>
            </a:r>
            <a:endParaRPr lang="en-US" sz="1200" dirty="0"/>
          </a:p>
        </p:txBody>
      </p:sp>
      <p:sp>
        <p:nvSpPr>
          <p:cNvPr id="28" name="Text 26"/>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200" i="1" dirty="0">
                <a:solidFill>
                  <a:schemeClr val="accent4"/>
                </a:solidFill>
                <a:latin typeface="Calibri" pitchFamily="34" charset="0"/>
                <a:ea typeface="Calibri" pitchFamily="34" charset="-122"/>
                <a:cs typeface="Calibri" pitchFamily="34" charset="-120"/>
              </a:rPr>
              <a:t>Failures are kept on the record: news indices, geopolitical indices, random forests and extra liquidity drivers were tested and rejected.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RBI reacts to</a:t>
            </a:r>
            <a:endParaRPr lang="en-US" sz="2600" dirty="0"/>
          </a:p>
        </p:txBody>
      </p:sp>
      <p:graphicFrame>
        <p:nvGraphicFramePr>
          <p:cNvPr id="3" name="Chart 0" descr=""/>
          <p:cNvGraphicFramePr/>
          <p:nvPr/>
        </p:nvGraphicFramePr>
        <p:xfrm>
          <a:off x="365760" y="10515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india-read"/>
          <p:cNvSpPr/>
          <p:nvPr/>
        </p:nvSpPr>
        <p:spPr>
          <a:xfrm>
            <a:off x="6035040" y="1143000"/>
            <a:ext cx="2651760" cy="3383280"/>
          </a:xfrm>
          <a:prstGeom prst="roundRect">
            <a:avLst>
              <a:gd name="adj" fmla="val 2759"/>
            </a:avLst>
          </a:prstGeom>
          <a:solidFill>
            <a:schemeClr val="bg2"/>
          </a:solidFill>
          <a:ln/>
        </p:spPr>
      </p:sp>
      <p:sp>
        <p:nvSpPr>
          <p:cNvPr id="5" name="Text 2"/>
          <p:cNvSpPr txBox="1"/>
          <p:nvPr/>
        </p:nvSpPr>
        <p:spPr>
          <a:xfrm>
            <a:off x="6217920" y="1280160"/>
            <a:ext cx="2331720" cy="315468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Smoothing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 hike was followed by another hike 71 percent of the time.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Forecast led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RBI's own projection revision matters most (p 0.003); realized inflation adds little.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4"/>
                </a:solidFill>
                <a:latin typeface="Calibri" pitchFamily="34" charset="0"/>
                <a:ea typeface="Calibri" pitchFamily="34" charset="-122"/>
                <a:cs typeface="Calibri" pitchFamily="34" charset="-120"/>
              </a:rPr>
              <a:t>Not significant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Growth gap and the rupee, once inflation and the projection are known.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India on unseen years: beats chance, ties persistence</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blind-read"/>
          <p:cNvSpPr/>
          <p:nvPr/>
        </p:nvSpPr>
        <p:spPr>
          <a:xfrm>
            <a:off x="5760720" y="1143000"/>
            <a:ext cx="2926080" cy="3383280"/>
          </a:xfrm>
          <a:prstGeom prst="roundRect">
            <a:avLst>
              <a:gd name="adj" fmla="val 2500"/>
            </a:avLst>
          </a:prstGeom>
          <a:solidFill>
            <a:schemeClr val="bg2"/>
          </a:solidFill>
          <a:ln/>
        </p:spPr>
      </p:sp>
      <p:sp>
        <p:nvSpPr>
          <p:cNvPr id="5" name="Text 2"/>
          <p:cNvSpPr txBox="1"/>
          <p:nvPr/>
        </p:nvSpPr>
        <p:spPr>
          <a:xfrm>
            <a:off x="5943600" y="1280160"/>
            <a:ext cx="2606040" cy="315468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Beats always predicting hold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Diebold Mariano on log loss, p 0.002.</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5"/>
                </a:solidFill>
                <a:latin typeface="Calibri" pitchFamily="34" charset="0"/>
                <a:ea typeface="Calibri" pitchFamily="34" charset="-122"/>
                <a:cs typeface="Calibri" pitchFamily="34" charset="-120"/>
              </a:rPr>
              <a:t>Does not clearly beat persistence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Same accuracy, 0.77; log loss difference p 0.51; confidence band 0.49 to 0.86.</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5"/>
                </a:solidFill>
                <a:latin typeface="Calibri" pitchFamily="34" charset="0"/>
                <a:ea typeface="Calibri" pitchFamily="34" charset="-122"/>
                <a:cs typeface="Calibri" pitchFamily="34" charset="-120"/>
              </a:rPr>
              <a:t>Late at turning points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meeting late in 2022 and 2025; gave the October 2026 hike only 0.09.</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Over and underfitting: the three stage check</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fit0"/>
          <p:cNvSpPr/>
          <p:nvPr/>
        </p:nvSpPr>
        <p:spPr>
          <a:xfrm>
            <a:off x="5760720" y="1143000"/>
            <a:ext cx="2926080" cy="1024128"/>
          </a:xfrm>
          <a:prstGeom prst="roundRect">
            <a:avLst>
              <a:gd name="adj" fmla="val 7143"/>
            </a:avLst>
          </a:prstGeom>
          <a:solidFill>
            <a:schemeClr val="bg2"/>
          </a:solidFill>
          <a:ln/>
        </p:spPr>
      </p:sp>
      <p:sp>
        <p:nvSpPr>
          <p:cNvPr id="5" name="Text 2"/>
          <p:cNvSpPr txBox="1"/>
          <p:nvPr/>
        </p:nvSpPr>
        <p:spPr>
          <a:xfrm>
            <a:off x="5897880" y="1216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India: no overfitting</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Unseen score is higher than in sample. If anything the model is too simple: it lags turning points.</a:t>
            </a:r>
            <a:endParaRPr lang="en-US" sz="1150" dirty="0"/>
          </a:p>
        </p:txBody>
      </p:sp>
      <p:sp>
        <p:nvSpPr>
          <p:cNvPr id="6" name="fit1"/>
          <p:cNvSpPr/>
          <p:nvPr/>
        </p:nvSpPr>
        <p:spPr>
          <a:xfrm>
            <a:off x="5760720" y="2286000"/>
            <a:ext cx="2926080" cy="1024128"/>
          </a:xfrm>
          <a:prstGeom prst="roundRect">
            <a:avLst>
              <a:gd name="adj" fmla="val 7143"/>
            </a:avLst>
          </a:prstGeom>
          <a:solidFill>
            <a:schemeClr val="bg2"/>
          </a:solidFill>
          <a:ln/>
        </p:spPr>
      </p:sp>
      <p:sp>
        <p:nvSpPr>
          <p:cNvPr id="7" name="Text 4"/>
          <p:cNvSpPr txBox="1"/>
          <p:nvPr/>
        </p:nvSpPr>
        <p:spPr>
          <a:xfrm>
            <a:off x="5897880" y="2359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Nepal rise: mild gap</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0.74 in sample, 0.64 to 0.67 out of sample, and it holds on unseen data.</a:t>
            </a:r>
            <a:endParaRPr lang="en-US" sz="1150" dirty="0"/>
          </a:p>
        </p:txBody>
      </p:sp>
      <p:sp>
        <p:nvSpPr>
          <p:cNvPr id="8" name="fit2"/>
          <p:cNvSpPr/>
          <p:nvPr/>
        </p:nvSpPr>
        <p:spPr>
          <a:xfrm>
            <a:off x="5760720" y="3429000"/>
            <a:ext cx="2926080" cy="1024128"/>
          </a:xfrm>
          <a:prstGeom prst="roundRect">
            <a:avLst>
              <a:gd name="adj" fmla="val 7143"/>
            </a:avLst>
          </a:prstGeom>
          <a:solidFill>
            <a:schemeClr val="bg2"/>
          </a:solidFill>
          <a:ln/>
        </p:spPr>
      </p:sp>
      <p:sp>
        <p:nvSpPr>
          <p:cNvPr id="9" name="Text 6"/>
          <p:cNvSpPr txBox="1"/>
          <p:nvPr/>
        </p:nvSpPr>
        <p:spPr>
          <a:xfrm>
            <a:off x="5897880" y="3502152"/>
            <a:ext cx="2697480" cy="896112"/>
          </a:xfrm>
          <a:prstGeom prst="rect">
            <a:avLst/>
          </a:prstGeom>
          <a:noFill/>
          <a:ln/>
        </p:spPr>
        <p:txBody>
          <a:bodyPr wrap="square" lIns="0" tIns="0" rIns="0" bIns="0" rtlCol="0" anchor="t"/>
          <a:lstStyle/>
          <a:p>
            <a:pPr indent="0" marL="0">
              <a:buNone/>
            </a:pPr>
            <a:r>
              <a:rPr lang="en-US" sz="1150" b="1" dirty="0">
                <a:solidFill>
                  <a:schemeClr val="accent5"/>
                </a:solidFill>
                <a:latin typeface="Calibri" pitchFamily="34" charset="0"/>
                <a:ea typeface="Calibri" pitchFamily="34" charset="-122"/>
                <a:cs typeface="Calibri" pitchFamily="34" charset="-120"/>
              </a:rPr>
              <a:t>Nepal fall: regime change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Holds in training, fails after 2021 when the rate sat on the NRB floor and could not fall.</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Nepal: rises can be forecast, falls cannot</a:t>
            </a:r>
            <a:endParaRPr lang="en-US" sz="2600" dirty="0"/>
          </a:p>
        </p:txBody>
      </p:sp>
      <p:graphicFrame>
        <p:nvGraphicFramePr>
          <p:cNvPr id="3" name="Chart 0" descr=""/>
          <p:cNvGraphicFramePr/>
          <p:nvPr/>
        </p:nvGraphicFramePr>
        <p:xfrm>
          <a:off x="365760" y="1051560"/>
          <a:ext cx="4480560" cy="3566160"/>
        </p:xfrm>
        <a:graphic xmlns:a="http://schemas.openxmlformats.org/drawingml/2006/main">
          <a:graphicData uri="http://schemas.openxmlformats.org/drawingml/2006/chart">
            <c:chart xmlns:c="http://schemas.openxmlformats.org/drawingml/2006/chart" r:id="rId1"/>
          </a:graphicData>
        </a:graphic>
      </p:graphicFrame>
      <p:sp>
        <p:nvSpPr>
          <p:cNvPr id="4" name="nepal-read"/>
          <p:cNvSpPr/>
          <p:nvPr/>
        </p:nvSpPr>
        <p:spPr>
          <a:xfrm>
            <a:off x="5120640" y="1143000"/>
            <a:ext cx="3566160" cy="3383280"/>
          </a:xfrm>
          <a:prstGeom prst="roundRect">
            <a:avLst>
              <a:gd name="adj" fmla="val 2162"/>
            </a:avLst>
          </a:prstGeom>
          <a:solidFill>
            <a:schemeClr val="bg2"/>
          </a:solidFill>
          <a:ln/>
        </p:spPr>
      </p:sp>
      <p:sp>
        <p:nvSpPr>
          <p:cNvPr id="5" name="Text 2"/>
          <p:cNvSpPr txBox="1"/>
          <p:nvPr/>
        </p:nvSpPr>
        <p:spPr>
          <a:xfrm>
            <a:off x="5303520" y="1280160"/>
            <a:ext cx="3246120" cy="3154680"/>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Target</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Will the interbank rate rise, or fall, by more than half a point in three months? Two yes or no questions, after the declared three way model failed (0.47 against persistence 0.43).</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3"/>
                </a:solidFill>
                <a:latin typeface="Calibri" pitchFamily="34" charset="0"/>
                <a:ea typeface="Calibri" pitchFamily="34" charset="-122"/>
                <a:cs typeface="Calibri" pitchFamily="34" charset="-120"/>
              </a:rPr>
              <a:t>Rises: forecastable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Liquidity tightening shows up in reserves and credit before the rate moves.</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5"/>
                </a:solidFill>
                <a:latin typeface="Calibri" pitchFamily="34" charset="0"/>
                <a:ea typeface="Calibri" pitchFamily="34" charset="-122"/>
                <a:cs typeface="Calibri" pitchFamily="34" charset="-120"/>
              </a:rPr>
              <a:t>Falls: not after 2021</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At the floor the rate can only fall if the NRB cuts the floor. Results labelled post hoc; three sealed forecasts await data.</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peg carries: India's prices, not its policy rate</a:t>
            </a:r>
            <a:endParaRPr lang="en-US" sz="2600" dirty="0"/>
          </a:p>
        </p:txBody>
      </p:sp>
      <p:pic>
        <p:nvPicPr>
          <p:cNvPr id="3" name="Image 0" descr="Inflation in India and Nepal, and the RBI repo rate against Nepal's interbank and treasury bill rates, 2001 to 2026">    </p:cNvPr>
          <p:cNvPicPr>
            <a:picLocks noChangeAspect="1"/>
          </p:cNvPicPr>
          <p:nvPr/>
        </p:nvPicPr>
        <p:blipFill>
          <a:blip r:embed="rId1"/>
          <a:stretch>
            <a:fillRect/>
          </a:stretch>
        </p:blipFill>
        <p:spPr>
          <a:xfrm>
            <a:off x="365760" y="1005840"/>
            <a:ext cx="5212080" cy="3648456"/>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06440" y="1097280"/>
          <a:ext cx="2880360" cy="914400"/>
        </p:xfrm>
        <a:graphic>
          <a:graphicData uri="http://schemas.openxmlformats.org/drawingml/2006/table">
            <a:tbl>
              <a:tblPr/>
              <a:tblGrid>
                <a:gridCol w="1234440"/>
                <a:gridCol w="731520"/>
                <a:gridCol w="914400"/>
              </a:tblGrid>
              <a:tr h="27432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Correlation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Prices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Rates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2001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0.07</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Before corridor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0.20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2016 to 2021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0.29</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0.45</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806440" y="2651760"/>
            <a:ext cx="2880360" cy="196596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Prices: inflation in the same month. Rates: 12 month changes in the RBI repo and Nepal's interbank rate. Nepal's rate averages 3.2 points below the repo. The impossible trinity is resolved by capital controls: the peg imports India's price level, while the NRB keeps its own short rate.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An RBI move leaves no significant trace on Nepal</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103120"/>
                <a:gridCol w="2103120"/>
                <a:gridCol w="210312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Months after the RBI move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Interbank rate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91 day T bill</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CPI inflation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0.39 (p 0.28)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0.21 (p 0.48)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0.12 (p 0.59)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0.59 (p 0.41)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0.38 (p 0.50)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0.15 (p 0.81)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0.72 (p 0.33)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0.70 (p 0.32)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 (p 0.88)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minus 1.57 (p 0.05)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0.43 (p 0.44)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0.04 (p 0.95)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0.88 (p 0.22)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0.25 (p 0.70)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0.87 (p 0.23)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lp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No pass through</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If the peg carried India's policy rate, the interbank response would approach plus 1. At 12 months plus 1 is outside the band (minus 3.14 to 0.01).</a:t>
            </a:r>
            <a:endParaRPr lang="en-US" sz="1100" dirty="0"/>
          </a:p>
        </p:txBody>
      </p:sp>
      <p:sp>
        <p:nvSpPr>
          <p:cNvPr id="6" name="lp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Wrong sign is timing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Few RBI cycles, and they happened to meet Nepali liquidity cycles running the other way, as in 2010 and 2011.</a:t>
            </a:r>
            <a:endParaRPr lang="en-US" sz="1100" dirty="0"/>
          </a:p>
        </p:txBody>
      </p:sp>
      <p:sp>
        <p:nvSpPr>
          <p:cNvPr id="8" name="lp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5"/>
                </a:solidFill>
                <a:latin typeface="Calibri" pitchFamily="34" charset="0"/>
                <a:ea typeface="Calibri" pitchFamily="34" charset="-122"/>
                <a:cs typeface="Calibri" pitchFamily="34" charset="-120"/>
              </a:rPr>
              <a:t>Inflation: not measurable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two year CPI effect (0.87) is not significant once a data error is removed; an earlier 1.5 (p 0.04) was withdrawn.</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sets Nepal's rate: liquidity in the corridor</a:t>
            </a:r>
            <a:endParaRPr lang="en-US" sz="2600" dirty="0"/>
          </a:p>
        </p:txBody>
      </p:sp>
      <p:pic>
        <p:nvPicPr>
          <p:cNvPr id="3" name="Image 0" descr="Nepal interbank rate inside the NRB corridor with FX purchases, remittances, fiscal flows, credit and deposit growth, 2019 to 2026">    </p:cNvPr>
          <p:cNvPicPr>
            <a:picLocks noChangeAspect="1"/>
          </p:cNvPicPr>
          <p:nvPr/>
        </p:nvPicPr>
        <p:blipFill>
          <a:blip r:embed="rId1"/>
          <a:stretch>
            <a:fillRect/>
          </a:stretch>
        </p:blipFill>
        <p:spPr>
          <a:xfrm>
            <a:off x="365760" y="960120"/>
            <a:ext cx="4023360" cy="3621024"/>
          </a:xfrm>
          <a:prstGeom prst="rect">
            <a:avLst/>
          </a:prstGeom>
        </p:spPr>
      </p:pic>
      <p:sp>
        <p:nvSpPr>
          <p:cNvPr id="4" name="ep0"/>
          <p:cNvSpPr/>
          <p:nvPr/>
        </p:nvSpPr>
        <p:spPr>
          <a:xfrm>
            <a:off x="4617720" y="1005840"/>
            <a:ext cx="4069080" cy="1078992"/>
          </a:xfrm>
          <a:prstGeom prst="roundRect">
            <a:avLst>
              <a:gd name="adj" fmla="val 6780"/>
            </a:avLst>
          </a:prstGeom>
          <a:solidFill>
            <a:schemeClr val="bg2"/>
          </a:solidFill>
          <a:ln/>
        </p:spPr>
      </p:sp>
      <p:sp>
        <p:nvSpPr>
          <p:cNvPr id="5" name="Text 2"/>
          <p:cNvSpPr txBox="1"/>
          <p:nvPr/>
        </p:nvSpPr>
        <p:spPr>
          <a:xfrm>
            <a:off x="4754880" y="106984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2020 to 2021, 9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0.3 percent. Deposits grew 21 percent, credit 14; excess reserves 3.6 percent of deposits.</a:t>
            </a:r>
            <a:endParaRPr lang="en-US" sz="1100" dirty="0"/>
          </a:p>
        </p:txBody>
      </p:sp>
      <p:sp>
        <p:nvSpPr>
          <p:cNvPr id="6" name="ep1"/>
          <p:cNvSpPr/>
          <p:nvPr/>
        </p:nvSpPr>
        <p:spPr>
          <a:xfrm>
            <a:off x="4617720" y="2194560"/>
            <a:ext cx="4069080" cy="1078992"/>
          </a:xfrm>
          <a:prstGeom prst="roundRect">
            <a:avLst>
              <a:gd name="adj" fmla="val 6780"/>
            </a:avLst>
          </a:prstGeom>
          <a:solidFill>
            <a:schemeClr val="bg2"/>
          </a:solidFill>
          <a:ln/>
        </p:spPr>
      </p:sp>
      <p:sp>
        <p:nvSpPr>
          <p:cNvPr id="7" name="Text 4"/>
          <p:cNvSpPr txBox="1"/>
          <p:nvPr/>
        </p:nvSpPr>
        <p:spPr>
          <a:xfrm>
            <a:off x="4754880" y="2258568"/>
            <a:ext cx="384048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Ceiling, 2021 to 2022, 15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6.5 percent. Credit grew 20 percent, deposits 13; excess reserves fell to 0.35; NRB never net absorbing.</a:t>
            </a:r>
            <a:endParaRPr lang="en-US" sz="1100" dirty="0"/>
          </a:p>
        </p:txBody>
      </p:sp>
      <p:sp>
        <p:nvSpPr>
          <p:cNvPr id="8" name="ep2"/>
          <p:cNvSpPr/>
          <p:nvPr/>
        </p:nvSpPr>
        <p:spPr>
          <a:xfrm>
            <a:off x="4617720" y="3383280"/>
            <a:ext cx="4069080" cy="1078992"/>
          </a:xfrm>
          <a:prstGeom prst="roundRect">
            <a:avLst>
              <a:gd name="adj" fmla="val 6780"/>
            </a:avLst>
          </a:prstGeom>
          <a:solidFill>
            <a:schemeClr val="bg2"/>
          </a:solidFill>
          <a:ln/>
        </p:spPr>
      </p:sp>
      <p:sp>
        <p:nvSpPr>
          <p:cNvPr id="9" name="Text 6"/>
          <p:cNvSpPr txBox="1"/>
          <p:nvPr/>
        </p:nvSpPr>
        <p:spPr>
          <a:xfrm>
            <a:off x="4754880" y="344728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2023 to 2026, 34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2.9 percent. Credit 6.5, deposits 13; remittances 29 percent of broad money a year; NRB absorbing in 94 percent of months.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Outlook to April 2027, same India model</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914400"/>
                <a:gridCol w="1280160"/>
                <a:gridCol w="1280160"/>
                <a:gridCol w="1280160"/>
                <a:gridCol w="128016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Brent, $</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Dec</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Feb</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Expected repo,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Premium persists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Escalation in the Gulf</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Easing tensions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5.63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AI bust, world slowdown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Stagflation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246120"/>
            <a:ext cx="8229600" cy="137160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Repo 5.50 after the 7 October 2026 hike. </a:t>
            </a:r>
            <a:pPr indent="0" marL="0">
              <a:buNone/>
            </a:pPr>
            <a:r>
              <a:rPr lang="en-US" sz="1200" dirty="0">
                <a:solidFill>
                  <a:schemeClr val="tx1"/>
                </a:solidFill>
                <a:latin typeface="Calibri" pitchFamily="34" charset="0"/>
                <a:ea typeface="Calibri" pitchFamily="34" charset="-122"/>
                <a:cs typeface="Calibri" pitchFamily="34" charset="-120"/>
              </a:rPr>
              <a:t>December is set mostly by what is already known, so every scenario gives a second hike about 0.56. From February the paths split on oil and world demand. Scenarios are assumptions fed into the model's own inputs, not model output; the December call is recorded and will be scored after the 2 to 4 December meeting. The model tends to call the end of a cycle early, and it gives cuts some weight that the RBI has ruled out.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Limits and what is still open</a:t>
            </a:r>
            <a:endParaRPr lang="en-US" sz="2600" dirty="0"/>
          </a:p>
        </p:txBody>
      </p:sp>
      <p:sp>
        <p:nvSpPr>
          <p:cNvPr id="3" name="lim0"/>
          <p:cNvSpPr/>
          <p:nvPr/>
        </p:nvSpPr>
        <p:spPr>
          <a:xfrm>
            <a:off x="457200" y="1097280"/>
            <a:ext cx="2615184" cy="3520440"/>
          </a:xfrm>
          <a:prstGeom prst="roundRect">
            <a:avLst>
              <a:gd name="adj" fmla="val 2797"/>
            </a:avLst>
          </a:prstGeom>
          <a:solidFill>
            <a:schemeClr val="bg2"/>
          </a:solidFill>
          <a:ln/>
        </p:spPr>
      </p:sp>
      <p:sp>
        <p:nvSpPr>
          <p:cNvPr id="4" name="Text 2"/>
          <p:cNvSpPr txBox="1"/>
          <p:nvPr/>
        </p:nvSpPr>
        <p:spPr>
          <a:xfrm>
            <a:off x="621792" y="1216152"/>
            <a:ext cx="2286000" cy="365760"/>
          </a:xfrm>
          <a:prstGeom prst="rect">
            <a:avLst/>
          </a:prstGeom>
          <a:noFill/>
          <a:ln/>
        </p:spPr>
        <p:txBody>
          <a:bodyPr wrap="square" lIns="0" tIns="0" rIns="0" bIns="0" rtlCol="0" anchor="ctr"/>
          <a:lstStyle/>
          <a:p>
            <a:pPr indent="0" marL="0">
              <a:buNone/>
            </a:pPr>
            <a:r>
              <a:rPr lang="en-US" sz="1500" b="1" dirty="0">
                <a:solidFill>
                  <a:schemeClr val="accent5"/>
                </a:solidFill>
                <a:latin typeface="Calibri" pitchFamily="34" charset="0"/>
                <a:ea typeface="Calibri" pitchFamily="34" charset="-122"/>
                <a:cs typeface="Calibri" pitchFamily="34" charset="-120"/>
              </a:rPr>
              <a:t>Not yet done</a:t>
            </a:r>
            <a:endParaRPr lang="en-US" sz="1500" dirty="0"/>
          </a:p>
        </p:txBody>
      </p:sp>
      <p:sp>
        <p:nvSpPr>
          <p:cNvPr id="5" name="Text 3"/>
          <p:cNvSpPr txBox="1"/>
          <p:nvPr/>
        </p:nvSpPr>
        <p:spPr>
          <a:xfrm>
            <a:off x="621792"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Robustness checks: other cutoffs, the 2015 inflation measure switch, Nepal deadbands, a VAR</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Citations to verify: neutral real rate, Patel committee date, 2016 corridor start</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Corridor analysis is descriptive; a causal regression is next</a:t>
            </a:r>
            <a:endParaRPr lang="en-US" sz="1150" dirty="0"/>
          </a:p>
        </p:txBody>
      </p:sp>
      <p:sp>
        <p:nvSpPr>
          <p:cNvPr id="6" name="lim1"/>
          <p:cNvSpPr/>
          <p:nvPr/>
        </p:nvSpPr>
        <p:spPr>
          <a:xfrm>
            <a:off x="3264408" y="1097280"/>
            <a:ext cx="2615184" cy="3520440"/>
          </a:xfrm>
          <a:prstGeom prst="roundRect">
            <a:avLst>
              <a:gd name="adj" fmla="val 2797"/>
            </a:avLst>
          </a:prstGeom>
          <a:solidFill>
            <a:schemeClr val="bg2"/>
          </a:solidFill>
          <a:ln/>
        </p:spPr>
      </p:sp>
      <p:sp>
        <p:nvSpPr>
          <p:cNvPr id="7" name="Text 5"/>
          <p:cNvSpPr txBox="1"/>
          <p:nvPr/>
        </p:nvSpPr>
        <p:spPr>
          <a:xfrm>
            <a:off x="3429000" y="1216152"/>
            <a:ext cx="2286000" cy="36576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Waiting for data</a:t>
            </a:r>
            <a:endParaRPr lang="en-US" sz="1500" dirty="0"/>
          </a:p>
        </p:txBody>
      </p:sp>
      <p:sp>
        <p:nvSpPr>
          <p:cNvPr id="8" name="Text 6"/>
          <p:cNvSpPr txBox="1"/>
          <p:nvPr/>
        </p:nvSpPr>
        <p:spPr>
          <a:xfrm>
            <a:off x="3429000"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Three sealed Nepal forecasts, August to October 2026: NRB data end at mid July</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December 2026 RBI call</a:t>
            </a:r>
            <a:endParaRPr lang="en-US" sz="1150" dirty="0"/>
          </a:p>
        </p:txBody>
      </p:sp>
      <p:sp>
        <p:nvSpPr>
          <p:cNvPr id="9" name="lim2"/>
          <p:cNvSpPr/>
          <p:nvPr/>
        </p:nvSpPr>
        <p:spPr>
          <a:xfrm>
            <a:off x="6071616" y="1097280"/>
            <a:ext cx="2615184" cy="3520440"/>
          </a:xfrm>
          <a:prstGeom prst="roundRect">
            <a:avLst>
              <a:gd name="adj" fmla="val 2797"/>
            </a:avLst>
          </a:prstGeom>
          <a:solidFill>
            <a:schemeClr val="bg2"/>
          </a:solidFill>
          <a:ln/>
        </p:spPr>
      </p:sp>
      <p:sp>
        <p:nvSpPr>
          <p:cNvPr id="10" name="Text 8"/>
          <p:cNvSpPr txBox="1"/>
          <p:nvPr/>
        </p:nvSpPr>
        <p:spPr>
          <a:xfrm>
            <a:off x="6236208" y="1216152"/>
            <a:ext cx="2286000" cy="365760"/>
          </a:xfrm>
          <a:prstGeom prst="rect">
            <a:avLst/>
          </a:prstGeom>
          <a:noFill/>
          <a:ln/>
        </p:spPr>
        <p:txBody>
          <a:bodyPr wrap="square" lIns="0" tIns="0" rIns="0" bIns="0" rtlCol="0" anchor="ctr"/>
          <a:lstStyle/>
          <a:p>
            <a:pPr indent="0" marL="0">
              <a:buNone/>
            </a:pPr>
            <a:r>
              <a:rPr lang="en-US" sz="1500" b="1" dirty="0">
                <a:solidFill>
                  <a:schemeClr val="accent4"/>
                </a:solidFill>
                <a:latin typeface="Calibri" pitchFamily="34" charset="0"/>
                <a:ea typeface="Calibri" pitchFamily="34" charset="-122"/>
                <a:cs typeface="Calibri" pitchFamily="34" charset="-120"/>
              </a:rPr>
              <a:t>Design limits</a:t>
            </a:r>
            <a:endParaRPr lang="en-US" sz="1500" dirty="0"/>
          </a:p>
        </p:txBody>
      </p:sp>
      <p:sp>
        <p:nvSpPr>
          <p:cNvPr id="11" name="Text 9"/>
          <p:cNvSpPr txBox="1"/>
          <p:nvPr/>
        </p:nvSpPr>
        <p:spPr>
          <a:xfrm>
            <a:off x="6236208"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No market data (bond yields, swaps), the main signal at turning points</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Latest vintage series for some inputs, not what was known at the time</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 RBI cycles: wide confidence bands</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CADCFC"/>
                </a:solidFill>
              </a:rPr>
              <a:t>The RBI is a smooth, forecast led inflation targeter: predictable most of the time, hard to call at turning points from public macro data.</a:t>
            </a:r>
            <a:endParaRPr lang="en-US" sz="1800" dirty="0"/>
          </a:p>
          <a:p>
            <a:pPr marL="228600" indent="-228600">
              <a:spcAft>
                <a:spcPts val="800"/>
              </a:spcAft>
              <a:buSzPct val="100000"/>
              <a:buChar char="•"/>
            </a:pPr>
            <a:r>
              <a:rPr lang="en-US" sz="1800" dirty="0">
                <a:solidFill>
                  <a:srgbClr val="CADCFC"/>
                </a:solidFill>
              </a:rPr>
              <a:t>The peg carries India's prices into Nepal, not India's policy rate; capital controls keep the NRB's short rate its own.</a:t>
            </a:r>
            <a:endParaRPr lang="en-US" sz="1800" dirty="0"/>
          </a:p>
          <a:p>
            <a:pPr marL="228600" indent="-228600">
              <a:buSzPct val="100000"/>
              <a:buChar char="•"/>
            </a:pPr>
            <a:r>
              <a:rPr lang="en-US" sz="1800" dirty="0">
                <a:solidFill>
                  <a:srgbClr val="CADCFC"/>
                </a:solidFill>
              </a:rPr>
              <a:t>Nepal's rate is a liquidity price: remittances bought at the peg hold it on the NRB floor, so the NRB's real instrument is the floor and its absorption.</a:t>
            </a:r>
            <a:endParaRPr lang="en-US" sz="1800" dirty="0"/>
          </a:p>
        </p:txBody>
      </p:sp>
    </p:spTree>
  </p:cSld>
  <p:clrMapOvr>
    <a:masterClrMapping/>
  </p:clrMapOvr>
</p:sld>
</file>

<file path=ppt/theme/theme1.xml><?xml version="1.0" encoding="utf-8"?>
<a:theme xmlns:a="http://schemas.openxmlformats.org/drawingml/2006/main" name="RateCycle">
  <a:themeElements>
    <a:clrScheme name="RateCycle">
      <a:dk1>
        <a:srgbClr val="1B1F2A"/>
      </a:dk1>
      <a:lt1>
        <a:srgbClr val="FFFFFF"/>
      </a:lt1>
      <a:dk2>
        <a:srgbClr val="1F2D4A"/>
      </a:dk2>
      <a:lt2>
        <a:srgbClr val="F4F5F7"/>
      </a:lt2>
      <a:accent1>
        <a:srgbClr val="EB6834"/>
      </a:accent1>
      <a:accent2>
        <a:srgbClr val="2A78D6"/>
      </a:accent2>
      <a:accent3>
        <a:srgbClr val="1BAF7A"/>
      </a:accent3>
      <a:accent4>
        <a:srgbClr val="8A8F98"/>
      </a:accent4>
      <a:accent5>
        <a:srgbClr val="C8432B"/>
      </a:accent5>
      <a:accent6>
        <a:srgbClr val="F2B134"/>
      </a:accent6>
      <a:hlink>
        <a:srgbClr val="2A78D6"/>
      </a:hlink>
      <a:folHlink>
        <a:srgbClr val="1F2D4A"/>
      </a:folHlink>
    </a:clrScheme>
    <a:fontScheme name="RateCyc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Pegged but not imported</dc:title>
  <dc:subject>PptxGenJS Presentation</dc:subject>
  <dc:creator>sakrit204-byte</dc:creator>
  <cp:lastModifiedBy>sakrit204-byte</cp:lastModifiedBy>
  <cp:revision>1</cp:revision>
  <dcterms:created xsi:type="dcterms:W3CDTF">2026-10-28T20:22:34Z</dcterms:created>
  <dcterms:modified xsi:type="dcterms:W3CDTF">2026-10-28T20:22:34Z</dcterms:modified>
</cp:coreProperties>
</file>