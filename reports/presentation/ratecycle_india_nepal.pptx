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033469c-1c42-fbfc-1f40-560ba7e3fced}">
          <p14:sldIdLst>
            <p14:sldId id="256"/>
            <p14:sldId id="257"/>
          </p14:sldIdLst>
        </p14:section>
        <p14:section name="Method" id="{89779ae8-2e55-e612-e360-feb2f7a681bd}">
          <p14:sldIdLst>
            <p14:sldId id="258"/>
          </p14:sldIdLst>
        </p14:section>
        <p14:section name="India" id="{c6e3b71c-b21a-4ba9-5023-280eb5cd2df8}">
          <p14:sldIdLst>
            <p14:sldId id="259"/>
            <p14:sldId id="260"/>
            <p14:sldId id="261"/>
            <p14:sldId id="262"/>
            <p14:sldId id="263"/>
            <p14:sldId id="264"/>
          </p14:sldIdLst>
        </p14:section>
        <p14:section name="Nepal" id="{bead6613-ec77-1572-2171-1041950f54c1}">
          <p14:sldIdLst>
            <p14:sldId id="265"/>
            <p14:sldId id="266"/>
            <p14:sldId id="267"/>
            <p14:sldId id="268"/>
            <p14:sldId id="269"/>
          </p14:sldIdLst>
        </p14:section>
        <p14:section name="Close" id="{7dd9f33c-fd0c-5585-d066-c426efa6b6c7}">
          <p14:sldIdLst>
            <p14:sldId id="270"/>
            <p14:sldId id="271"/>
          </p14:sldIdLst>
        </p14:section>
        <p14:section name="Appendix" id="{c996ebec-d4b9-99da-5276-6550b7919332}">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RBI repo rate, percent, month end, 2001 to October 2026</a:t>
            </a:r>
          </a:p>
        </c:rich>
      </c:tx>
      <c:layout/>
      <c:overlay val="0"/>
    </c:title>
    <c:autoTitleDeleted val="0"/>
    <c:plotArea>
      <c:layout/>
      <c:lineChart>
        <c:varyColors val="0"/>
        <c:ser>
          <c:idx val="0"/>
          <c:order val="0"/>
          <c:tx>
            <c:strRef>
              <c:f>Sheet1!$B$1</c:f>
              <c:strCache>
                <c:ptCount val="1"/>
                <c:pt idx="0">
                  <c:v>RBI repo rate, percent</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Sheet1!$A$2:$A$311</c:f>
              <c:multiLvlStrCache>
                <c:ptCount val="310"/>
                <c:lvl>
                  <c:pt idx="0">
                    <c:v>2001</c:v>
                  </c:pt>
                  <c:pt idx="1">
                    <c:v>2001</c:v>
                  </c:pt>
                  <c:pt idx="2">
                    <c:v>2001</c:v>
                  </c:pt>
                  <c:pt idx="3">
                    <c:v>2001</c:v>
                  </c:pt>
                  <c:pt idx="4">
                    <c:v>2001</c:v>
                  </c:pt>
                  <c:pt idx="5">
                    <c:v>2001</c:v>
                  </c:pt>
                  <c:pt idx="6">
                    <c:v>2001</c:v>
                  </c:pt>
                  <c:pt idx="7">
                    <c:v>2001</c:v>
                  </c:pt>
                  <c:pt idx="8">
                    <c:v>2001</c:v>
                  </c:pt>
                  <c:pt idx="9">
                    <c:v>2001</c:v>
                  </c:pt>
                  <c:pt idx="10">
                    <c:v>2001</c:v>
                  </c:pt>
                  <c:pt idx="11">
                    <c:v>2001</c:v>
                  </c:pt>
                  <c:pt idx="12">
                    <c:v>2002</c:v>
                  </c:pt>
                  <c:pt idx="13">
                    <c:v>2002</c:v>
                  </c:pt>
                  <c:pt idx="14">
                    <c:v>2002</c:v>
                  </c:pt>
                  <c:pt idx="15">
                    <c:v>2002</c:v>
                  </c:pt>
                  <c:pt idx="16">
                    <c:v>2002</c:v>
                  </c:pt>
                  <c:pt idx="17">
                    <c:v>2002</c:v>
                  </c:pt>
                  <c:pt idx="18">
                    <c:v>2002</c:v>
                  </c:pt>
                  <c:pt idx="19">
                    <c:v>2002</c:v>
                  </c:pt>
                  <c:pt idx="20">
                    <c:v>2002</c:v>
                  </c:pt>
                  <c:pt idx="21">
                    <c:v>2002</c:v>
                  </c:pt>
                  <c:pt idx="22">
                    <c:v>2002</c:v>
                  </c:pt>
                  <c:pt idx="23">
                    <c:v>2002</c:v>
                  </c:pt>
                  <c:pt idx="24">
                    <c:v>2003</c:v>
                  </c:pt>
                  <c:pt idx="25">
                    <c:v>2003</c:v>
                  </c:pt>
                  <c:pt idx="26">
                    <c:v>2003</c:v>
                  </c:pt>
                  <c:pt idx="27">
                    <c:v>2003</c:v>
                  </c:pt>
                  <c:pt idx="28">
                    <c:v>2003</c:v>
                  </c:pt>
                  <c:pt idx="29">
                    <c:v>2003</c:v>
                  </c:pt>
                  <c:pt idx="30">
                    <c:v>2003</c:v>
                  </c:pt>
                  <c:pt idx="31">
                    <c:v>2003</c:v>
                  </c:pt>
                  <c:pt idx="32">
                    <c:v>2003</c:v>
                  </c:pt>
                  <c:pt idx="33">
                    <c:v>2003</c:v>
                  </c:pt>
                  <c:pt idx="34">
                    <c:v>2003</c:v>
                  </c:pt>
                  <c:pt idx="35">
                    <c:v>2003</c:v>
                  </c:pt>
                  <c:pt idx="36">
                    <c:v>2004</c:v>
                  </c:pt>
                  <c:pt idx="37">
                    <c:v>2004</c:v>
                  </c:pt>
                  <c:pt idx="38">
                    <c:v>2004</c:v>
                  </c:pt>
                  <c:pt idx="39">
                    <c:v>2004</c:v>
                  </c:pt>
                  <c:pt idx="40">
                    <c:v>2004</c:v>
                  </c:pt>
                  <c:pt idx="41">
                    <c:v>2004</c:v>
                  </c:pt>
                  <c:pt idx="42">
                    <c:v>2004</c:v>
                  </c:pt>
                  <c:pt idx="43">
                    <c:v>2004</c:v>
                  </c:pt>
                  <c:pt idx="44">
                    <c:v>2004</c:v>
                  </c:pt>
                  <c:pt idx="45">
                    <c:v>2004</c:v>
                  </c:pt>
                  <c:pt idx="46">
                    <c:v>2004</c:v>
                  </c:pt>
                  <c:pt idx="47">
                    <c:v>2004</c:v>
                  </c:pt>
                  <c:pt idx="48">
                    <c:v>2005</c:v>
                  </c:pt>
                  <c:pt idx="49">
                    <c:v>2005</c:v>
                  </c:pt>
                  <c:pt idx="50">
                    <c:v>2005</c:v>
                  </c:pt>
                  <c:pt idx="51">
                    <c:v>2005</c:v>
                  </c:pt>
                  <c:pt idx="52">
                    <c:v>2005</c:v>
                  </c:pt>
                  <c:pt idx="53">
                    <c:v>2005</c:v>
                  </c:pt>
                  <c:pt idx="54">
                    <c:v>2005</c:v>
                  </c:pt>
                  <c:pt idx="55">
                    <c:v>2005</c:v>
                  </c:pt>
                  <c:pt idx="56">
                    <c:v>2005</c:v>
                  </c:pt>
                  <c:pt idx="57">
                    <c:v>2005</c:v>
                  </c:pt>
                  <c:pt idx="58">
                    <c:v>2005</c:v>
                  </c:pt>
                  <c:pt idx="59">
                    <c:v>2005</c:v>
                  </c:pt>
                  <c:pt idx="60">
                    <c:v>2006</c:v>
                  </c:pt>
                  <c:pt idx="61">
                    <c:v>2006</c:v>
                  </c:pt>
                  <c:pt idx="62">
                    <c:v>2006</c:v>
                  </c:pt>
                  <c:pt idx="63">
                    <c:v>2006</c:v>
                  </c:pt>
                  <c:pt idx="64">
                    <c:v>2006</c:v>
                  </c:pt>
                  <c:pt idx="65">
                    <c:v>2006</c:v>
                  </c:pt>
                  <c:pt idx="66">
                    <c:v>2006</c:v>
                  </c:pt>
                  <c:pt idx="67">
                    <c:v>2006</c:v>
                  </c:pt>
                  <c:pt idx="68">
                    <c:v>2006</c:v>
                  </c:pt>
                  <c:pt idx="69">
                    <c:v>2006</c:v>
                  </c:pt>
                  <c:pt idx="70">
                    <c:v>2006</c:v>
                  </c:pt>
                  <c:pt idx="71">
                    <c:v>2006</c:v>
                  </c:pt>
                  <c:pt idx="72">
                    <c:v>2007</c:v>
                  </c:pt>
                  <c:pt idx="73">
                    <c:v>2007</c:v>
                  </c:pt>
                  <c:pt idx="74">
                    <c:v>2007</c:v>
                  </c:pt>
                  <c:pt idx="75">
                    <c:v>2007</c:v>
                  </c:pt>
                  <c:pt idx="76">
                    <c:v>2007</c:v>
                  </c:pt>
                  <c:pt idx="77">
                    <c:v>2007</c:v>
                  </c:pt>
                  <c:pt idx="78">
                    <c:v>2007</c:v>
                  </c:pt>
                  <c:pt idx="79">
                    <c:v>2007</c:v>
                  </c:pt>
                  <c:pt idx="80">
                    <c:v>2007</c:v>
                  </c:pt>
                  <c:pt idx="81">
                    <c:v>2007</c:v>
                  </c:pt>
                  <c:pt idx="82">
                    <c:v>2007</c:v>
                  </c:pt>
                  <c:pt idx="83">
                    <c:v>2007</c:v>
                  </c:pt>
                  <c:pt idx="84">
                    <c:v>2008</c:v>
                  </c:pt>
                  <c:pt idx="85">
                    <c:v>2008</c:v>
                  </c:pt>
                  <c:pt idx="86">
                    <c:v>2008</c:v>
                  </c:pt>
                  <c:pt idx="87">
                    <c:v>2008</c:v>
                  </c:pt>
                  <c:pt idx="88">
                    <c:v>2008</c:v>
                  </c:pt>
                  <c:pt idx="89">
                    <c:v>2008</c:v>
                  </c:pt>
                  <c:pt idx="90">
                    <c:v>2008</c:v>
                  </c:pt>
                  <c:pt idx="91">
                    <c:v>2008</c:v>
                  </c:pt>
                  <c:pt idx="92">
                    <c:v>2008</c:v>
                  </c:pt>
                  <c:pt idx="93">
                    <c:v>2008</c:v>
                  </c:pt>
                  <c:pt idx="94">
                    <c:v>2008</c:v>
                  </c:pt>
                  <c:pt idx="95">
                    <c:v>2008</c:v>
                  </c:pt>
                  <c:pt idx="96">
                    <c:v>2009</c:v>
                  </c:pt>
                  <c:pt idx="97">
                    <c:v>2009</c:v>
                  </c:pt>
                  <c:pt idx="98">
                    <c:v>2009</c:v>
                  </c:pt>
                  <c:pt idx="99">
                    <c:v>2009</c:v>
                  </c:pt>
                  <c:pt idx="100">
                    <c:v>2009</c:v>
                  </c:pt>
                  <c:pt idx="101">
                    <c:v>2009</c:v>
                  </c:pt>
                  <c:pt idx="102">
                    <c:v>2009</c:v>
                  </c:pt>
                  <c:pt idx="103">
                    <c:v>2009</c:v>
                  </c:pt>
                  <c:pt idx="104">
                    <c:v>2009</c:v>
                  </c:pt>
                  <c:pt idx="105">
                    <c:v>2009</c:v>
                  </c:pt>
                  <c:pt idx="106">
                    <c:v>2009</c:v>
                  </c:pt>
                  <c:pt idx="107">
                    <c:v>2009</c:v>
                  </c:pt>
                  <c:pt idx="108">
                    <c:v>2010</c:v>
                  </c:pt>
                  <c:pt idx="109">
                    <c:v>2010</c:v>
                  </c:pt>
                  <c:pt idx="110">
                    <c:v>2010</c:v>
                  </c:pt>
                  <c:pt idx="111">
                    <c:v>2010</c:v>
                  </c:pt>
                  <c:pt idx="112">
                    <c:v>2010</c:v>
                  </c:pt>
                  <c:pt idx="113">
                    <c:v>2010</c:v>
                  </c:pt>
                  <c:pt idx="114">
                    <c:v>2010</c:v>
                  </c:pt>
                  <c:pt idx="115">
                    <c:v>2010</c:v>
                  </c:pt>
                  <c:pt idx="116">
                    <c:v>2010</c:v>
                  </c:pt>
                  <c:pt idx="117">
                    <c:v>2010</c:v>
                  </c:pt>
                  <c:pt idx="118">
                    <c:v>2010</c:v>
                  </c:pt>
                  <c:pt idx="119">
                    <c:v>2010</c:v>
                  </c:pt>
                  <c:pt idx="120">
                    <c:v>2011</c:v>
                  </c:pt>
                  <c:pt idx="121">
                    <c:v>2011</c:v>
                  </c:pt>
                  <c:pt idx="122">
                    <c:v>2011</c:v>
                  </c:pt>
                  <c:pt idx="123">
                    <c:v>2011</c:v>
                  </c:pt>
                  <c:pt idx="124">
                    <c:v>2011</c:v>
                  </c:pt>
                  <c:pt idx="125">
                    <c:v>2011</c:v>
                  </c:pt>
                  <c:pt idx="126">
                    <c:v>2011</c:v>
                  </c:pt>
                  <c:pt idx="127">
                    <c:v>2011</c:v>
                  </c:pt>
                  <c:pt idx="128">
                    <c:v>2011</c:v>
                  </c:pt>
                  <c:pt idx="129">
                    <c:v>2011</c:v>
                  </c:pt>
                  <c:pt idx="130">
                    <c:v>2011</c:v>
                  </c:pt>
                  <c:pt idx="131">
                    <c:v>2011</c:v>
                  </c:pt>
                  <c:pt idx="132">
                    <c:v>2012</c:v>
                  </c:pt>
                  <c:pt idx="133">
                    <c:v>2012</c:v>
                  </c:pt>
                  <c:pt idx="134">
                    <c:v>2012</c:v>
                  </c:pt>
                  <c:pt idx="135">
                    <c:v>2012</c:v>
                  </c:pt>
                  <c:pt idx="136">
                    <c:v>2012</c:v>
                  </c:pt>
                  <c:pt idx="137">
                    <c:v>2012</c:v>
                  </c:pt>
                  <c:pt idx="138">
                    <c:v>2012</c:v>
                  </c:pt>
                  <c:pt idx="139">
                    <c:v>2012</c:v>
                  </c:pt>
                  <c:pt idx="140">
                    <c:v>2012</c:v>
                  </c:pt>
                  <c:pt idx="141">
                    <c:v>2012</c:v>
                  </c:pt>
                  <c:pt idx="142">
                    <c:v>2012</c:v>
                  </c:pt>
                  <c:pt idx="143">
                    <c:v>2012</c:v>
                  </c:pt>
                  <c:pt idx="144">
                    <c:v>2013</c:v>
                  </c:pt>
                  <c:pt idx="145">
                    <c:v>2013</c:v>
                  </c:pt>
                  <c:pt idx="146">
                    <c:v>2013</c:v>
                  </c:pt>
                  <c:pt idx="147">
                    <c:v>2013</c:v>
                  </c:pt>
                  <c:pt idx="148">
                    <c:v>2013</c:v>
                  </c:pt>
                  <c:pt idx="149">
                    <c:v>2013</c:v>
                  </c:pt>
                  <c:pt idx="150">
                    <c:v>2013</c:v>
                  </c:pt>
                  <c:pt idx="151">
                    <c:v>2013</c:v>
                  </c:pt>
                  <c:pt idx="152">
                    <c:v>2013</c:v>
                  </c:pt>
                  <c:pt idx="153">
                    <c:v>2013</c:v>
                  </c:pt>
                  <c:pt idx="154">
                    <c:v>2013</c:v>
                  </c:pt>
                  <c:pt idx="155">
                    <c:v>2013</c:v>
                  </c:pt>
                  <c:pt idx="156">
                    <c:v>2014</c:v>
                  </c:pt>
                  <c:pt idx="157">
                    <c:v>2014</c:v>
                  </c:pt>
                  <c:pt idx="158">
                    <c:v>2014</c:v>
                  </c:pt>
                  <c:pt idx="159">
                    <c:v>2014</c:v>
                  </c:pt>
                  <c:pt idx="160">
                    <c:v>2014</c:v>
                  </c:pt>
                  <c:pt idx="161">
                    <c:v>2014</c:v>
                  </c:pt>
                  <c:pt idx="162">
                    <c:v>2014</c:v>
                  </c:pt>
                  <c:pt idx="163">
                    <c:v>2014</c:v>
                  </c:pt>
                  <c:pt idx="164">
                    <c:v>2014</c:v>
                  </c:pt>
                  <c:pt idx="165">
                    <c:v>2014</c:v>
                  </c:pt>
                  <c:pt idx="166">
                    <c:v>2014</c:v>
                  </c:pt>
                  <c:pt idx="167">
                    <c:v>2014</c:v>
                  </c:pt>
                  <c:pt idx="168">
                    <c:v>2015</c:v>
                  </c:pt>
                  <c:pt idx="169">
                    <c:v>2015</c:v>
                  </c:pt>
                  <c:pt idx="170">
                    <c:v>2015</c:v>
                  </c:pt>
                  <c:pt idx="171">
                    <c:v>2015</c:v>
                  </c:pt>
                  <c:pt idx="172">
                    <c:v>2015</c:v>
                  </c:pt>
                  <c:pt idx="173">
                    <c:v>2015</c:v>
                  </c:pt>
                  <c:pt idx="174">
                    <c:v>2015</c:v>
                  </c:pt>
                  <c:pt idx="175">
                    <c:v>2015</c:v>
                  </c:pt>
                  <c:pt idx="176">
                    <c:v>2015</c:v>
                  </c:pt>
                  <c:pt idx="177">
                    <c:v>2015</c:v>
                  </c:pt>
                  <c:pt idx="178">
                    <c:v>2015</c:v>
                  </c:pt>
                  <c:pt idx="179">
                    <c:v>2015</c:v>
                  </c:pt>
                  <c:pt idx="180">
                    <c:v>2016</c:v>
                  </c:pt>
                  <c:pt idx="181">
                    <c:v>2016</c:v>
                  </c:pt>
                  <c:pt idx="182">
                    <c:v>2016</c:v>
                  </c:pt>
                  <c:pt idx="183">
                    <c:v>2016</c:v>
                  </c:pt>
                  <c:pt idx="184">
                    <c:v>2016</c:v>
                  </c:pt>
                  <c:pt idx="185">
                    <c:v>2016</c:v>
                  </c:pt>
                  <c:pt idx="186">
                    <c:v>2016</c:v>
                  </c:pt>
                  <c:pt idx="187">
                    <c:v>2016</c:v>
                  </c:pt>
                  <c:pt idx="188">
                    <c:v>2016</c:v>
                  </c:pt>
                  <c:pt idx="189">
                    <c:v>2016</c:v>
                  </c:pt>
                  <c:pt idx="190">
                    <c:v>2016</c:v>
                  </c:pt>
                  <c:pt idx="191">
                    <c:v>2016</c:v>
                  </c:pt>
                  <c:pt idx="192">
                    <c:v>2017</c:v>
                  </c:pt>
                  <c:pt idx="193">
                    <c:v>2017</c:v>
                  </c:pt>
                  <c:pt idx="194">
                    <c:v>2017</c:v>
                  </c:pt>
                  <c:pt idx="195">
                    <c:v>2017</c:v>
                  </c:pt>
                  <c:pt idx="196">
                    <c:v>2017</c:v>
                  </c:pt>
                  <c:pt idx="197">
                    <c:v>2017</c:v>
                  </c:pt>
                  <c:pt idx="198">
                    <c:v>2017</c:v>
                  </c:pt>
                  <c:pt idx="199">
                    <c:v>2017</c:v>
                  </c:pt>
                  <c:pt idx="200">
                    <c:v>2017</c:v>
                  </c:pt>
                  <c:pt idx="201">
                    <c:v>2017</c:v>
                  </c:pt>
                  <c:pt idx="202">
                    <c:v>2017</c:v>
                  </c:pt>
                  <c:pt idx="203">
                    <c:v>2017</c:v>
                  </c:pt>
                  <c:pt idx="204">
                    <c:v>2018</c:v>
                  </c:pt>
                  <c:pt idx="205">
                    <c:v>2018</c:v>
                  </c:pt>
                  <c:pt idx="206">
                    <c:v>2018</c:v>
                  </c:pt>
                  <c:pt idx="207">
                    <c:v>2018</c:v>
                  </c:pt>
                  <c:pt idx="208">
                    <c:v>2018</c:v>
                  </c:pt>
                  <c:pt idx="209">
                    <c:v>2018</c:v>
                  </c:pt>
                  <c:pt idx="210">
                    <c:v>2018</c:v>
                  </c:pt>
                  <c:pt idx="211">
                    <c:v>2018</c:v>
                  </c:pt>
                  <c:pt idx="212">
                    <c:v>2018</c:v>
                  </c:pt>
                  <c:pt idx="213">
                    <c:v>2018</c:v>
                  </c:pt>
                  <c:pt idx="214">
                    <c:v>2018</c:v>
                  </c:pt>
                  <c:pt idx="215">
                    <c:v>2018</c:v>
                  </c:pt>
                  <c:pt idx="216">
                    <c:v>2019</c:v>
                  </c:pt>
                  <c:pt idx="217">
                    <c:v>2019</c:v>
                  </c:pt>
                  <c:pt idx="218">
                    <c:v>2019</c:v>
                  </c:pt>
                  <c:pt idx="219">
                    <c:v>2019</c:v>
                  </c:pt>
                  <c:pt idx="220">
                    <c:v>2019</c:v>
                  </c:pt>
                  <c:pt idx="221">
                    <c:v>2019</c:v>
                  </c:pt>
                  <c:pt idx="222">
                    <c:v>2019</c:v>
                  </c:pt>
                  <c:pt idx="223">
                    <c:v>2019</c:v>
                  </c:pt>
                  <c:pt idx="224">
                    <c:v>2019</c:v>
                  </c:pt>
                  <c:pt idx="225">
                    <c:v>2019</c:v>
                  </c:pt>
                  <c:pt idx="226">
                    <c:v>2019</c:v>
                  </c:pt>
                  <c:pt idx="227">
                    <c:v>2019</c:v>
                  </c:pt>
                  <c:pt idx="228">
                    <c:v>2020</c:v>
                  </c:pt>
                  <c:pt idx="229">
                    <c:v>2020</c:v>
                  </c:pt>
                  <c:pt idx="230">
                    <c:v>2020</c:v>
                  </c:pt>
                  <c:pt idx="231">
                    <c:v>2020</c:v>
                  </c:pt>
                  <c:pt idx="232">
                    <c:v>2020</c:v>
                  </c:pt>
                  <c:pt idx="233">
                    <c:v>2020</c:v>
                  </c:pt>
                  <c:pt idx="234">
                    <c:v>2020</c:v>
                  </c:pt>
                  <c:pt idx="235">
                    <c:v>2020</c:v>
                  </c:pt>
                  <c:pt idx="236">
                    <c:v>2020</c:v>
                  </c:pt>
                  <c:pt idx="237">
                    <c:v>2020</c:v>
                  </c:pt>
                  <c:pt idx="238">
                    <c:v>2020</c:v>
                  </c:pt>
                  <c:pt idx="239">
                    <c:v>2020</c:v>
                  </c:pt>
                  <c:pt idx="240">
                    <c:v>2021</c:v>
                  </c:pt>
                  <c:pt idx="241">
                    <c:v>2021</c:v>
                  </c:pt>
                  <c:pt idx="242">
                    <c:v>2021</c:v>
                  </c:pt>
                  <c:pt idx="243">
                    <c:v>2021</c:v>
                  </c:pt>
                  <c:pt idx="244">
                    <c:v>2021</c:v>
                  </c:pt>
                  <c:pt idx="245">
                    <c:v>2021</c:v>
                  </c:pt>
                  <c:pt idx="246">
                    <c:v>2021</c:v>
                  </c:pt>
                  <c:pt idx="247">
                    <c:v>2021</c:v>
                  </c:pt>
                  <c:pt idx="248">
                    <c:v>2021</c:v>
                  </c:pt>
                  <c:pt idx="249">
                    <c:v>2021</c:v>
                  </c:pt>
                  <c:pt idx="250">
                    <c:v>2021</c:v>
                  </c:pt>
                  <c:pt idx="251">
                    <c:v>2021</c:v>
                  </c:pt>
                  <c:pt idx="252">
                    <c:v>2022</c:v>
                  </c:pt>
                  <c:pt idx="253">
                    <c:v>2022</c:v>
                  </c:pt>
                  <c:pt idx="254">
                    <c:v>2022</c:v>
                  </c:pt>
                  <c:pt idx="255">
                    <c:v>2022</c:v>
                  </c:pt>
                  <c:pt idx="256">
                    <c:v>2022</c:v>
                  </c:pt>
                  <c:pt idx="257">
                    <c:v>2022</c:v>
                  </c:pt>
                  <c:pt idx="258">
                    <c:v>2022</c:v>
                  </c:pt>
                  <c:pt idx="259">
                    <c:v>2022</c:v>
                  </c:pt>
                  <c:pt idx="260">
                    <c:v>2022</c:v>
                  </c:pt>
                  <c:pt idx="261">
                    <c:v>2022</c:v>
                  </c:pt>
                  <c:pt idx="262">
                    <c:v>2022</c:v>
                  </c:pt>
                  <c:pt idx="263">
                    <c:v>2022</c:v>
                  </c:pt>
                  <c:pt idx="264">
                    <c:v>2023</c:v>
                  </c:pt>
                  <c:pt idx="265">
                    <c:v>2023</c:v>
                  </c:pt>
                  <c:pt idx="266">
                    <c:v>2023</c:v>
                  </c:pt>
                  <c:pt idx="267">
                    <c:v>2023</c:v>
                  </c:pt>
                  <c:pt idx="268">
                    <c:v>2023</c:v>
                  </c:pt>
                  <c:pt idx="269">
                    <c:v>2023</c:v>
                  </c:pt>
                  <c:pt idx="270">
                    <c:v>2023</c:v>
                  </c:pt>
                  <c:pt idx="271">
                    <c:v>2023</c:v>
                  </c:pt>
                  <c:pt idx="272">
                    <c:v>2023</c:v>
                  </c:pt>
                  <c:pt idx="273">
                    <c:v>2023</c:v>
                  </c:pt>
                  <c:pt idx="274">
                    <c:v>2023</c:v>
                  </c:pt>
                  <c:pt idx="275">
                    <c:v>2023</c:v>
                  </c:pt>
                  <c:pt idx="276">
                    <c:v>2024</c:v>
                  </c:pt>
                  <c:pt idx="277">
                    <c:v>2024</c:v>
                  </c:pt>
                  <c:pt idx="278">
                    <c:v>2024</c:v>
                  </c:pt>
                  <c:pt idx="279">
                    <c:v>2024</c:v>
                  </c:pt>
                  <c:pt idx="280">
                    <c:v>2024</c:v>
                  </c:pt>
                  <c:pt idx="281">
                    <c:v>2024</c:v>
                  </c:pt>
                  <c:pt idx="282">
                    <c:v>2024</c:v>
                  </c:pt>
                  <c:pt idx="283">
                    <c:v>2024</c:v>
                  </c:pt>
                  <c:pt idx="284">
                    <c:v>2024</c:v>
                  </c:pt>
                  <c:pt idx="285">
                    <c:v>2024</c:v>
                  </c:pt>
                  <c:pt idx="286">
                    <c:v>2024</c:v>
                  </c:pt>
                  <c:pt idx="287">
                    <c:v>2024</c:v>
                  </c:pt>
                  <c:pt idx="288">
                    <c:v>2025</c:v>
                  </c:pt>
                  <c:pt idx="289">
                    <c:v>2025</c:v>
                  </c:pt>
                  <c:pt idx="290">
                    <c:v>2025</c:v>
                  </c:pt>
                  <c:pt idx="291">
                    <c:v>2025</c:v>
                  </c:pt>
                  <c:pt idx="292">
                    <c:v>2025</c:v>
                  </c:pt>
                  <c:pt idx="293">
                    <c:v>2025</c:v>
                  </c:pt>
                  <c:pt idx="294">
                    <c:v>2025</c:v>
                  </c:pt>
                  <c:pt idx="295">
                    <c:v>2025</c:v>
                  </c:pt>
                  <c:pt idx="296">
                    <c:v>2025</c:v>
                  </c:pt>
                  <c:pt idx="297">
                    <c:v>2025</c:v>
                  </c:pt>
                  <c:pt idx="298">
                    <c:v>2025</c:v>
                  </c:pt>
                  <c:pt idx="299">
                    <c:v>2025</c:v>
                  </c:pt>
                  <c:pt idx="300">
                    <c:v>2026</c:v>
                  </c:pt>
                  <c:pt idx="301">
                    <c:v>2026</c:v>
                  </c:pt>
                  <c:pt idx="302">
                    <c:v>2026</c:v>
                  </c:pt>
                  <c:pt idx="303">
                    <c:v>2026</c:v>
                  </c:pt>
                  <c:pt idx="304">
                    <c:v>2026</c:v>
                  </c:pt>
                  <c:pt idx="305">
                    <c:v>2026</c:v>
                  </c:pt>
                  <c:pt idx="306">
                    <c:v>2026</c:v>
                  </c:pt>
                  <c:pt idx="307">
                    <c:v>2026</c:v>
                  </c:pt>
                  <c:pt idx="308">
                    <c:v>2026</c:v>
                  </c:pt>
                  <c:pt idx="309">
                    <c:v>2026</c:v>
                  </c:pt>
                </c:lvl>
              </c:multiLvlStrCache>
            </c:multiLvlStrRef>
          </c:cat>
          <c:val>
            <c:numRef>
              <c:f>Sheet1!$B$2:$B$311</c:f>
              <c:numCache>
                <c:formatCode>General</c:formatCode>
                <c:ptCount val="310"/>
                <c:pt idx="0">
                  <c:v>8</c:v>
                </c:pt>
                <c:pt idx="1">
                  <c:v>7.5</c:v>
                </c:pt>
                <c:pt idx="2">
                  <c:v>7</c:v>
                </c:pt>
                <c:pt idx="3">
                  <c:v>8.75</c:v>
                </c:pt>
                <c:pt idx="4">
                  <c:v>8.75</c:v>
                </c:pt>
                <c:pt idx="5">
                  <c:v>8.5</c:v>
                </c:pt>
                <c:pt idx="6">
                  <c:v>8.5</c:v>
                </c:pt>
                <c:pt idx="7">
                  <c:v>8.5</c:v>
                </c:pt>
                <c:pt idx="8">
                  <c:v>8.5</c:v>
                </c:pt>
                <c:pt idx="9">
                  <c:v>8.5</c:v>
                </c:pt>
                <c:pt idx="10">
                  <c:v>8.5</c:v>
                </c:pt>
                <c:pt idx="11">
                  <c:v>8.5</c:v>
                </c:pt>
                <c:pt idx="12">
                  <c:v>8.5</c:v>
                </c:pt>
                <c:pt idx="13">
                  <c:v>8.5</c:v>
                </c:pt>
                <c:pt idx="14">
                  <c:v>8</c:v>
                </c:pt>
                <c:pt idx="15">
                  <c:v>8</c:v>
                </c:pt>
                <c:pt idx="16">
                  <c:v>8</c:v>
                </c:pt>
                <c:pt idx="17">
                  <c:v>8</c:v>
                </c:pt>
                <c:pt idx="18">
                  <c:v>8</c:v>
                </c:pt>
                <c:pt idx="19">
                  <c:v>8</c:v>
                </c:pt>
                <c:pt idx="20">
                  <c:v>8</c:v>
                </c:pt>
                <c:pt idx="21">
                  <c:v>8</c:v>
                </c:pt>
                <c:pt idx="22">
                  <c:v>7.5</c:v>
                </c:pt>
                <c:pt idx="23">
                  <c:v>7.5</c:v>
                </c:pt>
                <c:pt idx="24">
                  <c:v>7.5</c:v>
                </c:pt>
                <c:pt idx="25">
                  <c:v>7.5</c:v>
                </c:pt>
                <c:pt idx="26">
                  <c:v>7</c:v>
                </c:pt>
                <c:pt idx="27">
                  <c:v>7</c:v>
                </c:pt>
                <c:pt idx="28">
                  <c:v>7</c:v>
                </c:pt>
                <c:pt idx="29">
                  <c:v>7</c:v>
                </c:pt>
                <c:pt idx="30">
                  <c:v>7</c:v>
                </c:pt>
                <c:pt idx="31">
                  <c:v>7</c:v>
                </c:pt>
                <c:pt idx="32">
                  <c:v>7</c:v>
                </c:pt>
                <c:pt idx="33">
                  <c:v>7</c:v>
                </c:pt>
                <c:pt idx="34">
                  <c:v>7</c:v>
                </c:pt>
                <c:pt idx="35">
                  <c:v>7</c:v>
                </c:pt>
                <c:pt idx="36">
                  <c:v>7</c:v>
                </c:pt>
                <c:pt idx="37">
                  <c:v>7</c:v>
                </c:pt>
                <c:pt idx="38">
                  <c:v>6</c:v>
                </c:pt>
                <c:pt idx="39">
                  <c:v>6</c:v>
                </c:pt>
                <c:pt idx="40">
                  <c:v>6</c:v>
                </c:pt>
                <c:pt idx="41">
                  <c:v>6</c:v>
                </c:pt>
                <c:pt idx="42">
                  <c:v>6</c:v>
                </c:pt>
                <c:pt idx="43">
                  <c:v>6</c:v>
                </c:pt>
                <c:pt idx="44">
                  <c:v>6</c:v>
                </c:pt>
                <c:pt idx="45">
                  <c:v>6</c:v>
                </c:pt>
                <c:pt idx="46">
                  <c:v>6</c:v>
                </c:pt>
                <c:pt idx="47">
                  <c:v>6</c:v>
                </c:pt>
                <c:pt idx="48">
                  <c:v>6</c:v>
                </c:pt>
                <c:pt idx="49">
                  <c:v>6</c:v>
                </c:pt>
                <c:pt idx="50">
                  <c:v>6</c:v>
                </c:pt>
                <c:pt idx="51">
                  <c:v>6</c:v>
                </c:pt>
                <c:pt idx="52">
                  <c:v>6</c:v>
                </c:pt>
                <c:pt idx="53">
                  <c:v>6</c:v>
                </c:pt>
                <c:pt idx="54">
                  <c:v>6</c:v>
                </c:pt>
                <c:pt idx="55">
                  <c:v>6</c:v>
                </c:pt>
                <c:pt idx="56">
                  <c:v>6</c:v>
                </c:pt>
                <c:pt idx="57">
                  <c:v>6.25</c:v>
                </c:pt>
                <c:pt idx="58">
                  <c:v>6.25</c:v>
                </c:pt>
                <c:pt idx="59">
                  <c:v>6.25</c:v>
                </c:pt>
                <c:pt idx="60">
                  <c:v>6.5</c:v>
                </c:pt>
                <c:pt idx="61">
                  <c:v>6.5</c:v>
                </c:pt>
                <c:pt idx="62">
                  <c:v>6.5</c:v>
                </c:pt>
                <c:pt idx="63">
                  <c:v>6.5</c:v>
                </c:pt>
                <c:pt idx="64">
                  <c:v>6.5</c:v>
                </c:pt>
                <c:pt idx="65">
                  <c:v>6.75</c:v>
                </c:pt>
                <c:pt idx="66">
                  <c:v>7</c:v>
                </c:pt>
                <c:pt idx="67">
                  <c:v>7</c:v>
                </c:pt>
                <c:pt idx="68">
                  <c:v>7</c:v>
                </c:pt>
                <c:pt idx="69">
                  <c:v>7.25</c:v>
                </c:pt>
                <c:pt idx="70">
                  <c:v>7.25</c:v>
                </c:pt>
                <c:pt idx="71">
                  <c:v>7.25</c:v>
                </c:pt>
                <c:pt idx="72">
                  <c:v>7.5</c:v>
                </c:pt>
                <c:pt idx="73">
                  <c:v>7.5</c:v>
                </c:pt>
                <c:pt idx="74">
                  <c:v>7.75</c:v>
                </c:pt>
                <c:pt idx="75">
                  <c:v>7.75</c:v>
                </c:pt>
                <c:pt idx="76">
                  <c:v>7.75</c:v>
                </c:pt>
                <c:pt idx="77">
                  <c:v>7.75</c:v>
                </c:pt>
                <c:pt idx="78">
                  <c:v>7.75</c:v>
                </c:pt>
                <c:pt idx="79">
                  <c:v>7.75</c:v>
                </c:pt>
                <c:pt idx="80">
                  <c:v>7.75</c:v>
                </c:pt>
                <c:pt idx="81">
                  <c:v>7.75</c:v>
                </c:pt>
                <c:pt idx="82">
                  <c:v>7.75</c:v>
                </c:pt>
                <c:pt idx="83">
                  <c:v>7.75</c:v>
                </c:pt>
                <c:pt idx="84">
                  <c:v>7.75</c:v>
                </c:pt>
                <c:pt idx="85">
                  <c:v>7.75</c:v>
                </c:pt>
                <c:pt idx="86">
                  <c:v>7.75</c:v>
                </c:pt>
                <c:pt idx="87">
                  <c:v>7.75</c:v>
                </c:pt>
                <c:pt idx="88">
                  <c:v>7.75</c:v>
                </c:pt>
                <c:pt idx="89">
                  <c:v>8.5</c:v>
                </c:pt>
                <c:pt idx="90">
                  <c:v>9</c:v>
                </c:pt>
                <c:pt idx="91">
                  <c:v>9</c:v>
                </c:pt>
                <c:pt idx="92">
                  <c:v>9</c:v>
                </c:pt>
                <c:pt idx="93">
                  <c:v>8</c:v>
                </c:pt>
                <c:pt idx="94">
                  <c:v>7.5</c:v>
                </c:pt>
                <c:pt idx="95">
                  <c:v>6.5</c:v>
                </c:pt>
                <c:pt idx="96">
                  <c:v>5.5</c:v>
                </c:pt>
                <c:pt idx="97">
                  <c:v>5.5</c:v>
                </c:pt>
                <c:pt idx="98">
                  <c:v>5</c:v>
                </c:pt>
                <c:pt idx="99">
                  <c:v>4.75</c:v>
                </c:pt>
                <c:pt idx="100">
                  <c:v>4.75</c:v>
                </c:pt>
                <c:pt idx="101">
                  <c:v>4.75</c:v>
                </c:pt>
                <c:pt idx="102">
                  <c:v>4.75</c:v>
                </c:pt>
                <c:pt idx="103">
                  <c:v>4.75</c:v>
                </c:pt>
                <c:pt idx="104">
                  <c:v>4.75</c:v>
                </c:pt>
                <c:pt idx="105">
                  <c:v>4.75</c:v>
                </c:pt>
                <c:pt idx="106">
                  <c:v>4.75</c:v>
                </c:pt>
                <c:pt idx="107">
                  <c:v>4.75</c:v>
                </c:pt>
                <c:pt idx="108">
                  <c:v>4.75</c:v>
                </c:pt>
                <c:pt idx="109">
                  <c:v>4.75</c:v>
                </c:pt>
                <c:pt idx="110">
                  <c:v>5</c:v>
                </c:pt>
                <c:pt idx="111">
                  <c:v>5.25</c:v>
                </c:pt>
                <c:pt idx="112">
                  <c:v>5.25</c:v>
                </c:pt>
                <c:pt idx="113">
                  <c:v>5.25</c:v>
                </c:pt>
                <c:pt idx="114">
                  <c:v>5.75</c:v>
                </c:pt>
                <c:pt idx="115">
                  <c:v>5.75</c:v>
                </c:pt>
                <c:pt idx="116">
                  <c:v>6</c:v>
                </c:pt>
                <c:pt idx="117">
                  <c:v>6</c:v>
                </c:pt>
                <c:pt idx="118">
                  <c:v>6.25</c:v>
                </c:pt>
                <c:pt idx="119">
                  <c:v>6.25</c:v>
                </c:pt>
                <c:pt idx="120">
                  <c:v>6.5</c:v>
                </c:pt>
                <c:pt idx="121">
                  <c:v>6.5</c:v>
                </c:pt>
                <c:pt idx="122">
                  <c:v>6.75</c:v>
                </c:pt>
                <c:pt idx="123">
                  <c:v>6.75</c:v>
                </c:pt>
                <c:pt idx="124">
                  <c:v>7.25</c:v>
                </c:pt>
                <c:pt idx="125">
                  <c:v>7.5</c:v>
                </c:pt>
                <c:pt idx="126">
                  <c:v>8</c:v>
                </c:pt>
                <c:pt idx="127">
                  <c:v>8</c:v>
                </c:pt>
                <c:pt idx="128">
                  <c:v>8.25</c:v>
                </c:pt>
                <c:pt idx="129">
                  <c:v>8.5</c:v>
                </c:pt>
                <c:pt idx="130">
                  <c:v>8.5</c:v>
                </c:pt>
                <c:pt idx="131">
                  <c:v>8.5</c:v>
                </c:pt>
                <c:pt idx="132">
                  <c:v>8.5</c:v>
                </c:pt>
                <c:pt idx="133">
                  <c:v>8.5</c:v>
                </c:pt>
                <c:pt idx="134">
                  <c:v>8.5</c:v>
                </c:pt>
                <c:pt idx="135">
                  <c:v>8</c:v>
                </c:pt>
                <c:pt idx="136">
                  <c:v>8</c:v>
                </c:pt>
                <c:pt idx="137">
                  <c:v>8</c:v>
                </c:pt>
                <c:pt idx="138">
                  <c:v>8</c:v>
                </c:pt>
                <c:pt idx="139">
                  <c:v>8</c:v>
                </c:pt>
                <c:pt idx="140">
                  <c:v>8</c:v>
                </c:pt>
                <c:pt idx="141">
                  <c:v>8</c:v>
                </c:pt>
                <c:pt idx="142">
                  <c:v>8</c:v>
                </c:pt>
                <c:pt idx="143">
                  <c:v>8</c:v>
                </c:pt>
                <c:pt idx="144">
                  <c:v>7.75</c:v>
                </c:pt>
                <c:pt idx="145">
                  <c:v>7.75</c:v>
                </c:pt>
                <c:pt idx="146">
                  <c:v>7.5</c:v>
                </c:pt>
                <c:pt idx="147">
                  <c:v>7.5</c:v>
                </c:pt>
                <c:pt idx="148">
                  <c:v>7.25</c:v>
                </c:pt>
                <c:pt idx="149">
                  <c:v>7.25</c:v>
                </c:pt>
                <c:pt idx="150">
                  <c:v>7.25</c:v>
                </c:pt>
                <c:pt idx="151">
                  <c:v>7.25</c:v>
                </c:pt>
                <c:pt idx="152">
                  <c:v>7.5</c:v>
                </c:pt>
                <c:pt idx="153">
                  <c:v>7.75</c:v>
                </c:pt>
                <c:pt idx="154">
                  <c:v>7.75</c:v>
                </c:pt>
                <c:pt idx="155">
                  <c:v>7.75</c:v>
                </c:pt>
                <c:pt idx="156">
                  <c:v>8</c:v>
                </c:pt>
                <c:pt idx="157">
                  <c:v>8</c:v>
                </c:pt>
                <c:pt idx="158">
                  <c:v>8</c:v>
                </c:pt>
                <c:pt idx="159">
                  <c:v>8</c:v>
                </c:pt>
                <c:pt idx="160">
                  <c:v>8</c:v>
                </c:pt>
                <c:pt idx="161">
                  <c:v>8</c:v>
                </c:pt>
                <c:pt idx="162">
                  <c:v>8</c:v>
                </c:pt>
                <c:pt idx="163">
                  <c:v>8</c:v>
                </c:pt>
                <c:pt idx="164">
                  <c:v>8</c:v>
                </c:pt>
                <c:pt idx="165">
                  <c:v>8</c:v>
                </c:pt>
                <c:pt idx="166">
                  <c:v>8</c:v>
                </c:pt>
                <c:pt idx="167">
                  <c:v>8</c:v>
                </c:pt>
                <c:pt idx="168">
                  <c:v>7.75</c:v>
                </c:pt>
                <c:pt idx="169">
                  <c:v>7.75</c:v>
                </c:pt>
                <c:pt idx="170">
                  <c:v>7.5</c:v>
                </c:pt>
                <c:pt idx="171">
                  <c:v>7.5</c:v>
                </c:pt>
                <c:pt idx="172">
                  <c:v>7.5</c:v>
                </c:pt>
                <c:pt idx="173">
                  <c:v>7.25</c:v>
                </c:pt>
                <c:pt idx="174">
                  <c:v>7.25</c:v>
                </c:pt>
                <c:pt idx="175">
                  <c:v>7.25</c:v>
                </c:pt>
                <c:pt idx="176">
                  <c:v>6.75</c:v>
                </c:pt>
                <c:pt idx="177">
                  <c:v>6.75</c:v>
                </c:pt>
                <c:pt idx="178">
                  <c:v>6.75</c:v>
                </c:pt>
                <c:pt idx="179">
                  <c:v>6.75</c:v>
                </c:pt>
                <c:pt idx="180">
                  <c:v>6.75</c:v>
                </c:pt>
                <c:pt idx="181">
                  <c:v>6.75</c:v>
                </c:pt>
                <c:pt idx="182">
                  <c:v>6.75</c:v>
                </c:pt>
                <c:pt idx="183">
                  <c:v>6.5</c:v>
                </c:pt>
                <c:pt idx="184">
                  <c:v>6.5</c:v>
                </c:pt>
                <c:pt idx="185">
                  <c:v>6.5</c:v>
                </c:pt>
                <c:pt idx="186">
                  <c:v>6.5</c:v>
                </c:pt>
                <c:pt idx="187">
                  <c:v>6.5</c:v>
                </c:pt>
                <c:pt idx="188">
                  <c:v>6.5</c:v>
                </c:pt>
                <c:pt idx="189">
                  <c:v>6.25</c:v>
                </c:pt>
                <c:pt idx="190">
                  <c:v>6.25</c:v>
                </c:pt>
                <c:pt idx="191">
                  <c:v>6.25</c:v>
                </c:pt>
                <c:pt idx="192">
                  <c:v>6.25</c:v>
                </c:pt>
                <c:pt idx="193">
                  <c:v>6.25</c:v>
                </c:pt>
                <c:pt idx="194">
                  <c:v>6.25</c:v>
                </c:pt>
                <c:pt idx="195">
                  <c:v>6.25</c:v>
                </c:pt>
                <c:pt idx="196">
                  <c:v>6.25</c:v>
                </c:pt>
                <c:pt idx="197">
                  <c:v>6.25</c:v>
                </c:pt>
                <c:pt idx="198">
                  <c:v>6.25</c:v>
                </c:pt>
                <c:pt idx="199">
                  <c:v>6</c:v>
                </c:pt>
                <c:pt idx="200">
                  <c:v>6</c:v>
                </c:pt>
                <c:pt idx="201">
                  <c:v>6</c:v>
                </c:pt>
                <c:pt idx="202">
                  <c:v>6</c:v>
                </c:pt>
                <c:pt idx="203">
                  <c:v>6</c:v>
                </c:pt>
                <c:pt idx="204">
                  <c:v>6</c:v>
                </c:pt>
                <c:pt idx="205">
                  <c:v>6</c:v>
                </c:pt>
                <c:pt idx="206">
                  <c:v>6</c:v>
                </c:pt>
                <c:pt idx="207">
                  <c:v>6</c:v>
                </c:pt>
                <c:pt idx="208">
                  <c:v>6</c:v>
                </c:pt>
                <c:pt idx="209">
                  <c:v>6.25</c:v>
                </c:pt>
                <c:pt idx="210">
                  <c:v>6.25</c:v>
                </c:pt>
                <c:pt idx="211">
                  <c:v>6.5</c:v>
                </c:pt>
                <c:pt idx="212">
                  <c:v>6.5</c:v>
                </c:pt>
                <c:pt idx="213">
                  <c:v>6.5</c:v>
                </c:pt>
                <c:pt idx="214">
                  <c:v>6.5</c:v>
                </c:pt>
                <c:pt idx="215">
                  <c:v>6.5</c:v>
                </c:pt>
                <c:pt idx="216">
                  <c:v>6.5</c:v>
                </c:pt>
                <c:pt idx="217">
                  <c:v>6.25</c:v>
                </c:pt>
                <c:pt idx="218">
                  <c:v>6.25</c:v>
                </c:pt>
                <c:pt idx="219">
                  <c:v>6</c:v>
                </c:pt>
                <c:pt idx="220">
                  <c:v>6</c:v>
                </c:pt>
                <c:pt idx="221">
                  <c:v>5.75</c:v>
                </c:pt>
                <c:pt idx="222">
                  <c:v>5.75</c:v>
                </c:pt>
                <c:pt idx="223">
                  <c:v>5.4</c:v>
                </c:pt>
                <c:pt idx="224">
                  <c:v>5.4</c:v>
                </c:pt>
                <c:pt idx="225">
                  <c:v>5.15</c:v>
                </c:pt>
                <c:pt idx="226">
                  <c:v>5.15</c:v>
                </c:pt>
                <c:pt idx="227">
                  <c:v>5.15</c:v>
                </c:pt>
                <c:pt idx="228">
                  <c:v>5.15</c:v>
                </c:pt>
                <c:pt idx="229">
                  <c:v>5.15</c:v>
                </c:pt>
                <c:pt idx="230">
                  <c:v>4.4</c:v>
                </c:pt>
                <c:pt idx="231">
                  <c:v>4.4</c:v>
                </c:pt>
                <c:pt idx="232">
                  <c:v>4</c:v>
                </c:pt>
                <c:pt idx="233">
                  <c:v>4</c:v>
                </c:pt>
                <c:pt idx="234">
                  <c:v>4</c:v>
                </c:pt>
                <c:pt idx="235">
                  <c:v>4</c:v>
                </c:pt>
                <c:pt idx="236">
                  <c:v>4</c:v>
                </c:pt>
                <c:pt idx="237">
                  <c:v>4</c:v>
                </c:pt>
                <c:pt idx="238">
                  <c:v>4</c:v>
                </c:pt>
                <c:pt idx="239">
                  <c:v>4</c:v>
                </c:pt>
                <c:pt idx="240">
                  <c:v>4</c:v>
                </c:pt>
                <c:pt idx="241">
                  <c:v>4</c:v>
                </c:pt>
                <c:pt idx="242">
                  <c:v>4</c:v>
                </c:pt>
                <c:pt idx="243">
                  <c:v>4</c:v>
                </c:pt>
                <c:pt idx="244">
                  <c:v>4</c:v>
                </c:pt>
                <c:pt idx="245">
                  <c:v>4</c:v>
                </c:pt>
                <c:pt idx="246">
                  <c:v>4</c:v>
                </c:pt>
                <c:pt idx="247">
                  <c:v>4</c:v>
                </c:pt>
                <c:pt idx="248">
                  <c:v>4</c:v>
                </c:pt>
                <c:pt idx="249">
                  <c:v>4</c:v>
                </c:pt>
                <c:pt idx="250">
                  <c:v>4</c:v>
                </c:pt>
                <c:pt idx="251">
                  <c:v>4</c:v>
                </c:pt>
                <c:pt idx="252">
                  <c:v>4</c:v>
                </c:pt>
                <c:pt idx="253">
                  <c:v>4</c:v>
                </c:pt>
                <c:pt idx="254">
                  <c:v>4</c:v>
                </c:pt>
                <c:pt idx="255">
                  <c:v>4</c:v>
                </c:pt>
                <c:pt idx="256">
                  <c:v>4.4</c:v>
                </c:pt>
                <c:pt idx="257">
                  <c:v>4.9</c:v>
                </c:pt>
                <c:pt idx="258">
                  <c:v>4.9</c:v>
                </c:pt>
                <c:pt idx="259">
                  <c:v>5.4</c:v>
                </c:pt>
                <c:pt idx="260">
                  <c:v>5.9</c:v>
                </c:pt>
                <c:pt idx="261">
                  <c:v>5.9</c:v>
                </c:pt>
                <c:pt idx="262">
                  <c:v>5.9</c:v>
                </c:pt>
                <c:pt idx="263">
                  <c:v>6.25</c:v>
                </c:pt>
                <c:pt idx="264">
                  <c:v>6.25</c:v>
                </c:pt>
                <c:pt idx="265">
                  <c:v>6.5</c:v>
                </c:pt>
                <c:pt idx="266">
                  <c:v>6.5</c:v>
                </c:pt>
                <c:pt idx="267">
                  <c:v>6.5</c:v>
                </c:pt>
                <c:pt idx="268">
                  <c:v>6.5</c:v>
                </c:pt>
                <c:pt idx="269">
                  <c:v>6.5</c:v>
                </c:pt>
                <c:pt idx="270">
                  <c:v>6.5</c:v>
                </c:pt>
                <c:pt idx="271">
                  <c:v>6.5</c:v>
                </c:pt>
                <c:pt idx="272">
                  <c:v>6.5</c:v>
                </c:pt>
                <c:pt idx="273">
                  <c:v>6.5</c:v>
                </c:pt>
                <c:pt idx="274">
                  <c:v>6.5</c:v>
                </c:pt>
                <c:pt idx="275">
                  <c:v>6.5</c:v>
                </c:pt>
                <c:pt idx="276">
                  <c:v>6.5</c:v>
                </c:pt>
                <c:pt idx="277">
                  <c:v>6.5</c:v>
                </c:pt>
                <c:pt idx="278">
                  <c:v>6.5</c:v>
                </c:pt>
                <c:pt idx="279">
                  <c:v>6.5</c:v>
                </c:pt>
                <c:pt idx="280">
                  <c:v>6.5</c:v>
                </c:pt>
                <c:pt idx="281">
                  <c:v>6.5</c:v>
                </c:pt>
                <c:pt idx="282">
                  <c:v>6.5</c:v>
                </c:pt>
                <c:pt idx="283">
                  <c:v>6.5</c:v>
                </c:pt>
                <c:pt idx="284">
                  <c:v>6.5</c:v>
                </c:pt>
                <c:pt idx="285">
                  <c:v>6.5</c:v>
                </c:pt>
                <c:pt idx="286">
                  <c:v>6.5</c:v>
                </c:pt>
                <c:pt idx="287">
                  <c:v>6.5</c:v>
                </c:pt>
                <c:pt idx="288">
                  <c:v>6.5</c:v>
                </c:pt>
                <c:pt idx="289">
                  <c:v>6.25</c:v>
                </c:pt>
                <c:pt idx="290">
                  <c:v>6.25</c:v>
                </c:pt>
                <c:pt idx="291">
                  <c:v>6</c:v>
                </c:pt>
                <c:pt idx="292">
                  <c:v>6</c:v>
                </c:pt>
                <c:pt idx="293">
                  <c:v>5.5</c:v>
                </c:pt>
                <c:pt idx="294">
                  <c:v>5.5</c:v>
                </c:pt>
                <c:pt idx="295">
                  <c:v>5.5</c:v>
                </c:pt>
                <c:pt idx="296">
                  <c:v>5.5</c:v>
                </c:pt>
                <c:pt idx="297">
                  <c:v>5.5</c:v>
                </c:pt>
                <c:pt idx="298">
                  <c:v>5.5</c:v>
                </c:pt>
                <c:pt idx="299">
                  <c:v>5.25</c:v>
                </c:pt>
                <c:pt idx="300">
                  <c:v>5.25</c:v>
                </c:pt>
                <c:pt idx="301">
                  <c:v>5.25</c:v>
                </c:pt>
                <c:pt idx="302">
                  <c:v>5.25</c:v>
                </c:pt>
                <c:pt idx="303">
                  <c:v>5.25</c:v>
                </c:pt>
                <c:pt idx="304">
                  <c:v>5.25</c:v>
                </c:pt>
                <c:pt idx="305">
                  <c:v>5.25</c:v>
                </c:pt>
                <c:pt idx="306">
                  <c:v>5.25</c:v>
                </c:pt>
                <c:pt idx="307">
                  <c:v>5.25</c:v>
                </c:pt>
                <c:pt idx="308">
                  <c:v>5.25</c:v>
                </c:pt>
                <c:pt idx="309">
                  <c:v>5.5</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tickLblSkip val="48"/>
      </c:catAx>
      <c:valAx>
        <c:axId val="2094734552"/>
        <c:scaling>
          <c:orientation val="minMax"/>
          <c:max val="10"/>
          <c:min val="3"/>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Average change in the probability of a hike, points</a:t>
            </a:r>
          </a:p>
        </c:rich>
      </c:tx>
      <c:layout/>
      <c:overlay val="0"/>
    </c:title>
    <c:autoTitleDeleted val="0"/>
    <c:plotArea>
      <c:layout/>
      <c:barChart>
        <c:barDir val="bar"/>
        <c:grouping val="clustered"/>
        <c:varyColors val="0"/>
        <c:ser>
          <c:idx val="0"/>
          <c:order val="0"/>
          <c:tx>
            <c:strRef>
              <c:f>Sheet1!$B$1</c:f>
              <c:strCache>
                <c:ptCount val="1"/>
                <c:pt idx="0">
                  <c:v>Change in P(hike), points</c:v>
                </c:pt>
              </c:strCache>
            </c:strRef>
          </c:tx>
          <c:spPr>
            <a:solidFill>
              <a:srgbClr val="EB6834"/>
            </a:solidFill>
            <a:effectLst/>
          </c:spPr>
          <c:invertIfNegative val="0"/>
          <c:dLbls>
            <c:numFmt formatCode="0.0;&quot;minus &quot;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EB6834"/>
              </a:solidFill>
              <a:effectLst/>
            </c:spPr>
          </c:dPt>
          <c:dPt>
            <c:idx val="2"/>
            <c:invertIfNegative val="0"/>
            <c:bubble3D val="0"/>
            <c:spPr>
              <a:solidFill>
                <a:srgbClr val="8A8F98"/>
              </a:solidFill>
              <a:effectLst/>
            </c:spPr>
          </c:dPt>
          <c:dPt>
            <c:idx val="3"/>
            <c:invertIfNegative val="0"/>
            <c:bubble3D val="0"/>
            <c:spPr>
              <a:solidFill>
                <a:srgbClr val="8A8F98"/>
              </a:solidFill>
              <a:effectLst/>
            </c:spPr>
          </c:dPt>
          <c:dPt>
            <c:idx val="4"/>
            <c:invertIfNegative val="0"/>
            <c:bubble3D val="0"/>
            <c:spPr>
              <a:solidFill>
                <a:srgbClr val="8A8F98"/>
              </a:solidFill>
              <a:effectLst/>
            </c:spPr>
          </c:dPt>
          <c:dPt>
            <c:idx val="5"/>
            <c:invertIfNegative val="0"/>
            <c:bubble3D val="0"/>
            <c:spPr>
              <a:solidFill>
                <a:srgbClr val="8A8F98"/>
              </a:solidFill>
              <a:effectLst/>
            </c:spPr>
          </c:dPt>
          <c:cat>
            <c:multiLvlStrRef>
              <c:f>Sheet1!$A$2:$A$7</c:f>
              <c:multiLvlStrCache>
                <c:ptCount val="6"/>
                <c:lvl>
                  <c:pt idx="0">
                    <c:v>Previous decision was a hike</c:v>
                  </c:pt>
                  <c:pt idx="1">
                    <c:v>RBI raised its inflation projection by 1 point</c:v>
                  </c:pt>
                  <c:pt idx="2">
                    <c:v>Realized inflation 1 point above anchor</c:v>
                  </c:pt>
                  <c:pt idx="3">
                    <c:v>Projected inflation 1 point above anchor</c:v>
                  </c:pt>
                  <c:pt idx="4">
                    <c:v>Growth gap 1 point higher</c:v>
                  </c:pt>
                  <c:pt idx="5">
                    <c:v>Rupee 1 percent weaker</c:v>
                  </c:pt>
                </c:lvl>
              </c:multiLvlStrCache>
            </c:multiLvlStrRef>
          </c:cat>
          <c:val>
            <c:numRef>
              <c:f>Sheet1!$B$2:$B$7</c:f>
              <c:numCache>
                <c:formatCode>General</c:formatCode>
                <c:ptCount val="6"/>
                <c:pt idx="0">
                  <c:v>24.5</c:v>
                </c:pt>
                <c:pt idx="1">
                  <c:v>27.6</c:v>
                </c:pt>
                <c:pt idx="2">
                  <c:v>2.5</c:v>
                </c:pt>
                <c:pt idx="3">
                  <c:v>-4.7</c:v>
                </c:pt>
                <c:pt idx="4">
                  <c:v>0.2</c:v>
                </c:pt>
                <c:pt idx="5">
                  <c:v>-0.3</c:v>
                </c:pt>
              </c:numCache>
            </c:numRef>
          </c:val>
        </c:ser>
        <c:dLbls>
          <c:numFmt formatCode="0.0;&quot;minus &quot;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35"/>
          <c:min val="-15"/>
        </c:scaling>
        <c:delete val="1"/>
        <c:axPos val="b"/>
        <c:majorGridlines>
          <c:spPr>
            <a:ln w="6350" cap="flat">
              <a:solidFill>
                <a:srgbClr val="D9DCE1"/>
              </a:solidFill>
              <a:prstDash val="solid"/>
              <a:round/>
            </a:ln>
          </c:spPr>
        </c:majorGridlines>
        <c:numFmt formatCode="0;&quot;minus &quot;0" sourceLinked="0"/>
        <c:majorTickMark val="out"/>
        <c:minorTickMark val="none"/>
        <c:tickLblPos val="low"/>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Probabilities before each decision, unseen 2021 to 2026</a:t>
            </a:r>
          </a:p>
        </c:rich>
      </c:tx>
      <c:layout/>
      <c:overlay val="0"/>
    </c:title>
    <c:autoTitleDeleted val="0"/>
    <c:plotArea>
      <c:layout/>
      <c:lineChart>
        <c:varyColors val="0"/>
        <c:ser>
          <c:idx val="0"/>
          <c:order val="0"/>
          <c:tx>
            <c:strRef>
              <c:f>Sheet1!$B$1</c:f>
              <c:strCache>
                <c:ptCount val="1"/>
                <c:pt idx="0">
                  <c:v>P(hike)</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circle"/>
            <c:size val="5"/>
            <c:spPr>
              <a:solidFill>
                <a:srgbClr val="EB6834"/>
              </a:solidFill>
              <a:ln w="9525" cap="flat">
                <a:solidFill>
                  <a:srgbClr val="EB6834"/>
                </a:solidFill>
                <a:prstDash val="solid"/>
                <a:round/>
              </a:ln>
              <a:effectLst/>
            </c:spPr>
          </c:marker>
          <c:cat>
            <c:multiLvlStrRef>
              <c:f>Sheet1!$A$2:$A$32</c:f>
              <c:multiLvlStrCache>
                <c:ptCount val="31"/>
                <c:lvl>
                  <c:pt idx="0">
                    <c:v>Dec 21</c:v>
                  </c:pt>
                  <c:pt idx="1">
                    <c:v>Feb 22</c:v>
                  </c:pt>
                  <c:pt idx="2">
                    <c:v>Apr 22</c:v>
                  </c:pt>
                  <c:pt idx="3">
                    <c:v>May 22</c:v>
                  </c:pt>
                  <c:pt idx="4">
                    <c:v>Jun 22</c:v>
                  </c:pt>
                  <c:pt idx="5">
                    <c:v>Aug 22</c:v>
                  </c:pt>
                  <c:pt idx="6">
                    <c:v>Sep 22</c:v>
                  </c:pt>
                  <c:pt idx="7">
                    <c:v>Dec 22</c:v>
                  </c:pt>
                  <c:pt idx="8">
                    <c:v>Feb 23</c:v>
                  </c:pt>
                  <c:pt idx="9">
                    <c:v>Apr 23</c:v>
                  </c:pt>
                  <c:pt idx="10">
                    <c:v>Jun 23</c:v>
                  </c:pt>
                  <c:pt idx="11">
                    <c:v>Aug 23</c:v>
                  </c:pt>
                  <c:pt idx="12">
                    <c:v>Oct 23</c:v>
                  </c:pt>
                  <c:pt idx="13">
                    <c:v>Dec 23</c:v>
                  </c:pt>
                  <c:pt idx="14">
                    <c:v>Feb 24</c:v>
                  </c:pt>
                  <c:pt idx="15">
                    <c:v>Apr 24</c:v>
                  </c:pt>
                  <c:pt idx="16">
                    <c:v>Jun 24</c:v>
                  </c:pt>
                  <c:pt idx="17">
                    <c:v>Aug 24</c:v>
                  </c:pt>
                  <c:pt idx="18">
                    <c:v>Oct 24</c:v>
                  </c:pt>
                  <c:pt idx="19">
                    <c:v>Dec 24</c:v>
                  </c:pt>
                  <c:pt idx="20">
                    <c:v>Feb 25</c:v>
                  </c:pt>
                  <c:pt idx="21">
                    <c:v>Apr 25</c:v>
                  </c:pt>
                  <c:pt idx="22">
                    <c:v>Jun 25</c:v>
                  </c:pt>
                  <c:pt idx="23">
                    <c:v>Aug 25</c:v>
                  </c:pt>
                  <c:pt idx="24">
                    <c:v>Oct 25</c:v>
                  </c:pt>
                  <c:pt idx="25">
                    <c:v>Dec 25</c:v>
                  </c:pt>
                  <c:pt idx="26">
                    <c:v>Feb 26</c:v>
                  </c:pt>
                  <c:pt idx="27">
                    <c:v>Apr 26</c:v>
                  </c:pt>
                  <c:pt idx="28">
                    <c:v>Jun 26</c:v>
                  </c:pt>
                  <c:pt idx="29">
                    <c:v>Aug 26</c:v>
                  </c:pt>
                  <c:pt idx="30">
                    <c:v>Oct 26</c:v>
                  </c:pt>
                </c:lvl>
              </c:multiLvlStrCache>
            </c:multiLvlStrRef>
          </c:cat>
          <c:val>
            <c:numRef>
              <c:f>Sheet1!$B$2:$B$32</c:f>
              <c:numCache>
                <c:formatCode>General</c:formatCode>
                <c:ptCount val="31"/>
                <c:pt idx="0">
                  <c:v>0.119</c:v>
                </c:pt>
                <c:pt idx="1">
                  <c:v>0.126</c:v>
                </c:pt>
                <c:pt idx="2">
                  <c:v>0.166</c:v>
                </c:pt>
                <c:pt idx="3">
                  <c:v>0.448</c:v>
                </c:pt>
                <c:pt idx="4">
                  <c:v>0.841</c:v>
                </c:pt>
                <c:pt idx="5">
                  <c:v>0.725</c:v>
                </c:pt>
                <c:pt idx="6">
                  <c:v>0.506</c:v>
                </c:pt>
                <c:pt idx="7">
                  <c:v>0.47</c:v>
                </c:pt>
                <c:pt idx="8">
                  <c:v>0.422</c:v>
                </c:pt>
                <c:pt idx="9">
                  <c:v>0.476</c:v>
                </c:pt>
                <c:pt idx="10">
                  <c:v>0.044</c:v>
                </c:pt>
                <c:pt idx="11">
                  <c:v>0.106</c:v>
                </c:pt>
                <c:pt idx="12">
                  <c:v>0.156</c:v>
                </c:pt>
                <c:pt idx="13">
                  <c:v>0.113</c:v>
                </c:pt>
                <c:pt idx="14">
                  <c:v>0.156</c:v>
                </c:pt>
                <c:pt idx="15">
                  <c:v>0.128</c:v>
                </c:pt>
                <c:pt idx="16">
                  <c:v>0.089</c:v>
                </c:pt>
                <c:pt idx="17">
                  <c:v>0.141</c:v>
                </c:pt>
                <c:pt idx="18">
                  <c:v>0.111</c:v>
                </c:pt>
                <c:pt idx="19">
                  <c:v>0.144</c:v>
                </c:pt>
                <c:pt idx="20">
                  <c:v>0.15</c:v>
                </c:pt>
                <c:pt idx="21">
                  <c:v>0.012</c:v>
                </c:pt>
                <c:pt idx="22">
                  <c:v>0.016</c:v>
                </c:pt>
                <c:pt idx="23">
                  <c:v>0.004</c:v>
                </c:pt>
                <c:pt idx="24">
                  <c:v>0.056</c:v>
                </c:pt>
                <c:pt idx="25">
                  <c:v>0.018</c:v>
                </c:pt>
                <c:pt idx="26">
                  <c:v>0.004</c:v>
                </c:pt>
                <c:pt idx="27">
                  <c:v>0.138</c:v>
                </c:pt>
                <c:pt idx="28">
                  <c:v>0.077</c:v>
                </c:pt>
                <c:pt idx="29">
                  <c:v>0.274</c:v>
                </c:pt>
                <c:pt idx="30">
                  <c:v>0.086</c:v>
                </c:pt>
              </c:numCache>
            </c:numRef>
          </c:val>
          <c:smooth val="0"/>
        </c:ser>
        <c:ser>
          <c:idx val="1"/>
          <c:order val="1"/>
          <c:tx>
            <c:strRef>
              <c:f>Sheet1!$C$1</c:f>
              <c:strCache>
                <c:ptCount val="1"/>
                <c:pt idx="0">
                  <c:v>P(cut)</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Sheet1!$A$2:$A$32</c:f>
              <c:multiLvlStrCache>
                <c:ptCount val="31"/>
                <c:lvl>
                  <c:pt idx="0">
                    <c:v>Dec 21</c:v>
                  </c:pt>
                  <c:pt idx="1">
                    <c:v>Feb 22</c:v>
                  </c:pt>
                  <c:pt idx="2">
                    <c:v>Apr 22</c:v>
                  </c:pt>
                  <c:pt idx="3">
                    <c:v>May 22</c:v>
                  </c:pt>
                  <c:pt idx="4">
                    <c:v>Jun 22</c:v>
                  </c:pt>
                  <c:pt idx="5">
                    <c:v>Aug 22</c:v>
                  </c:pt>
                  <c:pt idx="6">
                    <c:v>Sep 22</c:v>
                  </c:pt>
                  <c:pt idx="7">
                    <c:v>Dec 22</c:v>
                  </c:pt>
                  <c:pt idx="8">
                    <c:v>Feb 23</c:v>
                  </c:pt>
                  <c:pt idx="9">
                    <c:v>Apr 23</c:v>
                  </c:pt>
                  <c:pt idx="10">
                    <c:v>Jun 23</c:v>
                  </c:pt>
                  <c:pt idx="11">
                    <c:v>Aug 23</c:v>
                  </c:pt>
                  <c:pt idx="12">
                    <c:v>Oct 23</c:v>
                  </c:pt>
                  <c:pt idx="13">
                    <c:v>Dec 23</c:v>
                  </c:pt>
                  <c:pt idx="14">
                    <c:v>Feb 24</c:v>
                  </c:pt>
                  <c:pt idx="15">
                    <c:v>Apr 24</c:v>
                  </c:pt>
                  <c:pt idx="16">
                    <c:v>Jun 24</c:v>
                  </c:pt>
                  <c:pt idx="17">
                    <c:v>Aug 24</c:v>
                  </c:pt>
                  <c:pt idx="18">
                    <c:v>Oct 24</c:v>
                  </c:pt>
                  <c:pt idx="19">
                    <c:v>Dec 24</c:v>
                  </c:pt>
                  <c:pt idx="20">
                    <c:v>Feb 25</c:v>
                  </c:pt>
                  <c:pt idx="21">
                    <c:v>Apr 25</c:v>
                  </c:pt>
                  <c:pt idx="22">
                    <c:v>Jun 25</c:v>
                  </c:pt>
                  <c:pt idx="23">
                    <c:v>Aug 25</c:v>
                  </c:pt>
                  <c:pt idx="24">
                    <c:v>Oct 25</c:v>
                  </c:pt>
                  <c:pt idx="25">
                    <c:v>Dec 25</c:v>
                  </c:pt>
                  <c:pt idx="26">
                    <c:v>Feb 26</c:v>
                  </c:pt>
                  <c:pt idx="27">
                    <c:v>Apr 26</c:v>
                  </c:pt>
                  <c:pt idx="28">
                    <c:v>Jun 26</c:v>
                  </c:pt>
                  <c:pt idx="29">
                    <c:v>Aug 26</c:v>
                  </c:pt>
                  <c:pt idx="30">
                    <c:v>Oct 26</c:v>
                  </c:pt>
                </c:lvl>
              </c:multiLvlStrCache>
            </c:multiLvlStrRef>
          </c:cat>
          <c:val>
            <c:numRef>
              <c:f>Sheet1!$C$2:$C$32</c:f>
              <c:numCache>
                <c:formatCode>General</c:formatCode>
                <c:ptCount val="31"/>
                <c:pt idx="0">
                  <c:v>0.219</c:v>
                </c:pt>
                <c:pt idx="1">
                  <c:v>0.204</c:v>
                </c:pt>
                <c:pt idx="2">
                  <c:v>0.155</c:v>
                </c:pt>
                <c:pt idx="3">
                  <c:v>0.031</c:v>
                </c:pt>
                <c:pt idx="4">
                  <c:v>0.001</c:v>
                </c:pt>
                <c:pt idx="5">
                  <c:v>0.005</c:v>
                </c:pt>
                <c:pt idx="6">
                  <c:v>0.022</c:v>
                </c:pt>
                <c:pt idx="7">
                  <c:v>0.028</c:v>
                </c:pt>
                <c:pt idx="8">
                  <c:v>0.038</c:v>
                </c:pt>
                <c:pt idx="9">
                  <c:v>0.028</c:v>
                </c:pt>
                <c:pt idx="10">
                  <c:v>0.393</c:v>
                </c:pt>
                <c:pt idx="11">
                  <c:v>0.227</c:v>
                </c:pt>
                <c:pt idx="12">
                  <c:v>0.159</c:v>
                </c:pt>
                <c:pt idx="13">
                  <c:v>0.208</c:v>
                </c:pt>
                <c:pt idx="14">
                  <c:v>0.152</c:v>
                </c:pt>
                <c:pt idx="15">
                  <c:v>0.178</c:v>
                </c:pt>
                <c:pt idx="16">
                  <c:v>0.234</c:v>
                </c:pt>
                <c:pt idx="17">
                  <c:v>0.156</c:v>
                </c:pt>
                <c:pt idx="18">
                  <c:v>0.189</c:v>
                </c:pt>
                <c:pt idx="19">
                  <c:v>0.145</c:v>
                </c:pt>
                <c:pt idx="20">
                  <c:v>0.137</c:v>
                </c:pt>
                <c:pt idx="21">
                  <c:v>0.568</c:v>
                </c:pt>
                <c:pt idx="22">
                  <c:v>0.517</c:v>
                </c:pt>
                <c:pt idx="23">
                  <c:v>0.702</c:v>
                </c:pt>
                <c:pt idx="24">
                  <c:v>0.308</c:v>
                </c:pt>
                <c:pt idx="25">
                  <c:v>0.492</c:v>
                </c:pt>
                <c:pt idx="26">
                  <c:v>0.695</c:v>
                </c:pt>
                <c:pt idx="27">
                  <c:v>0.156</c:v>
                </c:pt>
                <c:pt idx="28">
                  <c:v>0.245</c:v>
                </c:pt>
                <c:pt idx="29">
                  <c:v>0.063</c:v>
                </c:pt>
                <c:pt idx="30">
                  <c:v>0.219</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mn-lt"/>
              </a:defRPr>
            </a:pPr>
            <a:endParaRPr lang="en-US"/>
          </a:p>
        </c:txPr>
        <c:crossAx val="2094734552"/>
        <c:crosses val="autoZero"/>
        <c:auto val="1"/>
        <c:lblAlgn val="ctr"/>
        <c:noMultiLvlLbl val="1"/>
        <c:tickLblSkip val="4"/>
      </c:catAx>
      <c:valAx>
        <c:axId val="2094734552"/>
        <c:scaling>
          <c:orientation val="minMax"/>
          <c:max val="1"/>
          <c:min val="0"/>
        </c:scaling>
        <c:delete val="0"/>
        <c:axPos val="l"/>
        <c:majorGridlines>
          <c:spPr>
            <a:ln w="6350" cap="flat">
              <a:solidFill>
                <a:srgbClr val="D9DCE1"/>
              </a:solidFill>
              <a:prstDash val="solid"/>
              <a:round/>
            </a:ln>
          </c:spPr>
        </c:majorGridlines>
        <c:numFmt formatCode="0.0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Balanced accuracy at each stage</a:t>
            </a:r>
          </a:p>
        </c:rich>
      </c:tx>
      <c:layout/>
      <c:overlay val="0"/>
    </c:title>
    <c:autoTitleDeleted val="0"/>
    <c:plotArea>
      <c:layout/>
      <c:barChart>
        <c:barDir val="col"/>
        <c:grouping val="clustered"/>
        <c:varyColors val="0"/>
        <c:ser>
          <c:idx val="0"/>
          <c:order val="0"/>
          <c:tx>
            <c:strRef>
              <c:f>Sheet1!$B$1</c:f>
              <c:strCache>
                <c:ptCount val="1"/>
                <c:pt idx="0">
                  <c:v>In sample</c:v>
                </c:pt>
              </c:strCache>
            </c:strRef>
          </c:tx>
          <c:spPr>
            <a:solidFill>
              <a:srgbClr val="BFC4CC"/>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Sheet1!$B$2:$B$4</c:f>
              <c:numCache>
                <c:formatCode>General</c:formatCode>
                <c:ptCount val="3"/>
                <c:pt idx="0">
                  <c:v>0.598</c:v>
                </c:pt>
                <c:pt idx="1">
                  <c:v>0.735</c:v>
                </c:pt>
                <c:pt idx="2">
                  <c:v>0.751</c:v>
                </c:pt>
              </c:numCache>
            </c:numRef>
          </c:val>
        </c:ser>
        <c:ser>
          <c:idx val="1"/>
          <c:order val="1"/>
          <c:tx>
            <c:strRef>
              <c:f>Sheet1!$C$1</c:f>
              <c:strCache>
                <c:ptCount val="1"/>
                <c:pt idx="0">
                  <c:v>Walk forward, training years</c:v>
                </c:pt>
              </c:strCache>
            </c:strRef>
          </c:tx>
          <c:spPr>
            <a:solidFill>
              <a:srgbClr val="8A8F98"/>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Sheet1!$C$2:$C$4</c:f>
              <c:numCache>
                <c:formatCode>General</c:formatCode>
                <c:ptCount val="3"/>
                <c:pt idx="0">
                  <c:v>0.639</c:v>
                </c:pt>
                <c:pt idx="1">
                  <c:v>0.64</c:v>
                </c:pt>
                <c:pt idx="2">
                  <c:v>0.727</c:v>
                </c:pt>
              </c:numCache>
            </c:numRef>
          </c:val>
        </c:ser>
        <c:ser>
          <c:idx val="2"/>
          <c:order val="2"/>
          <c:tx>
            <c:strRef>
              <c:f>Sheet1!$D$1</c:f>
              <c:strCache>
                <c:ptCount val="1"/>
                <c:pt idx="0">
                  <c:v>Unseen 2021 to 2026</c:v>
                </c:pt>
              </c:strCache>
            </c:strRef>
          </c:tx>
          <c:spPr>
            <a:solidFill>
              <a:srgbClr val="1F2D4A"/>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Sheet1!$D$2:$D$4</c:f>
              <c:numCache>
                <c:formatCode>General</c:formatCode>
                <c:ptCount val="3"/>
                <c:pt idx="0">
                  <c:v>0.693</c:v>
                </c:pt>
                <c:pt idx="1">
                  <c:v>0.669</c:v>
                </c:pt>
                <c:pt idx="2">
                  <c:v>0.53</c:v>
                </c:pt>
              </c:numCache>
            </c:numRef>
          </c:val>
        </c:ser>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9"/>
          <c:min val="0"/>
        </c:scaling>
        <c:delete val="1"/>
        <c:axPos val="l"/>
        <c:majorGridlines>
          <c:spPr>
            <a:ln w="6350" cap="flat">
              <a:solidFill>
                <a:srgbClr val="D9DCE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Probability of each repo level after the April 2027 meeting</a:t>
            </a:r>
          </a:p>
        </c:rich>
      </c:tx>
      <c:layout/>
      <c:overlay val="0"/>
    </c:title>
    <c:autoTitleDeleted val="0"/>
    <c:plotArea>
      <c:layout/>
      <c:barChart>
        <c:barDir val="col"/>
        <c:grouping val="clustered"/>
        <c:varyColors val="0"/>
        <c:ser>
          <c:idx val="0"/>
          <c:order val="0"/>
          <c:tx>
            <c:strRef>
              <c:f>Sheet1!$B$1</c:f>
              <c:strCache>
                <c:ptCount val="1"/>
                <c:pt idx="0">
                  <c:v>Easing tensions</c:v>
                </c:pt>
              </c:strCache>
            </c:strRef>
          </c:tx>
          <c:spPr>
            <a:solidFill>
              <a:srgbClr val="9DB9DE"/>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Sheet1!$A$2:$A$6</c:f>
              <c:multiLvlStrCache>
                <c:ptCount val="5"/>
                <c:lvl>
                  <c:pt idx="0">
                    <c:v>5.25 or lower</c:v>
                  </c:pt>
                  <c:pt idx="1">
                    <c:v>5.50</c:v>
                  </c:pt>
                  <c:pt idx="2">
                    <c:v>5.75</c:v>
                  </c:pt>
                  <c:pt idx="3">
                    <c:v>6.00</c:v>
                  </c:pt>
                  <c:pt idx="4">
                    <c:v>6.25</c:v>
                  </c:pt>
                </c:lvl>
              </c:multiLvlStrCache>
            </c:multiLvlStrRef>
          </c:cat>
          <c:val>
            <c:numRef>
              <c:f>Sheet1!$B$2:$B$6</c:f>
              <c:numCache>
                <c:formatCode>General</c:formatCode>
                <c:ptCount val="5"/>
                <c:pt idx="0">
                  <c:v>0.20800000000000002</c:v>
                </c:pt>
                <c:pt idx="1">
                  <c:v>0.273</c:v>
                </c:pt>
                <c:pt idx="2">
                  <c:v>0.304</c:v>
                </c:pt>
                <c:pt idx="3">
                  <c:v>0.141</c:v>
                </c:pt>
                <c:pt idx="4">
                  <c:v>0.074</c:v>
                </c:pt>
              </c:numCache>
            </c:numRef>
          </c:val>
        </c:ser>
        <c:ser>
          <c:idx val="1"/>
          <c:order val="1"/>
          <c:tx>
            <c:strRef>
              <c:f>Sheet1!$C$1</c:f>
              <c:strCache>
                <c:ptCount val="1"/>
                <c:pt idx="0">
                  <c:v>Premium persists</c:v>
                </c:pt>
              </c:strCache>
            </c:strRef>
          </c:tx>
          <c:spPr>
            <a:solidFill>
              <a:srgbClr val="8A8F98"/>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Sheet1!$A$2:$A$6</c:f>
              <c:multiLvlStrCache>
                <c:ptCount val="5"/>
                <c:lvl>
                  <c:pt idx="0">
                    <c:v>5.25 or lower</c:v>
                  </c:pt>
                  <c:pt idx="1">
                    <c:v>5.50</c:v>
                  </c:pt>
                  <c:pt idx="2">
                    <c:v>5.75</c:v>
                  </c:pt>
                  <c:pt idx="3">
                    <c:v>6.00</c:v>
                  </c:pt>
                  <c:pt idx="4">
                    <c:v>6.25</c:v>
                  </c:pt>
                </c:lvl>
              </c:multiLvlStrCache>
            </c:multiLvlStrRef>
          </c:cat>
          <c:val>
            <c:numRef>
              <c:f>Sheet1!$C$2:$C$6</c:f>
              <c:numCache>
                <c:formatCode>General</c:formatCode>
                <c:ptCount val="5"/>
                <c:pt idx="0">
                  <c:v>0.138</c:v>
                </c:pt>
                <c:pt idx="1">
                  <c:v>0.269</c:v>
                </c:pt>
                <c:pt idx="2">
                  <c:v>0.262</c:v>
                </c:pt>
                <c:pt idx="3">
                  <c:v>0.212</c:v>
                </c:pt>
                <c:pt idx="4">
                  <c:v>0.119</c:v>
                </c:pt>
              </c:numCache>
            </c:numRef>
          </c:val>
        </c:ser>
        <c:ser>
          <c:idx val="2"/>
          <c:order val="2"/>
          <c:tx>
            <c:strRef>
              <c:f>Sheet1!$D$1</c:f>
              <c:strCache>
                <c:ptCount val="1"/>
                <c:pt idx="0">
                  <c:v>Escalation</c:v>
                </c:pt>
              </c:strCache>
            </c:strRef>
          </c:tx>
          <c:spPr>
            <a:solidFill>
              <a:srgbClr val="EB6834"/>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Sheet1!$A$2:$A$6</c:f>
              <c:multiLvlStrCache>
                <c:ptCount val="5"/>
                <c:lvl>
                  <c:pt idx="0">
                    <c:v>5.25 or lower</c:v>
                  </c:pt>
                  <c:pt idx="1">
                    <c:v>5.50</c:v>
                  </c:pt>
                  <c:pt idx="2">
                    <c:v>5.75</c:v>
                  </c:pt>
                  <c:pt idx="3">
                    <c:v>6.00</c:v>
                  </c:pt>
                  <c:pt idx="4">
                    <c:v>6.25</c:v>
                  </c:pt>
                </c:lvl>
              </c:multiLvlStrCache>
            </c:multiLvlStrRef>
          </c:cat>
          <c:val>
            <c:numRef>
              <c:f>Sheet1!$D$2:$D$6</c:f>
              <c:numCache>
                <c:formatCode>General</c:formatCode>
                <c:ptCount val="5"/>
                <c:pt idx="0">
                  <c:v>0.088</c:v>
                </c:pt>
                <c:pt idx="1">
                  <c:v>0.217</c:v>
                </c:pt>
                <c:pt idx="2">
                  <c:v>0.221</c:v>
                </c:pt>
                <c:pt idx="3">
                  <c:v>0.31</c:v>
                </c:pt>
                <c:pt idx="4">
                  <c:v>0.166</c:v>
                </c:pt>
              </c:numCache>
            </c:numRef>
          </c:val>
        </c:ser>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majorGridlines>
          <c:spPr>
            <a:ln w="6350" cap="flat">
              <a:solidFill>
                <a:srgbClr val="D9DCE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Balanced accuracy, 57 months, 2021 to 2026</a:t>
            </a:r>
          </a:p>
        </c:rich>
      </c:tx>
      <c:layout/>
      <c:overlay val="0"/>
    </c:title>
    <c:autoTitleDeleted val="0"/>
    <c:plotArea>
      <c:layout/>
      <c:barChart>
        <c:barDir val="col"/>
        <c:grouping val="clustered"/>
        <c:varyColors val="0"/>
        <c:ser>
          <c:idx val="0"/>
          <c:order val="0"/>
          <c:tx>
            <c:strRef>
              <c:f>Sheet1!$B$1</c:f>
              <c:strCache>
                <c:ptCount val="1"/>
                <c:pt idx="0">
                  <c:v>Model</c:v>
                </c:pt>
              </c:strCache>
            </c:strRef>
          </c:tx>
          <c:spPr>
            <a:solidFill>
              <a:srgbClr val="2A78D6"/>
            </a:solidFill>
            <a:effectLst/>
          </c:spPr>
          <c:invertIfNegative val="0"/>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cat>
            <c:multiLvlStrRef>
              <c:f>Sheet1!$A$2:$A$3</c:f>
              <c:multiLvlStrCache>
                <c:ptCount val="2"/>
                <c:lvl>
                  <c:pt idx="0">
                    <c:v>Rise over 0.5 point</c:v>
                  </c:pt>
                  <c:pt idx="1">
                    <c:v>Fall over 0.5 point</c:v>
                  </c:pt>
                </c:lvl>
              </c:multiLvlStrCache>
            </c:multiLvlStrRef>
          </c:cat>
          <c:val>
            <c:numRef>
              <c:f>Sheet1!$B$2:$B$3</c:f>
              <c:numCache>
                <c:formatCode>General</c:formatCode>
                <c:ptCount val="2"/>
                <c:pt idx="0">
                  <c:v>0.669</c:v>
                </c:pt>
                <c:pt idx="1">
                  <c:v>0.53</c:v>
                </c:pt>
              </c:numCache>
            </c:numRef>
          </c:val>
        </c:ser>
        <c:ser>
          <c:idx val="1"/>
          <c:order val="1"/>
          <c:tx>
            <c:strRef>
              <c:f>Sheet1!$C$1</c:f>
              <c:strCache>
                <c:ptCount val="1"/>
                <c:pt idx="0">
                  <c:v>Persistence</c:v>
                </c:pt>
              </c:strCache>
            </c:strRef>
          </c:tx>
          <c:spPr>
            <a:solidFill>
              <a:srgbClr val="8A8F98"/>
            </a:solidFill>
            <a:effectLst/>
          </c:spPr>
          <c:invertIfNegative val="0"/>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cat>
            <c:multiLvlStrRef>
              <c:f>Sheet1!$A$2:$A$3</c:f>
              <c:multiLvlStrCache>
                <c:ptCount val="2"/>
                <c:lvl>
                  <c:pt idx="0">
                    <c:v>Rise over 0.5 point</c:v>
                  </c:pt>
                  <c:pt idx="1">
                    <c:v>Fall over 0.5 point</c:v>
                  </c:pt>
                </c:lvl>
              </c:multiLvlStrCache>
            </c:multiLvlStrRef>
          </c:cat>
          <c:val>
            <c:numRef>
              <c:f>Sheet1!$C$2:$C$3</c:f>
              <c:numCache>
                <c:formatCode>General</c:formatCode>
                <c:ptCount val="2"/>
                <c:pt idx="0">
                  <c:v>0.604</c:v>
                </c:pt>
                <c:pt idx="1">
                  <c:v>0.651</c:v>
                </c:pt>
              </c:numCache>
            </c:numRef>
          </c:val>
        </c:ser>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8"/>
          <c:min val="0"/>
        </c:scaling>
        <c:delete val="1"/>
        <c:axPos val="l"/>
        <c:majorGridlines>
          <c:spPr>
            <a:ln w="6350" cap="flat">
              <a:solidFill>
                <a:srgbClr val="D9DCE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questions. First, is India entering a new interest rate cycle, and how far will it go? Second, because Nepal's rupee is pegged to India's at 1.6, do Nepal's interest rates follow India's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the new cycle has already started; the question now is how long it runs. Nepal: the peg carries prices across the border, but Nepal's short term interest rates follow India's only half the time, no better than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threat in forecasting work is choosing a model after seeing how it scores. Every choice here was written into the decision log before it was run, the configuration is frozen by hash, and five years of decisions were kept unseen until the final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cycle is a run of moves in one direction. Since 2005 hiking cycles have had between 2 and 13 hikes. The 2013 cycle followed the taper tantrum and the rupee's fall; 2018 followed oil and the rupee. Source: reports/tables/rbi_decisions.csv and peg_cycles.csv.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Ordered probit on 115 training decisions with six economic inputs. Bars are average marginal effects on the probability of a hike. Orange bars are significant at 1 percent. Inflation gaps are measured from the nominal anchor of each regime: the multiple indicator years, the Patel glide path and the 4 percent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five unseen years the model's balanced accuracy is 0.69 against 0.33 for chance, but its plain accuracy, 0.77, equals simply repeating the last decision, and the gain over that is not significant (p 0.51). Its weakness is the start of a cycle: it reacts one meeting late, because it sees inflation data, not the RBI's words or market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overfitted model scores much better on the data it was fitted to than on new data. None of the final models shows that pattern. Complex models did: the random forest fell to 0.49 on unseen data and a ten feature probit to 0.44 in training, which is why the small models were kept. Source: reports/tables/fit_gap.csv, decision D051.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D050. The probit was refitted on all 146 known decisions and not otherwise changed. Oil enters through the RBI's own sensitivity: crude 10 percent above baseline adds about 0.3 points to inflation and takes about 0.2 off growth. The December probabilities are recorded and will be scored after the 2 to 4 December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meeting's probabilities are chained: every branch carries its own previous decision and repo level into the next meeting. Source: reports/tables/india_outlook_paths_20261028.csv.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from the month before the RBI's first move to three months after its last, in percentage points. Same way means a move of more than 0.1 point in the RBI's direction. The NRB bank rate is the ceiling of the NRB corridor. Decision D053, reports/tables/peg_cycles.csv.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Descriptive comparison, decision D052. India's inflation is WPI before 2014 and CPI after; with CPI on both sides since 2013 the correlation is 0.66. The one period with a positive rate correlation, 2016 to 2021, contains a single cycle and the pandemic, a common shock. Building this chart exposed an error in the IMF CPI file for Nepal: twelve months in 2006 and 2007 repeated the year before. They are now left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 projections, August 2000 to October 2021, controlling for oil, US policy and Indian inflation, with Newey West errors. Coefficients are the cumulative response in percentage points to a 1 point change in the RBI repo rate. The forecasting test agrees: adding the RBI repo to the Nepal liquidity model does not improve it (Diebold Mariano p 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peg the NRB must buy the foreign currency that remittances bring in, and each purchase creates bank reserves. When deposits grow faster than credit, the surplus pushes the interbank rate to the floor of the corridor; when credit outruns deposits, it rises to the ceiling. Slow government spending did not cause the current floor: the fiscal injection was smaller during it. Decision D049.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sealed forecast is from the frozen Nepal model at origin July 2026, three months ahead, recorded on 27 October before the outcome was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our own earlier claims were corrected and logged: the fiscal explanation of the Nepal floor (D049) and a two year effect of RBI moves on Nepali inflation, which came from an error in the IMF CPI file (D052).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data manifests and the decision log are in the project repository; every number in this deck comes from a committed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Nepal target is the published interbank rate. The binary design was chosen on the training years only, so the 2021 to 2026 scores are labelled post hoc rather than blind. The sealed forecasts for August to October 2026 can be scored when the NRB publishes those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rtlCol="0"/>
          <a:lstStyle>
            <a:lvl1pPr indent="0" marL="0">
              <a:buNone/>
              <a:defRPr lang="en-US" sz="1800" dirty="0">
                <a:solidFill>
                  <a:srgbClr val="CADCFC"/>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6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3" name="Text 0"/>
          <p:cNvSpPr/>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chemeClr val="accent4"/>
                </a:solidFill>
              </a:rPr>
              <a:t>RateCycle India Nepal</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Will India enter a new rate cycle, and does Nepal follow?</a:t>
            </a: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lIns="0" tIns="0" rIns="0" bIns="0" rtlCol="0" anchor="t"/>
          <a:lstStyle/>
          <a:p>
            <a:pPr indent="0" marL="0">
              <a:buNone/>
            </a:pPr>
            <a:r>
              <a:rPr lang="en-US" sz="1800" dirty="0">
                <a:solidFill>
                  <a:srgbClr val="CADCFC"/>
                </a:solidFill>
              </a:rPr>
              <a:t>RBI policy cycles, and Nepal's interest rates under the peg of 1.6 Nepali rupees to the Indian rupee</a:t>
            </a:r>
            <a:endParaRPr lang="en-US" sz="1800" dirty="0"/>
          </a:p>
          <a:p>
            <a:pPr indent="0" marL="0">
              <a:buNone/>
            </a:pPr>
            <a:r>
              <a:rPr lang="en-US" sz="1000" dirty="0">
                <a:solidFill>
                  <a:srgbClr val="CADCFC"/>
                </a:solidFill>
              </a:rPr>
              <a:t> </a:t>
            </a:r>
            <a:endParaRPr lang="en-US" sz="1800" dirty="0"/>
          </a:p>
          <a:p>
            <a:pPr indent="0" marL="0">
              <a:buNone/>
            </a:pPr>
            <a:r>
              <a:rPr lang="en-US" sz="1300" dirty="0">
                <a:solidFill>
                  <a:srgbClr val="9FB3D1"/>
                </a:solidFill>
              </a:rPr>
              <a:t>RateCycle India Nepal  |  Macroeconomics project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The answers</a:t>
            </a:r>
            <a:endParaRPr lang="en-US" sz="2600" dirty="0"/>
          </a:p>
        </p:txBody>
      </p:sp>
      <p:sp>
        <p:nvSpPr>
          <p:cNvPr id="3" name="stat0"/>
          <p:cNvSpPr/>
          <p:nvPr/>
        </p:nvSpPr>
        <p:spPr>
          <a:xfrm>
            <a:off x="457200" y="1188720"/>
            <a:ext cx="2606040" cy="2331720"/>
          </a:xfrm>
          <a:prstGeom prst="roundRect">
            <a:avLst>
              <a:gd name="adj" fmla="val 3137"/>
            </a:avLst>
          </a:prstGeom>
          <a:solidFill>
            <a:schemeClr val="bg2"/>
          </a:solidFill>
          <a:ln/>
        </p:spPr>
      </p:sp>
      <p:sp>
        <p:nvSpPr>
          <p:cNvPr id="4" name="Text 2"/>
          <p:cNvSpPr txBox="1"/>
          <p:nvPr/>
        </p:nvSpPr>
        <p:spPr>
          <a:xfrm>
            <a:off x="685800" y="1371600"/>
            <a:ext cx="2194560" cy="86868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Yes</a:t>
            </a:r>
            <a:endParaRPr lang="en-US" sz="4400" dirty="0"/>
          </a:p>
        </p:txBody>
      </p:sp>
      <p:sp>
        <p:nvSpPr>
          <p:cNvPr id="5" name="Text 3"/>
          <p:cNvSpPr txBox="1"/>
          <p:nvPr/>
        </p:nvSpPr>
        <p:spPr>
          <a:xfrm>
            <a:off x="685800" y="2331720"/>
            <a:ext cx="2194560" cy="114300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India entered a hiking cycle on 7 October 2026, repo 5.25 to 5.50. Our model gives a second hike in December a 0.56 chance.</a:t>
            </a:r>
            <a:endParaRPr lang="en-US" sz="1250" dirty="0"/>
          </a:p>
        </p:txBody>
      </p:sp>
      <p:sp>
        <p:nvSpPr>
          <p:cNvPr id="6" name="stat1"/>
          <p:cNvSpPr/>
          <p:nvPr/>
        </p:nvSpPr>
        <p:spPr>
          <a:xfrm>
            <a:off x="3264408" y="1188720"/>
            <a:ext cx="2606040" cy="2331720"/>
          </a:xfrm>
          <a:prstGeom prst="roundRect">
            <a:avLst>
              <a:gd name="adj" fmla="val 3137"/>
            </a:avLst>
          </a:prstGeom>
          <a:solidFill>
            <a:schemeClr val="bg2"/>
          </a:solidFill>
          <a:ln/>
        </p:spPr>
      </p:sp>
      <p:sp>
        <p:nvSpPr>
          <p:cNvPr id="7" name="Text 5"/>
          <p:cNvSpPr txBox="1"/>
          <p:nvPr/>
        </p:nvSpPr>
        <p:spPr>
          <a:xfrm>
            <a:off x="3493008" y="1371600"/>
            <a:ext cx="2194560" cy="868680"/>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5.75 to 6.00</a:t>
            </a:r>
            <a:endParaRPr lang="en-US" sz="2800" dirty="0"/>
          </a:p>
        </p:txBody>
      </p:sp>
      <p:sp>
        <p:nvSpPr>
          <p:cNvPr id="8" name="Text 6"/>
          <p:cNvSpPr txBox="1"/>
          <p:nvPr/>
        </p:nvSpPr>
        <p:spPr>
          <a:xfrm>
            <a:off x="3493008" y="2331720"/>
            <a:ext cx="2194560" cy="114300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Most likely end by April 2027: 5.75, or 6.00 if oil stays above 110 dollars. A short cycle like 2013 and 2018.</a:t>
            </a:r>
            <a:endParaRPr lang="en-US" sz="1250" dirty="0"/>
          </a:p>
        </p:txBody>
      </p:sp>
      <p:sp>
        <p:nvSpPr>
          <p:cNvPr id="9" name="stat2"/>
          <p:cNvSpPr/>
          <p:nvPr/>
        </p:nvSpPr>
        <p:spPr>
          <a:xfrm>
            <a:off x="6071616" y="1188720"/>
            <a:ext cx="2606040" cy="2331720"/>
          </a:xfrm>
          <a:prstGeom prst="roundRect">
            <a:avLst>
              <a:gd name="adj" fmla="val 3137"/>
            </a:avLst>
          </a:prstGeom>
          <a:solidFill>
            <a:schemeClr val="bg2"/>
          </a:solidFill>
          <a:ln/>
        </p:spPr>
      </p:sp>
      <p:sp>
        <p:nvSpPr>
          <p:cNvPr id="10" name="Text 8"/>
          <p:cNvSpPr txBox="1"/>
          <p:nvPr/>
        </p:nvSpPr>
        <p:spPr>
          <a:xfrm>
            <a:off x="6300216" y="1371600"/>
            <a:ext cx="2194560" cy="868680"/>
          </a:xfrm>
          <a:prstGeom prst="rect">
            <a:avLst/>
          </a:prstGeom>
          <a:noFill/>
          <a:ln/>
        </p:spPr>
        <p:txBody>
          <a:bodyPr wrap="square" lIns="0" tIns="0" rIns="0" bIns="0" rtlCol="0" anchor="b"/>
          <a:lstStyle/>
          <a:p>
            <a:pPr indent="0" marL="0">
              <a:buNone/>
            </a:pPr>
            <a:r>
              <a:rPr lang="en-US" sz="4400" b="1" dirty="0">
                <a:solidFill>
                  <a:schemeClr val="accent2"/>
                </a:solidFill>
                <a:latin typeface="Cambria" pitchFamily="34" charset="0"/>
                <a:ea typeface="Cambria" pitchFamily="34" charset="-122"/>
                <a:cs typeface="Cambria" pitchFamily="34" charset="-120"/>
              </a:rPr>
              <a:t>6 of 12</a:t>
            </a:r>
            <a:endParaRPr lang="en-US" sz="4400" dirty="0"/>
          </a:p>
        </p:txBody>
      </p:sp>
      <p:sp>
        <p:nvSpPr>
          <p:cNvPr id="11" name="Text 9"/>
          <p:cNvSpPr txBox="1"/>
          <p:nvPr/>
        </p:nvSpPr>
        <p:spPr>
          <a:xfrm>
            <a:off x="6300216" y="2331720"/>
            <a:ext cx="2194560" cy="114300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RBI cycles since 2001 in which Nepal's interbank rate moved the same way: a coin flip, despite the peg.</a:t>
            </a:r>
            <a:endParaRPr lang="en-US" sz="1250" dirty="0"/>
          </a:p>
        </p:txBody>
      </p:sp>
      <p:sp>
        <p:nvSpPr>
          <p:cNvPr id="12" name="Text 10"/>
          <p:cNvSpPr txBox="1"/>
          <p:nvPr/>
        </p:nvSpPr>
        <p:spPr>
          <a:xfrm>
            <a:off x="457200" y="3749040"/>
            <a:ext cx="8229600" cy="822960"/>
          </a:xfrm>
          <a:prstGeom prst="rect">
            <a:avLst/>
          </a:prstGeom>
          <a:noFill/>
          <a:ln/>
        </p:spPr>
        <p:txBody>
          <a:bodyPr wrap="square" lIns="0" tIns="0" rIns="0" bIns="0" rtlCol="0" anchor="ctr"/>
          <a:lstStyle/>
          <a:p>
            <a:pPr indent="0" marL="0">
              <a:buNone/>
            </a:pPr>
            <a:r>
              <a:rPr lang="en-US" sz="1400" i="1" dirty="0">
                <a:solidFill>
                  <a:schemeClr val="tx2"/>
                </a:solidFill>
                <a:latin typeface="Calibri" pitchFamily="34" charset="0"/>
                <a:ea typeface="Calibri" pitchFamily="34" charset="-122"/>
                <a:cs typeface="Calibri" pitchFamily="34" charset="-120"/>
              </a:rPr>
              <a:t>The peg ties Nepal's prices to India's, not its interest rates. Nepal's rate is set by its own liquidity, which the peg creates when remittances are converted at the fixed rate.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A process built to avoid fooling ourselves</a:t>
            </a:r>
            <a:endParaRPr lang="en-US" sz="2600" dirty="0"/>
          </a:p>
        </p:txBody>
      </p:sp>
      <p:sp>
        <p:nvSpPr>
          <p:cNvPr id="3" name="step0"/>
          <p:cNvSpPr/>
          <p:nvPr/>
        </p:nvSpPr>
        <p:spPr>
          <a:xfrm>
            <a:off x="457200" y="1234440"/>
            <a:ext cx="1554480" cy="3063240"/>
          </a:xfrm>
          <a:prstGeom prst="roundRect">
            <a:avLst>
              <a:gd name="adj" fmla="val 4706"/>
            </a:avLst>
          </a:prstGeom>
          <a:solidFill>
            <a:schemeClr val="bg2"/>
          </a:solidFill>
          <a:ln/>
        </p:spPr>
      </p:sp>
      <p:sp>
        <p:nvSpPr>
          <p:cNvPr id="4" name="stepdot0"/>
          <p:cNvSpPr/>
          <p:nvPr/>
        </p:nvSpPr>
        <p:spPr>
          <a:xfrm>
            <a:off x="640080" y="1417320"/>
            <a:ext cx="384048" cy="384048"/>
          </a:xfrm>
          <a:prstGeom prst="ellipse">
            <a:avLst/>
          </a:prstGeom>
          <a:solidFill>
            <a:schemeClr val="tx2"/>
          </a:solidFill>
          <a:ln/>
        </p:spPr>
      </p:sp>
      <p:sp>
        <p:nvSpPr>
          <p:cNvPr id="5" name="Text 3"/>
          <p:cNvSpPr txBox="1"/>
          <p:nvPr/>
        </p:nvSpPr>
        <p:spPr>
          <a:xfrm>
            <a:off x="640080" y="14173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640080" y="1920240"/>
            <a:ext cx="123444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Collect</a:t>
            </a:r>
            <a:endParaRPr lang="en-US" sz="1500" dirty="0"/>
          </a:p>
        </p:txBody>
      </p:sp>
      <p:sp>
        <p:nvSpPr>
          <p:cNvPr id="7" name="Text 5"/>
          <p:cNvSpPr txBox="1"/>
          <p:nvPr/>
        </p:nvSpPr>
        <p:spPr>
          <a:xfrm>
            <a:off x="640080" y="2377440"/>
            <a:ext cx="1234440" cy="18288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RBI, MOSPI, IMF, BIS, FRED and about 430 NRB workbooks; zero cost, every download logged with a hash</a:t>
            </a:r>
            <a:endParaRPr lang="en-US" sz="1200" dirty="0"/>
          </a:p>
        </p:txBody>
      </p:sp>
      <p:sp>
        <p:nvSpPr>
          <p:cNvPr id="8" name="step1"/>
          <p:cNvSpPr/>
          <p:nvPr/>
        </p:nvSpPr>
        <p:spPr>
          <a:xfrm>
            <a:off x="2139696" y="1234440"/>
            <a:ext cx="1554480" cy="3063240"/>
          </a:xfrm>
          <a:prstGeom prst="roundRect">
            <a:avLst>
              <a:gd name="adj" fmla="val 4706"/>
            </a:avLst>
          </a:prstGeom>
          <a:solidFill>
            <a:schemeClr val="bg2"/>
          </a:solidFill>
          <a:ln/>
        </p:spPr>
      </p:sp>
      <p:sp>
        <p:nvSpPr>
          <p:cNvPr id="9" name="stepdot1"/>
          <p:cNvSpPr/>
          <p:nvPr/>
        </p:nvSpPr>
        <p:spPr>
          <a:xfrm>
            <a:off x="2322576" y="1417320"/>
            <a:ext cx="384048" cy="384048"/>
          </a:xfrm>
          <a:prstGeom prst="ellipse">
            <a:avLst/>
          </a:prstGeom>
          <a:solidFill>
            <a:schemeClr val="tx2"/>
          </a:solidFill>
          <a:ln/>
        </p:spPr>
      </p:sp>
      <p:sp>
        <p:nvSpPr>
          <p:cNvPr id="10" name="Text 8"/>
          <p:cNvSpPr txBox="1"/>
          <p:nvPr/>
        </p:nvSpPr>
        <p:spPr>
          <a:xfrm>
            <a:off x="2322576" y="14173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2322576" y="1920240"/>
            <a:ext cx="123444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Point in time</a:t>
            </a:r>
            <a:endParaRPr lang="en-US" sz="1500" dirty="0"/>
          </a:p>
        </p:txBody>
      </p:sp>
      <p:sp>
        <p:nvSpPr>
          <p:cNvPr id="12" name="Text 10"/>
          <p:cNvSpPr txBox="1"/>
          <p:nvPr/>
        </p:nvSpPr>
        <p:spPr>
          <a:xfrm>
            <a:off x="2322576" y="2377440"/>
            <a:ext cx="1234440" cy="18288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meeting sees only data published before it, with the true publication lags</a:t>
            </a:r>
            <a:endParaRPr lang="en-US" sz="1200" dirty="0"/>
          </a:p>
        </p:txBody>
      </p:sp>
      <p:sp>
        <p:nvSpPr>
          <p:cNvPr id="13" name="step2"/>
          <p:cNvSpPr/>
          <p:nvPr/>
        </p:nvSpPr>
        <p:spPr>
          <a:xfrm>
            <a:off x="3822192" y="1234440"/>
            <a:ext cx="1554480" cy="3063240"/>
          </a:xfrm>
          <a:prstGeom prst="roundRect">
            <a:avLst>
              <a:gd name="adj" fmla="val 4706"/>
            </a:avLst>
          </a:prstGeom>
          <a:solidFill>
            <a:schemeClr val="bg2"/>
          </a:solidFill>
          <a:ln/>
        </p:spPr>
      </p:sp>
      <p:sp>
        <p:nvSpPr>
          <p:cNvPr id="14" name="stepdot2"/>
          <p:cNvSpPr/>
          <p:nvPr/>
        </p:nvSpPr>
        <p:spPr>
          <a:xfrm>
            <a:off x="4005072" y="1417320"/>
            <a:ext cx="384048" cy="384048"/>
          </a:xfrm>
          <a:prstGeom prst="ellipse">
            <a:avLst/>
          </a:prstGeom>
          <a:solidFill>
            <a:schemeClr val="tx2"/>
          </a:solidFill>
          <a:ln/>
        </p:spPr>
      </p:sp>
      <p:sp>
        <p:nvSpPr>
          <p:cNvPr id="15" name="Text 13"/>
          <p:cNvSpPr txBox="1"/>
          <p:nvPr/>
        </p:nvSpPr>
        <p:spPr>
          <a:xfrm>
            <a:off x="4005072" y="14173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4005072" y="1920240"/>
            <a:ext cx="123444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Declare first</a:t>
            </a:r>
            <a:endParaRPr lang="en-US" sz="1500" dirty="0"/>
          </a:p>
        </p:txBody>
      </p:sp>
      <p:sp>
        <p:nvSpPr>
          <p:cNvPr id="17" name="Text 15"/>
          <p:cNvSpPr txBox="1"/>
          <p:nvPr/>
        </p:nvSpPr>
        <p:spPr>
          <a:xfrm>
            <a:off x="4005072" y="2377440"/>
            <a:ext cx="1234440" cy="18288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52 logged decisions: every model, feature and test fixed before it was run; configs frozen by SHA256</a:t>
            </a:r>
            <a:endParaRPr lang="en-US" sz="1200" dirty="0"/>
          </a:p>
        </p:txBody>
      </p:sp>
      <p:sp>
        <p:nvSpPr>
          <p:cNvPr id="18" name="step3"/>
          <p:cNvSpPr/>
          <p:nvPr/>
        </p:nvSpPr>
        <p:spPr>
          <a:xfrm>
            <a:off x="5504688" y="1234440"/>
            <a:ext cx="1554480" cy="3063240"/>
          </a:xfrm>
          <a:prstGeom prst="roundRect">
            <a:avLst>
              <a:gd name="adj" fmla="val 4706"/>
            </a:avLst>
          </a:prstGeom>
          <a:solidFill>
            <a:schemeClr val="bg2"/>
          </a:solidFill>
          <a:ln/>
        </p:spPr>
      </p:sp>
      <p:sp>
        <p:nvSpPr>
          <p:cNvPr id="19" name="stepdot3"/>
          <p:cNvSpPr/>
          <p:nvPr/>
        </p:nvSpPr>
        <p:spPr>
          <a:xfrm>
            <a:off x="5687568" y="1417320"/>
            <a:ext cx="384048" cy="384048"/>
          </a:xfrm>
          <a:prstGeom prst="ellipse">
            <a:avLst/>
          </a:prstGeom>
          <a:solidFill>
            <a:schemeClr val="tx2"/>
          </a:solidFill>
          <a:ln/>
        </p:spPr>
      </p:sp>
      <p:sp>
        <p:nvSpPr>
          <p:cNvPr id="20" name="Text 18"/>
          <p:cNvSpPr txBox="1"/>
          <p:nvPr/>
        </p:nvSpPr>
        <p:spPr>
          <a:xfrm>
            <a:off x="5687568" y="14173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5687568" y="1920240"/>
            <a:ext cx="123444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Walk forward</a:t>
            </a:r>
            <a:endParaRPr lang="en-US" sz="1500" dirty="0"/>
          </a:p>
        </p:txBody>
      </p:sp>
      <p:sp>
        <p:nvSpPr>
          <p:cNvPr id="22" name="Text 20"/>
          <p:cNvSpPr txBox="1"/>
          <p:nvPr/>
        </p:nvSpPr>
        <p:spPr>
          <a:xfrm>
            <a:off x="5687568" y="2377440"/>
            <a:ext cx="1234440" cy="18288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Refit at every decision on past data only, 2001 to October 2021; four month embargo for Nepal</a:t>
            </a:r>
            <a:endParaRPr lang="en-US" sz="1200" dirty="0"/>
          </a:p>
        </p:txBody>
      </p:sp>
      <p:sp>
        <p:nvSpPr>
          <p:cNvPr id="23" name="step4"/>
          <p:cNvSpPr/>
          <p:nvPr/>
        </p:nvSpPr>
        <p:spPr>
          <a:xfrm>
            <a:off x="7187184" y="1234440"/>
            <a:ext cx="1554480" cy="3063240"/>
          </a:xfrm>
          <a:prstGeom prst="roundRect">
            <a:avLst>
              <a:gd name="adj" fmla="val 4706"/>
            </a:avLst>
          </a:prstGeom>
          <a:solidFill>
            <a:schemeClr val="bg2"/>
          </a:solidFill>
          <a:ln/>
        </p:spPr>
      </p:sp>
      <p:sp>
        <p:nvSpPr>
          <p:cNvPr id="24" name="stepdot4"/>
          <p:cNvSpPr/>
          <p:nvPr/>
        </p:nvSpPr>
        <p:spPr>
          <a:xfrm>
            <a:off x="7370064" y="1417320"/>
            <a:ext cx="384048" cy="384048"/>
          </a:xfrm>
          <a:prstGeom prst="ellipse">
            <a:avLst/>
          </a:prstGeom>
          <a:solidFill>
            <a:schemeClr val="accent1"/>
          </a:solidFill>
          <a:ln/>
        </p:spPr>
      </p:sp>
      <p:sp>
        <p:nvSpPr>
          <p:cNvPr id="25" name="Text 23"/>
          <p:cNvSpPr txBox="1"/>
          <p:nvPr/>
        </p:nvSpPr>
        <p:spPr>
          <a:xfrm>
            <a:off x="7370064" y="14173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7370064" y="1920240"/>
            <a:ext cx="123444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Blind test</a:t>
            </a:r>
            <a:endParaRPr lang="en-US" sz="1500" dirty="0"/>
          </a:p>
        </p:txBody>
      </p:sp>
      <p:sp>
        <p:nvSpPr>
          <p:cNvPr id="27" name="Text 25"/>
          <p:cNvSpPr txBox="1"/>
          <p:nvPr/>
        </p:nvSpPr>
        <p:spPr>
          <a:xfrm>
            <a:off x="7370064" y="2377440"/>
            <a:ext cx="1234440" cy="18288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November 2021 to October 2026 kept unseen until the end; Nepal forecasts sealed for later scoring</a:t>
            </a:r>
            <a:endParaRPr lang="en-US" sz="1200" dirty="0"/>
          </a:p>
        </p:txBody>
      </p:sp>
      <p:sp>
        <p:nvSpPr>
          <p:cNvPr id="28" name="Text 26"/>
          <p:cNvSpPr txBox="1"/>
          <p:nvPr/>
        </p:nvSpPr>
        <p:spPr>
          <a:xfrm>
            <a:off x="457200" y="4434840"/>
            <a:ext cx="8229600" cy="320040"/>
          </a:xfrm>
          <a:prstGeom prst="rect">
            <a:avLst/>
          </a:prstGeom>
          <a:noFill/>
          <a:ln/>
        </p:spPr>
        <p:txBody>
          <a:bodyPr wrap="square" lIns="0" tIns="0" rIns="0" bIns="0" rtlCol="0" anchor="ctr"/>
          <a:lstStyle/>
          <a:p>
            <a:pPr indent="0" marL="0">
              <a:buNone/>
            </a:pPr>
            <a:r>
              <a:rPr lang="en-US" sz="1200" i="1" dirty="0">
                <a:solidFill>
                  <a:schemeClr val="accent4"/>
                </a:solidFill>
                <a:latin typeface="Calibri" pitchFamily="34" charset="0"/>
                <a:ea typeface="Calibri" pitchFamily="34" charset="-122"/>
                <a:cs typeface="Calibri" pitchFamily="34" charset="-120"/>
              </a:rPr>
              <a:t>Failures are kept on the record: news indices, geopolitical indices, random forests and extra liquidity drivers were tested and rejected.</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India's rate cycles since 2001</a:t>
            </a:r>
            <a:endParaRPr lang="en-US" sz="2600" dirty="0"/>
          </a:p>
        </p:txBody>
      </p:sp>
      <p:graphicFrame>
        <p:nvGraphicFramePr>
          <p:cNvPr id="3" name="Chart 0" descr=""/>
          <p:cNvGraphicFramePr/>
          <p:nvPr/>
        </p:nvGraphicFramePr>
        <p:xfrm>
          <a:off x="365760" y="1005840"/>
          <a:ext cx="502920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23560" y="1097280"/>
          <a:ext cx="3063240" cy="914400"/>
        </p:xfrm>
        <a:graphic>
          <a:graphicData uri="http://schemas.openxmlformats.org/drawingml/2006/table">
            <a:tbl>
              <a:tblPr/>
              <a:tblGrid>
                <a:gridCol w="1325880"/>
                <a:gridCol w="822960"/>
                <a:gridCol w="914400"/>
              </a:tblGrid>
              <a:tr h="265176">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Hiking cycle</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Hikes</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2005 to 2008</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300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2010 to 2011</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375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2013 to 2014</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75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2018</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50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2022 to 2023</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250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b="1" dirty="0">
                          <a:solidFill>
                            <a:schemeClr val="accent1"/>
                          </a:solidFill>
                          <a:latin typeface="Calibri" pitchFamily="34" charset="0"/>
                          <a:ea typeface="Calibri" pitchFamily="34" charset="-122"/>
                          <a:cs typeface="Calibri" pitchFamily="34" charset="-120"/>
                        </a:rPr>
                        <a:t>2026, open</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b="1" dirty="0">
                          <a:solidFill>
                            <a:schemeClr val="accent1"/>
                          </a:solidFill>
                          <a:latin typeface="Calibri" pitchFamily="34" charset="0"/>
                          <a:ea typeface="Calibri" pitchFamily="34" charset="-122"/>
                          <a:cs typeface="Calibri" pitchFamily="34" charset="-120"/>
                        </a:rPr>
                        <a:t>1 so far</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b="1" dirty="0">
                          <a:solidFill>
                            <a:schemeClr val="accent1"/>
                          </a:solidFill>
                          <a:latin typeface="Calibri" pitchFamily="34" charset="0"/>
                          <a:ea typeface="Calibri" pitchFamily="34" charset="-122"/>
                          <a:cs typeface="Calibri" pitchFamily="34" charset="-120"/>
                        </a:rPr>
                        <a:t>25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5" name="Text 1"/>
          <p:cNvSpPr txBox="1"/>
          <p:nvPr/>
        </p:nvSpPr>
        <p:spPr>
          <a:xfrm>
            <a:off x="5623560" y="3108960"/>
            <a:ext cx="3063240" cy="1463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Long cycles (2005, 2010, 2022) answered broad inflation and strong demand. Short ones (2013, 2018) answered the rupee and oil. Today's trigger is oil and a weak rupee.</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the RBI reacts to</a:t>
            </a:r>
            <a:endParaRPr lang="en-US" sz="2600" dirty="0"/>
          </a:p>
        </p:txBody>
      </p:sp>
      <p:graphicFrame>
        <p:nvGraphicFramePr>
          <p:cNvPr id="3" name="Chart 0" descr=""/>
          <p:cNvGraphicFramePr/>
          <p:nvPr/>
        </p:nvGraphicFramePr>
        <p:xfrm>
          <a:off x="365760" y="105156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india-read"/>
          <p:cNvSpPr/>
          <p:nvPr/>
        </p:nvSpPr>
        <p:spPr>
          <a:xfrm>
            <a:off x="6035040" y="1143000"/>
            <a:ext cx="2651760" cy="3383280"/>
          </a:xfrm>
          <a:prstGeom prst="roundRect">
            <a:avLst>
              <a:gd name="adj" fmla="val 2759"/>
            </a:avLst>
          </a:prstGeom>
          <a:solidFill>
            <a:schemeClr val="bg2"/>
          </a:solidFill>
          <a:ln/>
        </p:spPr>
      </p:sp>
      <p:sp>
        <p:nvSpPr>
          <p:cNvPr id="5" name="Text 2"/>
          <p:cNvSpPr txBox="1"/>
          <p:nvPr/>
        </p:nvSpPr>
        <p:spPr>
          <a:xfrm>
            <a:off x="6217920" y="1280160"/>
            <a:ext cx="2331720" cy="315468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Smoothing</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A hike was followed by another hike 71 percent of the time.</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1"/>
                </a:solidFill>
                <a:latin typeface="Calibri" pitchFamily="34" charset="0"/>
                <a:ea typeface="Calibri" pitchFamily="34" charset="-122"/>
                <a:cs typeface="Calibri" pitchFamily="34" charset="-120"/>
              </a:rPr>
              <a:t>Forecast led</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The RBI's own projection revision matters most (p 0.003); realized inflation adds little.</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4"/>
                </a:solidFill>
                <a:latin typeface="Calibri" pitchFamily="34" charset="0"/>
                <a:ea typeface="Calibri" pitchFamily="34" charset="-122"/>
                <a:cs typeface="Calibri" pitchFamily="34" charset="-120"/>
              </a:rPr>
              <a:t>Not significant</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Growth gap and the rupee, once inflation and the projection are known.</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Can the model see a new cycle coming?</a:t>
            </a:r>
            <a:endParaRPr lang="en-US" sz="2600" dirty="0"/>
          </a:p>
        </p:txBody>
      </p:sp>
      <p:graphicFrame>
        <p:nvGraphicFramePr>
          <p:cNvPr id="3" name="Chart 0"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turn0"/>
          <p:cNvSpPr/>
          <p:nvPr/>
        </p:nvSpPr>
        <p:spPr>
          <a:xfrm>
            <a:off x="5760720" y="1097280"/>
            <a:ext cx="2926080" cy="1051560"/>
          </a:xfrm>
          <a:prstGeom prst="roundRect">
            <a:avLst>
              <a:gd name="adj" fmla="val 6957"/>
            </a:avLst>
          </a:prstGeom>
          <a:solidFill>
            <a:schemeClr val="bg2"/>
          </a:solidFill>
          <a:ln/>
        </p:spPr>
      </p:sp>
      <p:sp>
        <p:nvSpPr>
          <p:cNvPr id="5" name="Text 2"/>
          <p:cNvSpPr txBox="1"/>
          <p:nvPr/>
        </p:nvSpPr>
        <p:spPr>
          <a:xfrm>
            <a:off x="5897880" y="1170432"/>
            <a:ext cx="2697480" cy="932688"/>
          </a:xfrm>
          <a:prstGeom prst="rect">
            <a:avLst/>
          </a:prstGeom>
          <a:noFill/>
          <a:ln/>
        </p:spPr>
        <p:txBody>
          <a:bodyPr wrap="square" lIns="0" tIns="0" rIns="0" bIns="0" rtlCol="0" anchor="t"/>
          <a:lstStyle/>
          <a:p>
            <a:pPr indent="0" marL="0">
              <a:buNone/>
            </a:pPr>
            <a:r>
              <a:rPr lang="en-US" sz="1150" b="1" dirty="0">
                <a:solidFill>
                  <a:schemeClr val="accent1"/>
                </a:solidFill>
                <a:latin typeface="Calibri" pitchFamily="34" charset="0"/>
                <a:ea typeface="Calibri" pitchFamily="34" charset="-122"/>
                <a:cs typeface="Calibri" pitchFamily="34" charset="-120"/>
              </a:rPr>
              <a:t>May 2022, first hike</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P(hike) rose from 0.17 to 0.45 at the first hike, then 0.84 at the next. One meeting late.</a:t>
            </a:r>
            <a:endParaRPr lang="en-US" sz="1150" dirty="0"/>
          </a:p>
        </p:txBody>
      </p:sp>
      <p:sp>
        <p:nvSpPr>
          <p:cNvPr id="6" name="turn1"/>
          <p:cNvSpPr/>
          <p:nvPr/>
        </p:nvSpPr>
        <p:spPr>
          <a:xfrm>
            <a:off x="5760720" y="2258568"/>
            <a:ext cx="2926080" cy="1051560"/>
          </a:xfrm>
          <a:prstGeom prst="roundRect">
            <a:avLst>
              <a:gd name="adj" fmla="val 6957"/>
            </a:avLst>
          </a:prstGeom>
          <a:solidFill>
            <a:schemeClr val="bg2"/>
          </a:solidFill>
          <a:ln/>
        </p:spPr>
      </p:sp>
      <p:sp>
        <p:nvSpPr>
          <p:cNvPr id="7" name="Text 4"/>
          <p:cNvSpPr txBox="1"/>
          <p:nvPr/>
        </p:nvSpPr>
        <p:spPr>
          <a:xfrm>
            <a:off x="5897880" y="2331720"/>
            <a:ext cx="2697480" cy="932688"/>
          </a:xfrm>
          <a:prstGeom prst="rect">
            <a:avLst/>
          </a:prstGeom>
          <a:noFill/>
          <a:ln/>
        </p:spPr>
        <p:txBody>
          <a:bodyPr wrap="square" lIns="0" tIns="0" rIns="0" bIns="0" rtlCol="0" anchor="t"/>
          <a:lstStyle/>
          <a:p>
            <a:pPr indent="0" marL="0">
              <a:buNone/>
            </a:pPr>
            <a:r>
              <a:rPr lang="en-US" sz="1150" b="1" dirty="0">
                <a:solidFill>
                  <a:schemeClr val="accent2"/>
                </a:solidFill>
                <a:latin typeface="Calibri" pitchFamily="34" charset="0"/>
                <a:ea typeface="Calibri" pitchFamily="34" charset="-122"/>
                <a:cs typeface="Calibri" pitchFamily="34" charset="-120"/>
              </a:rPr>
              <a:t>February 2025, first cut</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P(cut) only 0.14 at the first cut, 0.57 at the next. One meeting late.</a:t>
            </a:r>
            <a:endParaRPr lang="en-US" sz="1150" dirty="0"/>
          </a:p>
        </p:txBody>
      </p:sp>
      <p:sp>
        <p:nvSpPr>
          <p:cNvPr id="8" name="turn2"/>
          <p:cNvSpPr/>
          <p:nvPr/>
        </p:nvSpPr>
        <p:spPr>
          <a:xfrm>
            <a:off x="5760720" y="3419856"/>
            <a:ext cx="2926080" cy="1051560"/>
          </a:xfrm>
          <a:prstGeom prst="roundRect">
            <a:avLst>
              <a:gd name="adj" fmla="val 6957"/>
            </a:avLst>
          </a:prstGeom>
          <a:solidFill>
            <a:schemeClr val="bg2"/>
          </a:solidFill>
          <a:ln/>
        </p:spPr>
      </p:sp>
      <p:sp>
        <p:nvSpPr>
          <p:cNvPr id="9" name="Text 6"/>
          <p:cNvSpPr txBox="1"/>
          <p:nvPr/>
        </p:nvSpPr>
        <p:spPr>
          <a:xfrm>
            <a:off x="5897880" y="3493008"/>
            <a:ext cx="2697480" cy="932688"/>
          </a:xfrm>
          <a:prstGeom prst="rect">
            <a:avLst/>
          </a:prstGeom>
          <a:noFill/>
          <a:ln/>
        </p:spPr>
        <p:txBody>
          <a:bodyPr wrap="square" lIns="0" tIns="0" rIns="0" bIns="0" rtlCol="0" anchor="t"/>
          <a:lstStyle/>
          <a:p>
            <a:pPr indent="0" marL="0">
              <a:buNone/>
            </a:pPr>
            <a:r>
              <a:rPr lang="en-US" sz="1150" b="1" dirty="0">
                <a:solidFill>
                  <a:schemeClr val="accent5"/>
                </a:solidFill>
                <a:latin typeface="Calibri" pitchFamily="34" charset="0"/>
                <a:ea typeface="Calibri" pitchFamily="34" charset="-122"/>
                <a:cs typeface="Calibri" pitchFamily="34" charset="-120"/>
              </a:rPr>
              <a:t>October 2026, first hike</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P(hike) rose to 0.27 in August, then fell to 0.09 at the hike itself. Missed.</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Over and underfitting: the three stage check</a:t>
            </a:r>
            <a:endParaRPr lang="en-US" sz="2600" dirty="0"/>
          </a:p>
        </p:txBody>
      </p:sp>
      <p:graphicFrame>
        <p:nvGraphicFramePr>
          <p:cNvPr id="3"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fit0"/>
          <p:cNvSpPr/>
          <p:nvPr/>
        </p:nvSpPr>
        <p:spPr>
          <a:xfrm>
            <a:off x="5760720" y="1143000"/>
            <a:ext cx="2926080" cy="1024128"/>
          </a:xfrm>
          <a:prstGeom prst="roundRect">
            <a:avLst>
              <a:gd name="adj" fmla="val 7143"/>
            </a:avLst>
          </a:prstGeom>
          <a:solidFill>
            <a:schemeClr val="bg2"/>
          </a:solidFill>
          <a:ln/>
        </p:spPr>
      </p:sp>
      <p:sp>
        <p:nvSpPr>
          <p:cNvPr id="5" name="Text 2"/>
          <p:cNvSpPr txBox="1"/>
          <p:nvPr/>
        </p:nvSpPr>
        <p:spPr>
          <a:xfrm>
            <a:off x="5897880" y="1216152"/>
            <a:ext cx="2697480" cy="896112"/>
          </a:xfrm>
          <a:prstGeom prst="rect">
            <a:avLst/>
          </a:prstGeom>
          <a:noFill/>
          <a:ln/>
        </p:spPr>
        <p:txBody>
          <a:bodyPr wrap="square" lIns="0" tIns="0" rIns="0" bIns="0" rtlCol="0" anchor="t"/>
          <a:lstStyle/>
          <a:p>
            <a:pPr indent="0" marL="0">
              <a:buNone/>
            </a:pPr>
            <a:r>
              <a:rPr lang="en-US" sz="1150" b="1" dirty="0">
                <a:solidFill>
                  <a:schemeClr val="accent3"/>
                </a:solidFill>
                <a:latin typeface="Calibri" pitchFamily="34" charset="0"/>
                <a:ea typeface="Calibri" pitchFamily="34" charset="-122"/>
                <a:cs typeface="Calibri" pitchFamily="34" charset="-120"/>
              </a:rPr>
              <a:t>India: no overfitting</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Unseen score is higher than in sample. If anything the model is too simple: it lags turning points.</a:t>
            </a:r>
            <a:endParaRPr lang="en-US" sz="1150" dirty="0"/>
          </a:p>
        </p:txBody>
      </p:sp>
      <p:sp>
        <p:nvSpPr>
          <p:cNvPr id="6" name="fit1"/>
          <p:cNvSpPr/>
          <p:nvPr/>
        </p:nvSpPr>
        <p:spPr>
          <a:xfrm>
            <a:off x="5760720" y="2286000"/>
            <a:ext cx="2926080" cy="1024128"/>
          </a:xfrm>
          <a:prstGeom prst="roundRect">
            <a:avLst>
              <a:gd name="adj" fmla="val 7143"/>
            </a:avLst>
          </a:prstGeom>
          <a:solidFill>
            <a:schemeClr val="bg2"/>
          </a:solidFill>
          <a:ln/>
        </p:spPr>
      </p:sp>
      <p:sp>
        <p:nvSpPr>
          <p:cNvPr id="7" name="Text 4"/>
          <p:cNvSpPr txBox="1"/>
          <p:nvPr/>
        </p:nvSpPr>
        <p:spPr>
          <a:xfrm>
            <a:off x="5897880" y="2359152"/>
            <a:ext cx="2697480" cy="896112"/>
          </a:xfrm>
          <a:prstGeom prst="rect">
            <a:avLst/>
          </a:prstGeom>
          <a:noFill/>
          <a:ln/>
        </p:spPr>
        <p:txBody>
          <a:bodyPr wrap="square" lIns="0" tIns="0" rIns="0" bIns="0" rtlCol="0" anchor="t"/>
          <a:lstStyle/>
          <a:p>
            <a:pPr indent="0" marL="0">
              <a:buNone/>
            </a:pPr>
            <a:r>
              <a:rPr lang="en-US" sz="1150" b="1" dirty="0">
                <a:solidFill>
                  <a:schemeClr val="accent3"/>
                </a:solidFill>
                <a:latin typeface="Calibri" pitchFamily="34" charset="0"/>
                <a:ea typeface="Calibri" pitchFamily="34" charset="-122"/>
                <a:cs typeface="Calibri" pitchFamily="34" charset="-120"/>
              </a:rPr>
              <a:t>Nepal rise: mild gap</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0.74 in sample, 0.64 to 0.67 out of sample, and it holds on unseen data.</a:t>
            </a:r>
            <a:endParaRPr lang="en-US" sz="1150" dirty="0"/>
          </a:p>
        </p:txBody>
      </p:sp>
      <p:sp>
        <p:nvSpPr>
          <p:cNvPr id="8" name="fit2"/>
          <p:cNvSpPr/>
          <p:nvPr/>
        </p:nvSpPr>
        <p:spPr>
          <a:xfrm>
            <a:off x="5760720" y="3429000"/>
            <a:ext cx="2926080" cy="1024128"/>
          </a:xfrm>
          <a:prstGeom prst="roundRect">
            <a:avLst>
              <a:gd name="adj" fmla="val 7143"/>
            </a:avLst>
          </a:prstGeom>
          <a:solidFill>
            <a:schemeClr val="bg2"/>
          </a:solidFill>
          <a:ln/>
        </p:spPr>
      </p:sp>
      <p:sp>
        <p:nvSpPr>
          <p:cNvPr id="9" name="Text 6"/>
          <p:cNvSpPr txBox="1"/>
          <p:nvPr/>
        </p:nvSpPr>
        <p:spPr>
          <a:xfrm>
            <a:off x="5897880" y="3502152"/>
            <a:ext cx="2697480" cy="896112"/>
          </a:xfrm>
          <a:prstGeom prst="rect">
            <a:avLst/>
          </a:prstGeom>
          <a:noFill/>
          <a:ln/>
        </p:spPr>
        <p:txBody>
          <a:bodyPr wrap="square" lIns="0" tIns="0" rIns="0" bIns="0" rtlCol="0" anchor="t"/>
          <a:lstStyle/>
          <a:p>
            <a:pPr indent="0" marL="0">
              <a:buNone/>
            </a:pPr>
            <a:r>
              <a:rPr lang="en-US" sz="1150" b="1" dirty="0">
                <a:solidFill>
                  <a:schemeClr val="accent5"/>
                </a:solidFill>
                <a:latin typeface="Calibri" pitchFamily="34" charset="0"/>
                <a:ea typeface="Calibri" pitchFamily="34" charset="-122"/>
                <a:cs typeface="Calibri" pitchFamily="34" charset="-120"/>
              </a:rPr>
              <a:t>Nepal fall: regime change</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Holds in training, fails after 2021 when the rate sat on the NRB floor and could not fall.</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Will the new cycle continue? A second hike is likely</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194560"/>
                <a:gridCol w="914400"/>
                <a:gridCol w="1280160"/>
                <a:gridCol w="1280160"/>
                <a:gridCol w="1280160"/>
                <a:gridCol w="1280160"/>
              </a:tblGrid>
              <a:tr h="329184">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Scenario</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Brent, $</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Dec</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Feb</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Apr</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Expected repo, Apr</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Premium persists</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Escalation in the Gulf</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135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5.81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Easing tensions</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92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0.19</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5.63</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AI bust, world slowdown</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Stagflation</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5.74</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out0"/>
          <p:cNvSpPr/>
          <p:nvPr/>
        </p:nvSpPr>
        <p:spPr>
          <a:xfrm>
            <a:off x="457200" y="3246120"/>
            <a:ext cx="2615184" cy="1417320"/>
          </a:xfrm>
          <a:prstGeom prst="roundRect">
            <a:avLst>
              <a:gd name="adj" fmla="val 5161"/>
            </a:avLst>
          </a:prstGeom>
          <a:solidFill>
            <a:schemeClr val="bg2"/>
          </a:solidFill>
          <a:ln/>
        </p:spPr>
      </p:sp>
      <p:sp>
        <p:nvSpPr>
          <p:cNvPr id="5" name="Text 2"/>
          <p:cNvSpPr txBox="1"/>
          <p:nvPr/>
        </p:nvSpPr>
        <p:spPr>
          <a:xfrm>
            <a:off x="594360" y="3319272"/>
            <a:ext cx="2377440" cy="129844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December: decided already</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Inflation 5.5 percent and rising, a recent hike, strong industry: about 0.56 in every scenario.</a:t>
            </a:r>
            <a:endParaRPr lang="en-US" sz="1100" dirty="0"/>
          </a:p>
        </p:txBody>
      </p:sp>
      <p:sp>
        <p:nvSpPr>
          <p:cNvPr id="6" name="out1"/>
          <p:cNvSpPr/>
          <p:nvPr/>
        </p:nvSpPr>
        <p:spPr>
          <a:xfrm>
            <a:off x="3264408" y="3246120"/>
            <a:ext cx="2615184" cy="1417320"/>
          </a:xfrm>
          <a:prstGeom prst="roundRect">
            <a:avLst>
              <a:gd name="adj" fmla="val 5161"/>
            </a:avLst>
          </a:prstGeom>
          <a:solidFill>
            <a:schemeClr val="bg2"/>
          </a:solidFill>
          <a:ln/>
        </p:spPr>
      </p:sp>
      <p:sp>
        <p:nvSpPr>
          <p:cNvPr id="7" name="Text 4"/>
          <p:cNvSpPr txBox="1"/>
          <p:nvPr/>
        </p:nvSpPr>
        <p:spPr>
          <a:xfrm>
            <a:off x="3401568" y="3319272"/>
            <a:ext cx="2377440" cy="129844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February: oil decides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Dear oil or a Gulf war keeps hiking; cheaper oil or a world slowdown ends the cycle.</a:t>
            </a:r>
            <a:endParaRPr lang="en-US" sz="1100" dirty="0"/>
          </a:p>
        </p:txBody>
      </p:sp>
      <p:sp>
        <p:nvSpPr>
          <p:cNvPr id="8" name="out2"/>
          <p:cNvSpPr/>
          <p:nvPr/>
        </p:nvSpPr>
        <p:spPr>
          <a:xfrm>
            <a:off x="6071616" y="3246120"/>
            <a:ext cx="2615184" cy="1417320"/>
          </a:xfrm>
          <a:prstGeom prst="roundRect">
            <a:avLst>
              <a:gd name="adj" fmla="val 5161"/>
            </a:avLst>
          </a:prstGeom>
          <a:solidFill>
            <a:schemeClr val="bg2"/>
          </a:solidFill>
          <a:ln/>
        </p:spPr>
      </p:sp>
      <p:sp>
        <p:nvSpPr>
          <p:cNvPr id="9" name="Text 6"/>
          <p:cNvSpPr txBox="1"/>
          <p:nvPr/>
        </p:nvSpPr>
        <p:spPr>
          <a:xfrm>
            <a:off x="6208776" y="3319272"/>
            <a:ext cx="2377440" cy="1298448"/>
          </a:xfrm>
          <a:prstGeom prst="rect">
            <a:avLst/>
          </a:prstGeom>
          <a:noFill/>
          <a:ln/>
        </p:spPr>
        <p:txBody>
          <a:bodyPr wrap="square" lIns="0" tIns="0" rIns="0" bIns="0" rtlCol="0" anchor="t"/>
          <a:lstStyle/>
          <a:p>
            <a:pPr indent="0" marL="0">
              <a:buNone/>
            </a:pPr>
            <a:r>
              <a:rPr lang="en-US" sz="1100" b="1" dirty="0">
                <a:solidFill>
                  <a:schemeClr val="accent4"/>
                </a:solidFill>
                <a:latin typeface="Calibri" pitchFamily="34" charset="0"/>
                <a:ea typeface="Calibri" pitchFamily="34" charset="-122"/>
                <a:cs typeface="Calibri" pitchFamily="34" charset="-120"/>
              </a:rPr>
              <a:t>Read with care</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Scenarios are our assumptions fed into the model's inputs. The model calls cycle ends early.</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Where the cycle ends: repo rate after April 2027</a:t>
            </a:r>
            <a:endParaRPr lang="en-US" sz="2600" dirty="0"/>
          </a:p>
        </p:txBody>
      </p:sp>
      <p:graphicFrame>
        <p:nvGraphicFramePr>
          <p:cNvPr id="3" name="Chart 0"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4" name="end-read"/>
          <p:cNvSpPr/>
          <p:nvPr/>
        </p:nvSpPr>
        <p:spPr>
          <a:xfrm>
            <a:off x="6126480" y="1097280"/>
            <a:ext cx="2560320" cy="3474720"/>
          </a:xfrm>
          <a:prstGeom prst="roundRect">
            <a:avLst>
              <a:gd name="adj" fmla="val 2857"/>
            </a:avLst>
          </a:prstGeom>
          <a:solidFill>
            <a:schemeClr val="bg2"/>
          </a:solidFill>
          <a:ln/>
        </p:spPr>
      </p:sp>
      <p:sp>
        <p:nvSpPr>
          <p:cNvPr id="5" name="Text 2"/>
          <p:cNvSpPr txBox="1"/>
          <p:nvPr/>
        </p:nvSpPr>
        <p:spPr>
          <a:xfrm>
            <a:off x="6263640" y="1234440"/>
            <a:ext cx="2286000" cy="32461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Most likely</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One more hike, to 5.75, in December or February.</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1"/>
                </a:solidFill>
                <a:latin typeface="Calibri" pitchFamily="34" charset="0"/>
                <a:ea typeface="Calibri" pitchFamily="34" charset="-122"/>
                <a:cs typeface="Calibri" pitchFamily="34" charset="-120"/>
              </a:rPr>
              <a:t>6.00 or higher</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0.48 if the Gulf escalates, 0.33 if oil stays near 112, 0.21 if tensions ease.</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2"/>
                </a:solidFill>
                <a:latin typeface="Calibri" pitchFamily="34" charset="0"/>
                <a:ea typeface="Calibri" pitchFamily="34" charset="-122"/>
                <a:cs typeface="Calibri" pitchFamily="34" charset="-120"/>
              </a:rPr>
              <a:t>Below today</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Only an AI driven world slowdown makes it plausible (0.26).</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Nepal through India's cycles: a coin flip</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5669280" cy="914400"/>
        </p:xfrm>
        <a:graphic>
          <a:graphicData uri="http://schemas.openxmlformats.org/drawingml/2006/table">
            <a:tbl>
              <a:tblPr/>
              <a:tblGrid>
                <a:gridCol w="1325880"/>
                <a:gridCol w="868680"/>
                <a:gridCol w="1051560"/>
                <a:gridCol w="777240"/>
                <a:gridCol w="914400"/>
                <a:gridCol w="731520"/>
              </a:tblGrid>
              <a:tr h="265176">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RBI cycle</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RBI change</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Nepal interbank</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Followed?</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NRB bank rate</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Followed?</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2001</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2001 to 2004</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3.00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3.30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2005 to 2008</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1.29</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2008 to 2009</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4.25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1.33</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2010 to 2011</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10.74</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2012 to 2013</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0.39</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2013 to 2014</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0.75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0.11</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2015 to 2017</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2.53</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2018</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2.85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2019 to 2020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2.82</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2022 to 2023</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0.02</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0.30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0.75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nc-read"/>
          <p:cNvSpPr/>
          <p:nvPr/>
        </p:nvSpPr>
        <p:spPr>
          <a:xfrm>
            <a:off x="6355080" y="1005840"/>
            <a:ext cx="2331720" cy="3566160"/>
          </a:xfrm>
          <a:prstGeom prst="roundRect">
            <a:avLst>
              <a:gd name="adj" fmla="val 3137"/>
            </a:avLst>
          </a:prstGeom>
          <a:solidFill>
            <a:schemeClr val="bg2"/>
          </a:solidFill>
          <a:ln/>
        </p:spPr>
      </p:sp>
      <p:sp>
        <p:nvSpPr>
          <p:cNvPr id="5" name="Text 2"/>
          <p:cNvSpPr txBox="1"/>
          <p:nvPr/>
        </p:nvSpPr>
        <p:spPr>
          <a:xfrm>
            <a:off x="6492240" y="1143000"/>
            <a:ext cx="2103120" cy="3337560"/>
          </a:xfrm>
          <a:prstGeom prst="rect">
            <a:avLst/>
          </a:prstGeom>
          <a:noFill/>
          <a:ln/>
        </p:spPr>
        <p:txBody>
          <a:bodyPr wrap="square" lIns="0" tIns="0" rIns="0" bIns="0" rtlCol="0" anchor="t"/>
          <a:lstStyle/>
          <a:p>
            <a:pPr indent="0" marL="0">
              <a:buNone/>
            </a:pPr>
            <a:r>
              <a:rPr lang="en-US" sz="1150" b="1" dirty="0">
                <a:solidFill>
                  <a:schemeClr val="accent2"/>
                </a:solidFill>
                <a:latin typeface="Calibri" pitchFamily="34" charset="0"/>
                <a:ea typeface="Calibri" pitchFamily="34" charset="-122"/>
                <a:cs typeface="Calibri" pitchFamily="34" charset="-120"/>
              </a:rPr>
              <a:t>Market rate: 6 of 12</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The interbank rate moved the RBI's way only half the time, in 2010 falling 10.7 points while India hiked.</a:t>
            </a:r>
            <a:endParaRPr lang="en-US" sz="115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chemeClr val="accent2"/>
                </a:solidFill>
                <a:latin typeface="Calibri" pitchFamily="34" charset="0"/>
                <a:ea typeface="Calibri" pitchFamily="34" charset="-122"/>
                <a:cs typeface="Calibri" pitchFamily="34" charset="-120"/>
              </a:rPr>
              <a:t>NRB policy rate: 7 of 12</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The NRB often leans the same way, by less: plus 1.50 when India hiked 2.50 in 2022.</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the peg carries: India's prices, not its policy rate</a:t>
            </a:r>
            <a:endParaRPr lang="en-US" sz="2600" dirty="0"/>
          </a:p>
        </p:txBody>
      </p:sp>
      <p:pic>
        <p:nvPicPr>
          <p:cNvPr id="3" name="Image 0" descr="Inflation in India and Nepal, and the RBI repo rate against Nepal's interbank and treasury bill rates, 2001 to 2026">    </p:cNvPr>
          <p:cNvPicPr>
            <a:picLocks noChangeAspect="1"/>
          </p:cNvPicPr>
          <p:nvPr/>
        </p:nvPicPr>
        <p:blipFill>
          <a:blip r:embed="rId1"/>
          <a:stretch>
            <a:fillRect/>
          </a:stretch>
        </p:blipFill>
        <p:spPr>
          <a:xfrm>
            <a:off x="365760" y="1005840"/>
            <a:ext cx="5212080" cy="364845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806440" y="1097280"/>
          <a:ext cx="2880360" cy="914400"/>
        </p:xfrm>
        <a:graphic>
          <a:graphicData uri="http://schemas.openxmlformats.org/drawingml/2006/table">
            <a:tbl>
              <a:tblPr/>
              <a:tblGrid>
                <a:gridCol w="1234440"/>
                <a:gridCol w="731520"/>
                <a:gridCol w="914400"/>
              </a:tblGrid>
              <a:tr h="27432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Correlation</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Prices</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Rates</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7432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2001 to 2026</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0.46</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minus 0.07</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Before corridor</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0.32</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minus 0.20</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2016 to 2021</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0.29</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0.45</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2021 to 2026</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0.18</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5" name="Text 1"/>
          <p:cNvSpPr txBox="1"/>
          <p:nvPr/>
        </p:nvSpPr>
        <p:spPr>
          <a:xfrm>
            <a:off x="5806440" y="2651760"/>
            <a:ext cx="2880360" cy="196596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Prices: inflation in the same month. Rates: 12 month changes in the RBI repo and Nepal's interbank rate. Nepal's rate averages 3.2 points below the repo. The impossible trinity is resolved by capital controls: the peg imports India's price level, while the NRB keeps its own short rate.</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An RBI move leaves no significant trace on Nepal</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2103120"/>
                <a:gridCol w="2103120"/>
                <a:gridCol w="2103120"/>
              </a:tblGrid>
              <a:tr h="329184">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Months after the RBI move</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Interbank rate</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91 day T bill</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CPI inflation</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0.39 (p 0.28)</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0.21 (p 0.48)</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0.12 (p 0.59)</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0.59 (p 0.41)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0.38 (p 0.50)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0.15 (p 0.81)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0.72 (p 0.33)</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0.70 (p 0.32)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0.10 (p 0.88)</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b="1" dirty="0">
                          <a:solidFill>
                            <a:schemeClr val="tx1"/>
                          </a:solidFill>
                          <a:latin typeface="Calibri" pitchFamily="34" charset="0"/>
                          <a:ea typeface="Calibri" pitchFamily="34" charset="-122"/>
                          <a:cs typeface="Calibri" pitchFamily="34" charset="-120"/>
                        </a:rPr>
                        <a:t>minus 1.57 (p 0.05)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0.43 (p 0.44)</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0.04 (p 0.95)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0.88 (p 0.22)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0.25 (p 0.70)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0.87 (p 0.23)</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lp0"/>
          <p:cNvSpPr/>
          <p:nvPr/>
        </p:nvSpPr>
        <p:spPr>
          <a:xfrm>
            <a:off x="457200" y="3246120"/>
            <a:ext cx="2615184" cy="1417320"/>
          </a:xfrm>
          <a:prstGeom prst="roundRect">
            <a:avLst>
              <a:gd name="adj" fmla="val 5161"/>
            </a:avLst>
          </a:prstGeom>
          <a:solidFill>
            <a:schemeClr val="bg2"/>
          </a:solidFill>
          <a:ln/>
        </p:spPr>
      </p:sp>
      <p:sp>
        <p:nvSpPr>
          <p:cNvPr id="5" name="Text 2"/>
          <p:cNvSpPr txBox="1"/>
          <p:nvPr/>
        </p:nvSpPr>
        <p:spPr>
          <a:xfrm>
            <a:off x="594360" y="3319272"/>
            <a:ext cx="2377440" cy="1298448"/>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No pass through</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If the peg carried India's policy rate, the interbank response would approach plus 1. At 12 months plus 1 is outside the band (minus 3.14 to 0.01).</a:t>
            </a:r>
            <a:endParaRPr lang="en-US" sz="1100" dirty="0"/>
          </a:p>
        </p:txBody>
      </p:sp>
      <p:sp>
        <p:nvSpPr>
          <p:cNvPr id="6" name="lp1"/>
          <p:cNvSpPr/>
          <p:nvPr/>
        </p:nvSpPr>
        <p:spPr>
          <a:xfrm>
            <a:off x="3264408" y="3246120"/>
            <a:ext cx="2615184" cy="1417320"/>
          </a:xfrm>
          <a:prstGeom prst="roundRect">
            <a:avLst>
              <a:gd name="adj" fmla="val 5161"/>
            </a:avLst>
          </a:prstGeom>
          <a:solidFill>
            <a:schemeClr val="bg2"/>
          </a:solidFill>
          <a:ln/>
        </p:spPr>
      </p:sp>
      <p:sp>
        <p:nvSpPr>
          <p:cNvPr id="7" name="Text 4"/>
          <p:cNvSpPr txBox="1"/>
          <p:nvPr/>
        </p:nvSpPr>
        <p:spPr>
          <a:xfrm>
            <a:off x="3401568" y="3319272"/>
            <a:ext cx="2377440" cy="1298448"/>
          </a:xfrm>
          <a:prstGeom prst="rect">
            <a:avLst/>
          </a:prstGeom>
          <a:noFill/>
          <a:ln/>
        </p:spPr>
        <p:txBody>
          <a:bodyPr wrap="square" lIns="0" tIns="0" rIns="0" bIns="0" rtlCol="0" anchor="t"/>
          <a:lstStyle/>
          <a:p>
            <a:pPr indent="0" marL="0">
              <a:buNone/>
            </a:pPr>
            <a:r>
              <a:rPr lang="en-US" sz="1100" b="1" dirty="0">
                <a:solidFill>
                  <a:schemeClr val="accent4"/>
                </a:solidFill>
                <a:latin typeface="Calibri" pitchFamily="34" charset="0"/>
                <a:ea typeface="Calibri" pitchFamily="34" charset="-122"/>
                <a:cs typeface="Calibri" pitchFamily="34" charset="-120"/>
              </a:rPr>
              <a:t>Wrong sign is timing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Few RBI cycles, and they happened to meet Nepali liquidity cycles running the other way, as in 2010 and 2011.</a:t>
            </a:r>
            <a:endParaRPr lang="en-US" sz="1100" dirty="0"/>
          </a:p>
        </p:txBody>
      </p:sp>
      <p:sp>
        <p:nvSpPr>
          <p:cNvPr id="8" name="lp2"/>
          <p:cNvSpPr/>
          <p:nvPr/>
        </p:nvSpPr>
        <p:spPr>
          <a:xfrm>
            <a:off x="6071616" y="3246120"/>
            <a:ext cx="2615184" cy="1417320"/>
          </a:xfrm>
          <a:prstGeom prst="roundRect">
            <a:avLst>
              <a:gd name="adj" fmla="val 5161"/>
            </a:avLst>
          </a:prstGeom>
          <a:solidFill>
            <a:schemeClr val="bg2"/>
          </a:solidFill>
          <a:ln/>
        </p:spPr>
      </p:sp>
      <p:sp>
        <p:nvSpPr>
          <p:cNvPr id="9" name="Text 6"/>
          <p:cNvSpPr txBox="1"/>
          <p:nvPr/>
        </p:nvSpPr>
        <p:spPr>
          <a:xfrm>
            <a:off x="6208776" y="3319272"/>
            <a:ext cx="2377440" cy="1298448"/>
          </a:xfrm>
          <a:prstGeom prst="rect">
            <a:avLst/>
          </a:prstGeom>
          <a:noFill/>
          <a:ln/>
        </p:spPr>
        <p:txBody>
          <a:bodyPr wrap="square" lIns="0" tIns="0" rIns="0" bIns="0" rtlCol="0" anchor="t"/>
          <a:lstStyle/>
          <a:p>
            <a:pPr indent="0" marL="0">
              <a:buNone/>
            </a:pPr>
            <a:r>
              <a:rPr lang="en-US" sz="1100" b="1" dirty="0">
                <a:solidFill>
                  <a:schemeClr val="accent5"/>
                </a:solidFill>
                <a:latin typeface="Calibri" pitchFamily="34" charset="0"/>
                <a:ea typeface="Calibri" pitchFamily="34" charset="-122"/>
                <a:cs typeface="Calibri" pitchFamily="34" charset="-120"/>
              </a:rPr>
              <a:t>Inflation: not measurable</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The two year CPI effect (0.87) is not significant once a data error is removed; an earlier 1.5 (p 0.04) was withdrawn.</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sets Nepal's rate: liquidity in the corridor</a:t>
            </a:r>
            <a:endParaRPr lang="en-US" sz="2600" dirty="0"/>
          </a:p>
        </p:txBody>
      </p:sp>
      <p:pic>
        <p:nvPicPr>
          <p:cNvPr id="3" name="Image 0" descr="Nepal interbank rate inside the NRB corridor with FX purchases, remittances, fiscal flows, credit and deposit growth, 2019 to 2026">    </p:cNvPr>
          <p:cNvPicPr>
            <a:picLocks noChangeAspect="1"/>
          </p:cNvPicPr>
          <p:nvPr/>
        </p:nvPicPr>
        <p:blipFill>
          <a:blip r:embed="rId1"/>
          <a:stretch>
            <a:fillRect/>
          </a:stretch>
        </p:blipFill>
        <p:spPr>
          <a:xfrm>
            <a:off x="365760" y="960120"/>
            <a:ext cx="4023360" cy="3621024"/>
          </a:xfrm>
          <a:prstGeom prst="rect">
            <a:avLst/>
          </a:prstGeom>
        </p:spPr>
      </p:pic>
      <p:sp>
        <p:nvSpPr>
          <p:cNvPr id="4" name="ep0"/>
          <p:cNvSpPr/>
          <p:nvPr/>
        </p:nvSpPr>
        <p:spPr>
          <a:xfrm>
            <a:off x="4617720" y="1005840"/>
            <a:ext cx="4069080" cy="1078992"/>
          </a:xfrm>
          <a:prstGeom prst="roundRect">
            <a:avLst>
              <a:gd name="adj" fmla="val 6780"/>
            </a:avLst>
          </a:prstGeom>
          <a:solidFill>
            <a:schemeClr val="bg2"/>
          </a:solidFill>
          <a:ln/>
        </p:spPr>
      </p:sp>
      <p:sp>
        <p:nvSpPr>
          <p:cNvPr id="5" name="Text 2"/>
          <p:cNvSpPr txBox="1"/>
          <p:nvPr/>
        </p:nvSpPr>
        <p:spPr>
          <a:xfrm>
            <a:off x="4754880" y="1069848"/>
            <a:ext cx="3840480" cy="960120"/>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Floor, 2020 to 2021, 9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0.3 percent. Deposits grew 21 percent, credit 14; excess reserves 3.6 percent of deposits.</a:t>
            </a:r>
            <a:endParaRPr lang="en-US" sz="1100" dirty="0"/>
          </a:p>
        </p:txBody>
      </p:sp>
      <p:sp>
        <p:nvSpPr>
          <p:cNvPr id="6" name="ep1"/>
          <p:cNvSpPr/>
          <p:nvPr/>
        </p:nvSpPr>
        <p:spPr>
          <a:xfrm>
            <a:off x="4617720" y="2194560"/>
            <a:ext cx="4069080" cy="1078992"/>
          </a:xfrm>
          <a:prstGeom prst="roundRect">
            <a:avLst>
              <a:gd name="adj" fmla="val 6780"/>
            </a:avLst>
          </a:prstGeom>
          <a:solidFill>
            <a:schemeClr val="bg2"/>
          </a:solidFill>
          <a:ln/>
        </p:spPr>
      </p:sp>
      <p:sp>
        <p:nvSpPr>
          <p:cNvPr id="7" name="Text 4"/>
          <p:cNvSpPr txBox="1"/>
          <p:nvPr/>
        </p:nvSpPr>
        <p:spPr>
          <a:xfrm>
            <a:off x="4754880" y="2258568"/>
            <a:ext cx="3840480" cy="960120"/>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Ceiling, 2021 to 2022, 15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6.5 percent. Credit grew 20 percent, deposits 13; excess reserves fell to 0.35; NRB never net absorbing.</a:t>
            </a:r>
            <a:endParaRPr lang="en-US" sz="1100" dirty="0"/>
          </a:p>
        </p:txBody>
      </p:sp>
      <p:sp>
        <p:nvSpPr>
          <p:cNvPr id="8" name="ep2"/>
          <p:cNvSpPr/>
          <p:nvPr/>
        </p:nvSpPr>
        <p:spPr>
          <a:xfrm>
            <a:off x="4617720" y="3383280"/>
            <a:ext cx="4069080" cy="1078992"/>
          </a:xfrm>
          <a:prstGeom prst="roundRect">
            <a:avLst>
              <a:gd name="adj" fmla="val 6780"/>
            </a:avLst>
          </a:prstGeom>
          <a:solidFill>
            <a:schemeClr val="bg2"/>
          </a:solidFill>
          <a:ln/>
        </p:spPr>
      </p:sp>
      <p:sp>
        <p:nvSpPr>
          <p:cNvPr id="9" name="Text 6"/>
          <p:cNvSpPr txBox="1"/>
          <p:nvPr/>
        </p:nvSpPr>
        <p:spPr>
          <a:xfrm>
            <a:off x="4754880" y="3447288"/>
            <a:ext cx="3840480" cy="960120"/>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Floor, 2023 to 2026, 34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2.9 percent. Credit 6.5, deposits 13; remittances 29 percent of broad money a year; NRB absorbing in 94 percent of months.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India's new cycle means for Nepal</a:t>
            </a:r>
            <a:endParaRPr lang="en-US" sz="2600" dirty="0"/>
          </a:p>
        </p:txBody>
      </p:sp>
      <p:sp>
        <p:nvSpPr>
          <p:cNvPr id="3" name="mean0"/>
          <p:cNvSpPr/>
          <p:nvPr/>
        </p:nvSpPr>
        <p:spPr>
          <a:xfrm>
            <a:off x="457200" y="1097280"/>
            <a:ext cx="4023360" cy="1645920"/>
          </a:xfrm>
          <a:prstGeom prst="roundRect">
            <a:avLst>
              <a:gd name="adj" fmla="val 4444"/>
            </a:avLst>
          </a:prstGeom>
          <a:solidFill>
            <a:schemeClr val="bg2"/>
          </a:solidFill>
          <a:ln/>
        </p:spPr>
      </p:sp>
      <p:sp>
        <p:nvSpPr>
          <p:cNvPr id="4" name="Text 2"/>
          <p:cNvSpPr txBox="1"/>
          <p:nvPr/>
        </p:nvSpPr>
        <p:spPr>
          <a:xfrm>
            <a:off x="640080" y="1216152"/>
            <a:ext cx="3657600" cy="1463040"/>
          </a:xfrm>
          <a:prstGeom prst="rect">
            <a:avLst/>
          </a:prstGeom>
          <a:noFill/>
          <a:ln/>
        </p:spPr>
        <p:txBody>
          <a:bodyPr wrap="square" lIns="0" tIns="0" rIns="0" bIns="0" rtlCol="0" anchor="t"/>
          <a:lstStyle/>
          <a:p>
            <a:pPr indent="0" marL="0">
              <a:buNone/>
            </a:pPr>
            <a:r>
              <a:rPr lang="en-US" sz="1400" b="1" dirty="0">
                <a:solidFill>
                  <a:schemeClr val="accent2"/>
                </a:solidFill>
                <a:latin typeface="Calibri" pitchFamily="34" charset="0"/>
                <a:ea typeface="Calibri" pitchFamily="34" charset="-122"/>
                <a:cs typeface="Calibri" pitchFamily="34" charset="-120"/>
              </a:rPr>
              <a:t>Interest rates: little</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Nepal's interbank rate has sat on the NRB floor of 2.75 percent for 34 months. It moves when the NRB moves the floor or liquidity dries up, not when the RBI hikes.</a:t>
            </a:r>
            <a:endParaRPr lang="en-US" sz="1200" dirty="0"/>
          </a:p>
        </p:txBody>
      </p:sp>
      <p:sp>
        <p:nvSpPr>
          <p:cNvPr id="5" name="mean1"/>
          <p:cNvSpPr/>
          <p:nvPr/>
        </p:nvSpPr>
        <p:spPr>
          <a:xfrm>
            <a:off x="4663440" y="1097280"/>
            <a:ext cx="4023360" cy="1645920"/>
          </a:xfrm>
          <a:prstGeom prst="roundRect">
            <a:avLst>
              <a:gd name="adj" fmla="val 4444"/>
            </a:avLst>
          </a:prstGeom>
          <a:solidFill>
            <a:schemeClr val="bg2"/>
          </a:solidFill>
          <a:ln/>
        </p:spPr>
      </p:sp>
      <p:sp>
        <p:nvSpPr>
          <p:cNvPr id="6" name="Text 4"/>
          <p:cNvSpPr txBox="1"/>
          <p:nvPr/>
        </p:nvSpPr>
        <p:spPr>
          <a:xfrm>
            <a:off x="4846320" y="1216152"/>
            <a:ext cx="3657600" cy="1463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Prices: yes</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Every fall of the Indian rupee against the dollar is a fall of the Nepali rupee. Inflation in the two countries has moved together closely since 2021 (0.88).</a:t>
            </a:r>
            <a:endParaRPr lang="en-US" sz="1200" dirty="0"/>
          </a:p>
        </p:txBody>
      </p:sp>
      <p:sp>
        <p:nvSpPr>
          <p:cNvPr id="7" name="mean2"/>
          <p:cNvSpPr/>
          <p:nvPr/>
        </p:nvSpPr>
        <p:spPr>
          <a:xfrm>
            <a:off x="457200" y="2880360"/>
            <a:ext cx="4023360" cy="1645920"/>
          </a:xfrm>
          <a:prstGeom prst="roundRect">
            <a:avLst>
              <a:gd name="adj" fmla="val 4444"/>
            </a:avLst>
          </a:prstGeom>
          <a:solidFill>
            <a:schemeClr val="bg2"/>
          </a:solidFill>
          <a:ln/>
        </p:spPr>
      </p:sp>
      <p:sp>
        <p:nvSpPr>
          <p:cNvPr id="8" name="Text 6"/>
          <p:cNvSpPr txBox="1"/>
          <p:nvPr/>
        </p:nvSpPr>
        <p:spPr>
          <a:xfrm>
            <a:off x="640080" y="2999232"/>
            <a:ext cx="3657600" cy="146304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Remittances: the risk</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Remittances reach 29 percent of broad money a year, largely from the Gulf. A Gulf war could cut them and lift Nepal off the floor.</a:t>
            </a:r>
            <a:endParaRPr lang="en-US" sz="1200" dirty="0"/>
          </a:p>
        </p:txBody>
      </p:sp>
      <p:sp>
        <p:nvSpPr>
          <p:cNvPr id="9" name="mean3"/>
          <p:cNvSpPr/>
          <p:nvPr/>
        </p:nvSpPr>
        <p:spPr>
          <a:xfrm>
            <a:off x="4663440" y="2880360"/>
            <a:ext cx="4023360" cy="1645920"/>
          </a:xfrm>
          <a:prstGeom prst="roundRect">
            <a:avLst>
              <a:gd name="adj" fmla="val 4444"/>
            </a:avLst>
          </a:prstGeom>
          <a:solidFill>
            <a:schemeClr val="bg2"/>
          </a:solidFill>
          <a:ln/>
        </p:spPr>
      </p:sp>
      <p:sp>
        <p:nvSpPr>
          <p:cNvPr id="10" name="Text 8"/>
          <p:cNvSpPr txBox="1"/>
          <p:nvPr/>
        </p:nvSpPr>
        <p:spPr>
          <a:xfrm>
            <a:off x="4846320" y="2999232"/>
            <a:ext cx="3657600" cy="1463040"/>
          </a:xfrm>
          <a:prstGeom prst="rect">
            <a:avLst/>
          </a:prstGeom>
          <a:noFill/>
          <a:ln/>
        </p:spPr>
        <p:txBody>
          <a:bodyPr wrap="square" lIns="0" tIns="0" rIns="0" bIns="0" rtlCol="0" anchor="t"/>
          <a:lstStyle/>
          <a:p>
            <a:pPr indent="0" marL="0">
              <a:buNone/>
            </a:pPr>
            <a:r>
              <a:rPr lang="en-US" sz="1400" b="1" dirty="0">
                <a:solidFill>
                  <a:schemeClr val="accent3"/>
                </a:solidFill>
                <a:latin typeface="Calibri" pitchFamily="34" charset="0"/>
                <a:ea typeface="Calibri" pitchFamily="34" charset="-122"/>
                <a:cs typeface="Calibri" pitchFamily="34" charset="-120"/>
              </a:rPr>
              <a:t>Watch the NRB</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The NRB's policy rate leaned with the RBI in 7 of 12 cycles. Our sealed Nepal forecast: rise 0.29, fall 0.24 by October.</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Limits and what is still open</a:t>
            </a:r>
            <a:endParaRPr lang="en-US" sz="2600" dirty="0"/>
          </a:p>
        </p:txBody>
      </p:sp>
      <p:sp>
        <p:nvSpPr>
          <p:cNvPr id="3" name="lim0"/>
          <p:cNvSpPr/>
          <p:nvPr/>
        </p:nvSpPr>
        <p:spPr>
          <a:xfrm>
            <a:off x="457200" y="1097280"/>
            <a:ext cx="2615184" cy="3520440"/>
          </a:xfrm>
          <a:prstGeom prst="roundRect">
            <a:avLst>
              <a:gd name="adj" fmla="val 2797"/>
            </a:avLst>
          </a:prstGeom>
          <a:solidFill>
            <a:schemeClr val="bg2"/>
          </a:solidFill>
          <a:ln/>
        </p:spPr>
      </p:sp>
      <p:sp>
        <p:nvSpPr>
          <p:cNvPr id="4" name="Text 2"/>
          <p:cNvSpPr txBox="1"/>
          <p:nvPr/>
        </p:nvSpPr>
        <p:spPr>
          <a:xfrm>
            <a:off x="621792" y="1216152"/>
            <a:ext cx="2286000" cy="365760"/>
          </a:xfrm>
          <a:prstGeom prst="rect">
            <a:avLst/>
          </a:prstGeom>
          <a:noFill/>
          <a:ln/>
        </p:spPr>
        <p:txBody>
          <a:bodyPr wrap="square" lIns="0" tIns="0" rIns="0" bIns="0" rtlCol="0" anchor="ctr"/>
          <a:lstStyle/>
          <a:p>
            <a:pPr indent="0" marL="0">
              <a:buNone/>
            </a:pPr>
            <a:r>
              <a:rPr lang="en-US" sz="1500" b="1" dirty="0">
                <a:solidFill>
                  <a:schemeClr val="accent5"/>
                </a:solidFill>
                <a:latin typeface="Calibri" pitchFamily="34" charset="0"/>
                <a:ea typeface="Calibri" pitchFamily="34" charset="-122"/>
                <a:cs typeface="Calibri" pitchFamily="34" charset="-120"/>
              </a:rPr>
              <a:t>Not yet done</a:t>
            </a:r>
            <a:endParaRPr lang="en-US" sz="1500" dirty="0"/>
          </a:p>
        </p:txBody>
      </p:sp>
      <p:sp>
        <p:nvSpPr>
          <p:cNvPr id="5" name="Text 3"/>
          <p:cNvSpPr txBox="1"/>
          <p:nvPr/>
        </p:nvSpPr>
        <p:spPr>
          <a:xfrm>
            <a:off x="621792" y="1645920"/>
            <a:ext cx="2331720" cy="288036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Robustness checks: other cutoffs, the 2015 inflation measure switch, Nepal deadbands, a VAR</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Citations to verify: neutral real rate, Patel committee date, 2016 corridor start</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Nepal comparisons are descriptive; a causal test is next</a:t>
            </a:r>
            <a:endParaRPr lang="en-US" sz="1150" dirty="0"/>
          </a:p>
        </p:txBody>
      </p:sp>
      <p:sp>
        <p:nvSpPr>
          <p:cNvPr id="6" name="lim1"/>
          <p:cNvSpPr/>
          <p:nvPr/>
        </p:nvSpPr>
        <p:spPr>
          <a:xfrm>
            <a:off x="3264408" y="1097280"/>
            <a:ext cx="2615184" cy="3520440"/>
          </a:xfrm>
          <a:prstGeom prst="roundRect">
            <a:avLst>
              <a:gd name="adj" fmla="val 2797"/>
            </a:avLst>
          </a:prstGeom>
          <a:solidFill>
            <a:schemeClr val="bg2"/>
          </a:solidFill>
          <a:ln/>
        </p:spPr>
      </p:sp>
      <p:sp>
        <p:nvSpPr>
          <p:cNvPr id="7" name="Text 5"/>
          <p:cNvSpPr txBox="1"/>
          <p:nvPr/>
        </p:nvSpPr>
        <p:spPr>
          <a:xfrm>
            <a:off x="3429000" y="1216152"/>
            <a:ext cx="2286000" cy="36576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Waiting for data</a:t>
            </a:r>
            <a:endParaRPr lang="en-US" sz="1500" dirty="0"/>
          </a:p>
        </p:txBody>
      </p:sp>
      <p:sp>
        <p:nvSpPr>
          <p:cNvPr id="8" name="Text 6"/>
          <p:cNvSpPr txBox="1"/>
          <p:nvPr/>
        </p:nvSpPr>
        <p:spPr>
          <a:xfrm>
            <a:off x="3429000" y="1645920"/>
            <a:ext cx="2331720" cy="288036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The December 2026 RBI decision, against our recorded 0.56</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Three sealed Nepal forecasts, August to October 2026: NRB data end at mid July</a:t>
            </a:r>
            <a:endParaRPr lang="en-US" sz="1150" dirty="0"/>
          </a:p>
        </p:txBody>
      </p:sp>
      <p:sp>
        <p:nvSpPr>
          <p:cNvPr id="9" name="lim2"/>
          <p:cNvSpPr/>
          <p:nvPr/>
        </p:nvSpPr>
        <p:spPr>
          <a:xfrm>
            <a:off x="6071616" y="1097280"/>
            <a:ext cx="2615184" cy="3520440"/>
          </a:xfrm>
          <a:prstGeom prst="roundRect">
            <a:avLst>
              <a:gd name="adj" fmla="val 2797"/>
            </a:avLst>
          </a:prstGeom>
          <a:solidFill>
            <a:schemeClr val="bg2"/>
          </a:solidFill>
          <a:ln/>
        </p:spPr>
      </p:sp>
      <p:sp>
        <p:nvSpPr>
          <p:cNvPr id="10" name="Text 8"/>
          <p:cNvSpPr txBox="1"/>
          <p:nvPr/>
        </p:nvSpPr>
        <p:spPr>
          <a:xfrm>
            <a:off x="6236208" y="1216152"/>
            <a:ext cx="2286000" cy="365760"/>
          </a:xfrm>
          <a:prstGeom prst="rect">
            <a:avLst/>
          </a:prstGeom>
          <a:noFill/>
          <a:ln/>
        </p:spPr>
        <p:txBody>
          <a:bodyPr wrap="square" lIns="0" tIns="0" rIns="0" bIns="0" rtlCol="0" anchor="ctr"/>
          <a:lstStyle/>
          <a:p>
            <a:pPr indent="0" marL="0">
              <a:buNone/>
            </a:pPr>
            <a:r>
              <a:rPr lang="en-US" sz="1500" b="1" dirty="0">
                <a:solidFill>
                  <a:schemeClr val="accent4"/>
                </a:solidFill>
                <a:latin typeface="Calibri" pitchFamily="34" charset="0"/>
                <a:ea typeface="Calibri" pitchFamily="34" charset="-122"/>
                <a:cs typeface="Calibri" pitchFamily="34" charset="-120"/>
              </a:rPr>
              <a:t>Design limits</a:t>
            </a:r>
            <a:endParaRPr lang="en-US" sz="1500" dirty="0"/>
          </a:p>
        </p:txBody>
      </p:sp>
      <p:sp>
        <p:nvSpPr>
          <p:cNvPr id="11" name="Text 9"/>
          <p:cNvSpPr txBox="1"/>
          <p:nvPr/>
        </p:nvSpPr>
        <p:spPr>
          <a:xfrm>
            <a:off x="6236208" y="1645920"/>
            <a:ext cx="2331720" cy="288036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No market data (bond yields, swaps), the main signal at the start of a cycle</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Latest vintage series for some inputs</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Only 12 complete RBI cycles: wide confidence bands</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Conclusion</a:t>
            </a: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CADCFC"/>
                </a:solidFill>
              </a:rPr>
              <a:t>India has entered a new hiking cycle. A second hike is more likely than not; the cycle most likely ends at 5.75 to 6.00, and oil decides which.</a:t>
            </a:r>
            <a:endParaRPr lang="en-US" sz="1800" dirty="0"/>
          </a:p>
          <a:p>
            <a:pPr marL="228600" indent="-228600">
              <a:spcAft>
                <a:spcPts val="800"/>
              </a:spcAft>
              <a:buSzPct val="100000"/>
              <a:buChar char="•"/>
            </a:pPr>
            <a:r>
              <a:rPr lang="en-US" sz="1800" dirty="0">
                <a:solidFill>
                  <a:srgbClr val="CADCFC"/>
                </a:solidFill>
              </a:rPr>
              <a:t>The peg carries India's prices into Nepal, not India's interest rates: Nepal's market rate followed the RBI in only 6 of 12 cycles.</a:t>
            </a:r>
            <a:endParaRPr lang="en-US" sz="1800" dirty="0"/>
          </a:p>
          <a:p>
            <a:pPr marL="228600" indent="-228600">
              <a:buSzPct val="100000"/>
              <a:buChar char="•"/>
            </a:pPr>
            <a:r>
              <a:rPr lang="en-US" sz="1800" dirty="0">
                <a:solidFill>
                  <a:srgbClr val="CADCFC"/>
                </a:solidFill>
              </a:rPr>
              <a:t>Capital controls keep the NRB's rate its own. Remittances bought at the peg hold it on the NRB floor, so watch the NRB and the Gulf, not the RBI.</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Appendix: forecasting Nepal's rate direction</a:t>
            </a:r>
            <a:endParaRPr lang="en-US" sz="2600" dirty="0"/>
          </a:p>
        </p:txBody>
      </p:sp>
      <p:graphicFrame>
        <p:nvGraphicFramePr>
          <p:cNvPr id="3" name="Chart 0" descr=""/>
          <p:cNvGraphicFramePr/>
          <p:nvPr/>
        </p:nvGraphicFramePr>
        <p:xfrm>
          <a:off x="365760" y="1051560"/>
          <a:ext cx="4480560" cy="3566160"/>
        </p:xfrm>
        <a:graphic xmlns:a="http://schemas.openxmlformats.org/drawingml/2006/main">
          <a:graphicData uri="http://schemas.openxmlformats.org/drawingml/2006/chart">
            <c:chart xmlns:c="http://schemas.openxmlformats.org/drawingml/2006/chart" r:id="rId1"/>
          </a:graphicData>
        </a:graphic>
      </p:graphicFrame>
      <p:sp>
        <p:nvSpPr>
          <p:cNvPr id="4" name="nepal-read"/>
          <p:cNvSpPr/>
          <p:nvPr/>
        </p:nvSpPr>
        <p:spPr>
          <a:xfrm>
            <a:off x="5120640" y="1143000"/>
            <a:ext cx="3566160" cy="3383280"/>
          </a:xfrm>
          <a:prstGeom prst="roundRect">
            <a:avLst>
              <a:gd name="adj" fmla="val 2162"/>
            </a:avLst>
          </a:prstGeom>
          <a:solidFill>
            <a:schemeClr val="bg2"/>
          </a:solidFill>
          <a:ln/>
        </p:spPr>
      </p:sp>
      <p:sp>
        <p:nvSpPr>
          <p:cNvPr id="5" name="Text 2"/>
          <p:cNvSpPr txBox="1"/>
          <p:nvPr/>
        </p:nvSpPr>
        <p:spPr>
          <a:xfrm>
            <a:off x="5303520" y="1280160"/>
            <a:ext cx="3246120" cy="3154680"/>
          </a:xfrm>
          <a:prstGeom prst="rect">
            <a:avLst/>
          </a:prstGeom>
          <a:noFill/>
          <a:ln/>
        </p:spPr>
        <p:txBody>
          <a:bodyPr wrap="square" lIns="0" tIns="0" rIns="0" bIns="0" rtlCol="0" anchor="t"/>
          <a:lstStyle/>
          <a:p>
            <a:pPr indent="0" marL="0">
              <a:buNone/>
            </a:pPr>
            <a:r>
              <a:rPr lang="en-US" sz="1150" b="1" dirty="0">
                <a:solidFill>
                  <a:schemeClr val="accent2"/>
                </a:solidFill>
                <a:latin typeface="Calibri" pitchFamily="34" charset="0"/>
                <a:ea typeface="Calibri" pitchFamily="34" charset="-122"/>
                <a:cs typeface="Calibri" pitchFamily="34" charset="-120"/>
              </a:rPr>
              <a:t>Target</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Will the interbank rate rise, or fall, by more than half a point in three months? Two yes or no questions, after the declared three way model failed (0.47 against persistence 0.43).</a:t>
            </a:r>
            <a:endParaRPr lang="en-US" sz="115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chemeClr val="accent3"/>
                </a:solidFill>
                <a:latin typeface="Calibri" pitchFamily="34" charset="0"/>
                <a:ea typeface="Calibri" pitchFamily="34" charset="-122"/>
                <a:cs typeface="Calibri" pitchFamily="34" charset="-120"/>
              </a:rPr>
              <a:t>Rises: forecastable</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Liquidity tightening shows up in reserves and credit before the rate moves.</a:t>
            </a:r>
            <a:endParaRPr lang="en-US" sz="115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chemeClr val="accent5"/>
                </a:solidFill>
                <a:latin typeface="Calibri" pitchFamily="34" charset="0"/>
                <a:ea typeface="Calibri" pitchFamily="34" charset="-122"/>
                <a:cs typeface="Calibri" pitchFamily="34" charset="-120"/>
              </a:rPr>
              <a:t>Falls: not after 2021</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At the floor the rate can only fall if the NRB cuts the floor. Results labelled post hoc; three sealed forecasts await data.</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RateCycle">
  <a:themeElements>
    <a:clrScheme name="RateCycle">
      <a:dk1>
        <a:srgbClr val="1B1F2A"/>
      </a:dk1>
      <a:lt1>
        <a:srgbClr val="FFFFFF"/>
      </a:lt1>
      <a:dk2>
        <a:srgbClr val="1F2D4A"/>
      </a:dk2>
      <a:lt2>
        <a:srgbClr val="F4F5F7"/>
      </a:lt2>
      <a:accent1>
        <a:srgbClr val="EB6834"/>
      </a:accent1>
      <a:accent2>
        <a:srgbClr val="2A78D6"/>
      </a:accent2>
      <a:accent3>
        <a:srgbClr val="1BAF7A"/>
      </a:accent3>
      <a:accent4>
        <a:srgbClr val="8A8F98"/>
      </a:accent4>
      <a:accent5>
        <a:srgbClr val="C8432B"/>
      </a:accent5>
      <a:accent6>
        <a:srgbClr val="F2B134"/>
      </a:accent6>
      <a:hlink>
        <a:srgbClr val="2A78D6"/>
      </a:hlink>
      <a:folHlink>
        <a:srgbClr val="1F2D4A"/>
      </a:folHlink>
    </a:clrScheme>
    <a:fontScheme name="RateCyc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Will India enter a new rate cycle, and does Nepal follow?</dc:title>
  <dc:subject>PptxGenJS Presentation</dc:subject>
  <dc:creator>sakrit204-byte</dc:creator>
  <cp:lastModifiedBy>sakrit204-byte</cp:lastModifiedBy>
  <cp:revision>1</cp:revision>
  <dcterms:created xsi:type="dcterms:W3CDTF">2026-10-28T20:47:47Z</dcterms:created>
  <dcterms:modified xsi:type="dcterms:W3CDTF">2026-10-28T20:47:47Z</dcterms:modified>
</cp:coreProperties>
</file>