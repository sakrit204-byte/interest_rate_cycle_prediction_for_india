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7.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8.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7b0bfb7-d65c-69d8-45be-df0f2cfb9611}">
          <p14:sldIdLst>
            <p14:sldId id="256"/>
            <p14:sldId id="257"/>
          </p14:sldIdLst>
        </p14:section>
        <p14:section name="How the models were trained" id="{42c52244-99f9-5838-34ac-0a07002bcc7e}">
          <p14:sldIdLst>
            <p14:sldId id="258"/>
            <p14:sldId id="259"/>
            <p14:sldId id="260"/>
            <p14:sldId id="261"/>
            <p14:sldId id="262"/>
            <p14:sldId id="263"/>
            <p14:sldId id="264"/>
          </p14:sldIdLst>
        </p14:section>
        <p14:section name="India" id="{518ca319-f234-89d5-ed5f-ac2a0928f94e}">
          <p14:sldIdLst>
            <p14:sldId id="265"/>
            <p14:sldId id="266"/>
            <p14:sldId id="267"/>
            <p14:sldId id="268"/>
            <p14:sldId id="269"/>
            <p14:sldId id="270"/>
          </p14:sldIdLst>
        </p14:section>
        <p14:section name="Nepal" id="{230d2c7d-9951-5cff-bf3e-7420a2613b8b}">
          <p14:sldIdLst>
            <p14:sldId id="271"/>
            <p14:sldId id="272"/>
            <p14:sldId id="273"/>
            <p14:sldId id="274"/>
            <p14:sldId id="275"/>
          </p14:sldIdLst>
        </p14:section>
        <p14:section name="Close" id="{3f3cf70f-19df-c7fb-28d1-16fe487308ad}">
          <p14:sldIdLst>
            <p14:sldId id="276"/>
            <p14:sldId id="277"/>
          </p14:sldIdLst>
        </p14:section>
        <p14:section name="Appendix" id="{0f7c406e-9ede-2437-8ce0-4ab5864de396}">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The variable ledger, 64 variables</a:t>
            </a:r>
          </a:p>
        </c:rich>
      </c:tx>
      <c:layout/>
      <c:overlay val="0"/>
    </c:title>
    <c:autoTitleDeleted val="0"/>
    <c:plotArea>
      <c:layout/>
      <c:barChart>
        <c:barDir val="bar"/>
        <c:grouping val="clustered"/>
        <c:varyColors val="0"/>
        <c:ser>
          <c:idx val="0"/>
          <c:order val="0"/>
          <c:tx>
            <c:strRef>
              <c:f>Sheet1!$B$1</c:f>
              <c:strCache>
                <c:ptCount val="1"/>
                <c:pt idx="0">
                  <c:v>Variables</c:v>
                </c:pt>
              </c:strCache>
            </c:strRef>
          </c:tx>
          <c:spPr>
            <a:solidFill>
              <a:srgbClr val="2A78D6"/>
            </a:solidFill>
            <a:effectLst/>
          </c:spPr>
          <c:invertIfNegative val="0"/>
          <c:dLbls>
            <c:numFmt formatCode="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8A8F98"/>
              </a:solidFill>
              <a:effectLst/>
            </c:spPr>
          </c:dPt>
          <c:dPt>
            <c:idx val="2"/>
            <c:invertIfNegative val="0"/>
            <c:bubble3D val="0"/>
            <c:spPr>
              <a:solidFill>
                <a:srgbClr val="8A8F98"/>
              </a:solidFill>
              <a:effectLst/>
            </c:spPr>
          </c:dPt>
          <c:dPt>
            <c:idx val="3"/>
            <c:invertIfNegative val="0"/>
            <c:bubble3D val="0"/>
            <c:spPr>
              <a:solidFill>
                <a:srgbClr val="8A8F98"/>
              </a:solidFill>
              <a:effectLst/>
            </c:spPr>
          </c:dPt>
          <c:dPt>
            <c:idx val="4"/>
            <c:invertIfNegative val="0"/>
            <c:bubble3D val="0"/>
            <c:spPr>
              <a:solidFill>
                <a:srgbClr val="8A8F98"/>
              </a:solidFill>
              <a:effectLst/>
            </c:spPr>
          </c:dPt>
          <c:cat>
            <c:multiLvlStrRef>
              <c:f>Sheet1!$A$2:$A$6</c:f>
              <c:multiLvlStrCache>
                <c:ptCount val="5"/>
                <c:lvl>
                  <c:pt idx="0">
                    <c:v>Used in the models</c:v>
                  </c:pt>
                  <c:pt idx="1">
                    <c:v>Candidate, not used</c:v>
                  </c:pt>
                  <c:pt idx="2">
                    <c:v>Robustness only</c:v>
                  </c:pt>
                  <c:pt idx="3">
                    <c:v>Pending data</c:v>
                  </c:pt>
                  <c:pt idx="4">
                    <c:v>Excluded</c:v>
                  </c:pt>
                </c:lvl>
              </c:multiLvlStrCache>
            </c:multiLvlStrRef>
          </c:cat>
          <c:val>
            <c:numRef>
              <c:f>Sheet1!$B$2:$B$6</c:f>
              <c:numCache>
                <c:formatCode>General</c:formatCode>
                <c:ptCount val="5"/>
                <c:pt idx="0">
                  <c:v>25</c:v>
                </c:pt>
                <c:pt idx="1">
                  <c:v>22</c:v>
                </c:pt>
                <c:pt idx="2">
                  <c:v>8</c:v>
                </c:pt>
                <c:pt idx="3">
                  <c:v>4</c:v>
                </c:pt>
                <c:pt idx="4">
                  <c:v>5</c:v>
                </c:pt>
              </c:numCache>
            </c:numRef>
          </c:val>
        </c:ser>
        <c:dLbls>
          <c:numFmt formatCode="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30"/>
        </c:scaling>
        <c:delete val="1"/>
        <c:axPos val="b"/>
        <c:majorGridlines>
          <c:spPr>
            <a:ln w="6350" cap="flat">
              <a:solidFill>
                <a:srgbClr val="D9DC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Walk forward balanced accuracy, training years</a:t>
            </a:r>
          </a:p>
        </c:rich>
      </c:tx>
      <c:layout/>
      <c:overlay val="0"/>
    </c:title>
    <c:autoTitleDeleted val="0"/>
    <c:plotArea>
      <c:layout/>
      <c:barChart>
        <c:barDir val="bar"/>
        <c:grouping val="clustered"/>
        <c:varyColors val="0"/>
        <c:ser>
          <c:idx val="0"/>
          <c:order val="0"/>
          <c:tx>
            <c:strRef>
              <c:f>Sheet1!$B$1</c:f>
              <c:strCache>
                <c:ptCount val="1"/>
                <c:pt idx="0">
                  <c:v>Balanced accuracy</c:v>
                </c:pt>
              </c:strCache>
            </c:strRef>
          </c:tx>
          <c:spPr>
            <a:solidFill>
              <a:srgbClr val="8A8F98"/>
            </a:solidFill>
            <a:effectLst/>
          </c:spPr>
          <c:invertIfNegative val="0"/>
          <c:dLbls>
            <c:numFmt formatCode="0.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8A8F98"/>
              </a:solidFill>
              <a:effectLst/>
            </c:spPr>
          </c:dPt>
          <c:dPt>
            <c:idx val="1"/>
            <c:invertIfNegative val="0"/>
            <c:bubble3D val="0"/>
            <c:spPr>
              <a:solidFill>
                <a:srgbClr val="8A8F98"/>
              </a:solidFill>
              <a:effectLst/>
            </c:spPr>
          </c:dPt>
          <c:dPt>
            <c:idx val="2"/>
            <c:invertIfNegative val="0"/>
            <c:bubble3D val="0"/>
            <c:spPr>
              <a:solidFill>
                <a:srgbClr val="BFC4CC"/>
              </a:solidFill>
              <a:effectLst/>
            </c:spPr>
          </c:dPt>
          <c:dPt>
            <c:idx val="3"/>
            <c:invertIfNegative val="0"/>
            <c:bubble3D val="0"/>
            <c:spPr>
              <a:solidFill>
                <a:srgbClr val="BFC4CC"/>
              </a:solidFill>
              <a:effectLst/>
            </c:spPr>
          </c:dPt>
          <c:dPt>
            <c:idx val="4"/>
            <c:invertIfNegative val="0"/>
            <c:bubble3D val="0"/>
            <c:spPr>
              <a:solidFill>
                <a:srgbClr val="BFC4CC"/>
              </a:solidFill>
              <a:effectLst/>
            </c:spPr>
          </c:dPt>
          <c:dPt>
            <c:idx val="5"/>
            <c:invertIfNegative val="0"/>
            <c:bubble3D val="0"/>
            <c:spPr>
              <a:solidFill>
                <a:srgbClr val="F4B08E"/>
              </a:solidFill>
              <a:effectLst/>
            </c:spPr>
          </c:dPt>
          <c:dPt>
            <c:idx val="6"/>
            <c:invertIfNegative val="0"/>
            <c:bubble3D val="0"/>
            <c:spPr>
              <a:solidFill>
                <a:srgbClr val="EB6834"/>
              </a:solidFill>
              <a:effectLst/>
            </c:spPr>
          </c:dPt>
          <c:cat>
            <c:multiLvlStrRef>
              <c:f>Sheet1!$A$2:$A$8</c:f>
              <c:multiLvlStrCache>
                <c:ptCount val="7"/>
                <c:lvl>
                  <c:pt idx="0">
                    <c:v>Majority class</c:v>
                  </c:pt>
                  <c:pt idx="1">
                    <c:v>Persistence</c:v>
                  </c:pt>
                  <c:pt idx="2">
                    <c:v>Gen 1: probit, 10 inputs</c:v>
                  </c:pt>
                  <c:pt idx="3">
                    <c:v>Gen 1: Taylor rule probit</c:v>
                  </c:pt>
                  <c:pt idx="4">
                    <c:v>Gen 1: random forest</c:v>
                  </c:pt>
                  <c:pt idx="5">
                    <c:v>Gen 2: with RBI projections</c:v>
                  </c:pt>
                  <c:pt idx="6">
                    <c:v>Gen 3: gaps from the anchor</c:v>
                  </c:pt>
                </c:lvl>
              </c:multiLvlStrCache>
            </c:multiLvlStrRef>
          </c:cat>
          <c:val>
            <c:numRef>
              <c:f>Sheet1!$B$2:$B$8</c:f>
              <c:numCache>
                <c:formatCode>General</c:formatCode>
                <c:ptCount val="7"/>
                <c:pt idx="0">
                  <c:v>0.359</c:v>
                </c:pt>
                <c:pt idx="1">
                  <c:v>0.532</c:v>
                </c:pt>
                <c:pt idx="2">
                  <c:v>0.442</c:v>
                </c:pt>
                <c:pt idx="3">
                  <c:v>0.52</c:v>
                </c:pt>
                <c:pt idx="4">
                  <c:v>0.551</c:v>
                </c:pt>
                <c:pt idx="5">
                  <c:v>0.588</c:v>
                </c:pt>
                <c:pt idx="6">
                  <c:v>0.639</c:v>
                </c:pt>
              </c:numCache>
            </c:numRef>
          </c:val>
        </c:ser>
        <c:dLbls>
          <c:numFmt formatCode="0.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0.8"/>
          <c:min val="0"/>
        </c:scaling>
        <c:delete val="1"/>
        <c:axPos val="b"/>
        <c:majorGridlines>
          <c:spPr>
            <a:ln w="6350" cap="flat">
              <a:solidFill>
                <a:srgbClr val="D9DC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RBI repo rate, percent, month end, 2001 to October 2026</a:t>
            </a:r>
          </a:p>
        </c:rich>
      </c:tx>
      <c:layout/>
      <c:overlay val="0"/>
    </c:title>
    <c:autoTitleDeleted val="0"/>
    <c:plotArea>
      <c:layout/>
      <c:lineChart>
        <c:varyColors val="0"/>
        <c:ser>
          <c:idx val="0"/>
          <c:order val="0"/>
          <c:tx>
            <c:strRef>
              <c:f>Sheet1!$B$1</c:f>
              <c:strCache>
                <c:ptCount val="1"/>
                <c:pt idx="0">
                  <c:v>RBI repo rate, percent</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Sheet1!$A$2:$A$311</c:f>
              <c:multiLvlStrCache>
                <c:ptCount val="310"/>
                <c:lvl>
                  <c:pt idx="0">
                    <c:v>2001</c:v>
                  </c:pt>
                  <c:pt idx="1">
                    <c:v>2001</c:v>
                  </c:pt>
                  <c:pt idx="2">
                    <c:v>2001</c:v>
                  </c:pt>
                  <c:pt idx="3">
                    <c:v>2001</c:v>
                  </c:pt>
                  <c:pt idx="4">
                    <c:v>2001</c:v>
                  </c:pt>
                  <c:pt idx="5">
                    <c:v>2001</c:v>
                  </c:pt>
                  <c:pt idx="6">
                    <c:v>2001</c:v>
                  </c:pt>
                  <c:pt idx="7">
                    <c:v>2001</c:v>
                  </c:pt>
                  <c:pt idx="8">
                    <c:v>2001</c:v>
                  </c:pt>
                  <c:pt idx="9">
                    <c:v>2001</c:v>
                  </c:pt>
                  <c:pt idx="10">
                    <c:v>2001</c:v>
                  </c:pt>
                  <c:pt idx="11">
                    <c:v>2001</c:v>
                  </c:pt>
                  <c:pt idx="12">
                    <c:v>2002</c:v>
                  </c:pt>
                  <c:pt idx="13">
                    <c:v>2002</c:v>
                  </c:pt>
                  <c:pt idx="14">
                    <c:v>2002</c:v>
                  </c:pt>
                  <c:pt idx="15">
                    <c:v>2002</c:v>
                  </c:pt>
                  <c:pt idx="16">
                    <c:v>2002</c:v>
                  </c:pt>
                  <c:pt idx="17">
                    <c:v>2002</c:v>
                  </c:pt>
                  <c:pt idx="18">
                    <c:v>2002</c:v>
                  </c:pt>
                  <c:pt idx="19">
                    <c:v>2002</c:v>
                  </c:pt>
                  <c:pt idx="20">
                    <c:v>2002</c:v>
                  </c:pt>
                  <c:pt idx="21">
                    <c:v>2002</c:v>
                  </c:pt>
                  <c:pt idx="22">
                    <c:v>2002</c:v>
                  </c:pt>
                  <c:pt idx="23">
                    <c:v>2002</c:v>
                  </c:pt>
                  <c:pt idx="24">
                    <c:v>2003</c:v>
                  </c:pt>
                  <c:pt idx="25">
                    <c:v>2003</c:v>
                  </c:pt>
                  <c:pt idx="26">
                    <c:v>2003</c:v>
                  </c:pt>
                  <c:pt idx="27">
                    <c:v>2003</c:v>
                  </c:pt>
                  <c:pt idx="28">
                    <c:v>2003</c:v>
                  </c:pt>
                  <c:pt idx="29">
                    <c:v>2003</c:v>
                  </c:pt>
                  <c:pt idx="30">
                    <c:v>2003</c:v>
                  </c:pt>
                  <c:pt idx="31">
                    <c:v>2003</c:v>
                  </c:pt>
                  <c:pt idx="32">
                    <c:v>2003</c:v>
                  </c:pt>
                  <c:pt idx="33">
                    <c:v>2003</c:v>
                  </c:pt>
                  <c:pt idx="34">
                    <c:v>2003</c:v>
                  </c:pt>
                  <c:pt idx="35">
                    <c:v>2003</c:v>
                  </c:pt>
                  <c:pt idx="36">
                    <c:v>2004</c:v>
                  </c:pt>
                  <c:pt idx="37">
                    <c:v>2004</c:v>
                  </c:pt>
                  <c:pt idx="38">
                    <c:v>2004</c:v>
                  </c:pt>
                  <c:pt idx="39">
                    <c:v>2004</c:v>
                  </c:pt>
                  <c:pt idx="40">
                    <c:v>2004</c:v>
                  </c:pt>
                  <c:pt idx="41">
                    <c:v>2004</c:v>
                  </c:pt>
                  <c:pt idx="42">
                    <c:v>2004</c:v>
                  </c:pt>
                  <c:pt idx="43">
                    <c:v>2004</c:v>
                  </c:pt>
                  <c:pt idx="44">
                    <c:v>2004</c:v>
                  </c:pt>
                  <c:pt idx="45">
                    <c:v>2004</c:v>
                  </c:pt>
                  <c:pt idx="46">
                    <c:v>2004</c:v>
                  </c:pt>
                  <c:pt idx="47">
                    <c:v>2004</c:v>
                  </c:pt>
                  <c:pt idx="48">
                    <c:v>2005</c:v>
                  </c:pt>
                  <c:pt idx="49">
                    <c:v>2005</c:v>
                  </c:pt>
                  <c:pt idx="50">
                    <c:v>2005</c:v>
                  </c:pt>
                  <c:pt idx="51">
                    <c:v>2005</c:v>
                  </c:pt>
                  <c:pt idx="52">
                    <c:v>2005</c:v>
                  </c:pt>
                  <c:pt idx="53">
                    <c:v>2005</c:v>
                  </c:pt>
                  <c:pt idx="54">
                    <c:v>2005</c:v>
                  </c:pt>
                  <c:pt idx="55">
                    <c:v>2005</c:v>
                  </c:pt>
                  <c:pt idx="56">
                    <c:v>2005</c:v>
                  </c:pt>
                  <c:pt idx="57">
                    <c:v>2005</c:v>
                  </c:pt>
                  <c:pt idx="58">
                    <c:v>2005</c:v>
                  </c:pt>
                  <c:pt idx="59">
                    <c:v>2005</c:v>
                  </c:pt>
                  <c:pt idx="60">
                    <c:v>2006</c:v>
                  </c:pt>
                  <c:pt idx="61">
                    <c:v>2006</c:v>
                  </c:pt>
                  <c:pt idx="62">
                    <c:v>2006</c:v>
                  </c:pt>
                  <c:pt idx="63">
                    <c:v>2006</c:v>
                  </c:pt>
                  <c:pt idx="64">
                    <c:v>2006</c:v>
                  </c:pt>
                  <c:pt idx="65">
                    <c:v>2006</c:v>
                  </c:pt>
                  <c:pt idx="66">
                    <c:v>2006</c:v>
                  </c:pt>
                  <c:pt idx="67">
                    <c:v>2006</c:v>
                  </c:pt>
                  <c:pt idx="68">
                    <c:v>2006</c:v>
                  </c:pt>
                  <c:pt idx="69">
                    <c:v>2006</c:v>
                  </c:pt>
                  <c:pt idx="70">
                    <c:v>2006</c:v>
                  </c:pt>
                  <c:pt idx="71">
                    <c:v>2006</c:v>
                  </c:pt>
                  <c:pt idx="72">
                    <c:v>2007</c:v>
                  </c:pt>
                  <c:pt idx="73">
                    <c:v>2007</c:v>
                  </c:pt>
                  <c:pt idx="74">
                    <c:v>2007</c:v>
                  </c:pt>
                  <c:pt idx="75">
                    <c:v>2007</c:v>
                  </c:pt>
                  <c:pt idx="76">
                    <c:v>2007</c:v>
                  </c:pt>
                  <c:pt idx="77">
                    <c:v>2007</c:v>
                  </c:pt>
                  <c:pt idx="78">
                    <c:v>2007</c:v>
                  </c:pt>
                  <c:pt idx="79">
                    <c:v>2007</c:v>
                  </c:pt>
                  <c:pt idx="80">
                    <c:v>2007</c:v>
                  </c:pt>
                  <c:pt idx="81">
                    <c:v>2007</c:v>
                  </c:pt>
                  <c:pt idx="82">
                    <c:v>2007</c:v>
                  </c:pt>
                  <c:pt idx="83">
                    <c:v>2007</c:v>
                  </c:pt>
                  <c:pt idx="84">
                    <c:v>2008</c:v>
                  </c:pt>
                  <c:pt idx="85">
                    <c:v>2008</c:v>
                  </c:pt>
                  <c:pt idx="86">
                    <c:v>2008</c:v>
                  </c:pt>
                  <c:pt idx="87">
                    <c:v>2008</c:v>
                  </c:pt>
                  <c:pt idx="88">
                    <c:v>2008</c:v>
                  </c:pt>
                  <c:pt idx="89">
                    <c:v>2008</c:v>
                  </c:pt>
                  <c:pt idx="90">
                    <c:v>2008</c:v>
                  </c:pt>
                  <c:pt idx="91">
                    <c:v>2008</c:v>
                  </c:pt>
                  <c:pt idx="92">
                    <c:v>2008</c:v>
                  </c:pt>
                  <c:pt idx="93">
                    <c:v>2008</c:v>
                  </c:pt>
                  <c:pt idx="94">
                    <c:v>2008</c:v>
                  </c:pt>
                  <c:pt idx="95">
                    <c:v>2008</c:v>
                  </c:pt>
                  <c:pt idx="96">
                    <c:v>2009</c:v>
                  </c:pt>
                  <c:pt idx="97">
                    <c:v>2009</c:v>
                  </c:pt>
                  <c:pt idx="98">
                    <c:v>2009</c:v>
                  </c:pt>
                  <c:pt idx="99">
                    <c:v>2009</c:v>
                  </c:pt>
                  <c:pt idx="100">
                    <c:v>2009</c:v>
                  </c:pt>
                  <c:pt idx="101">
                    <c:v>2009</c:v>
                  </c:pt>
                  <c:pt idx="102">
                    <c:v>2009</c:v>
                  </c:pt>
                  <c:pt idx="103">
                    <c:v>2009</c:v>
                  </c:pt>
                  <c:pt idx="104">
                    <c:v>2009</c:v>
                  </c:pt>
                  <c:pt idx="105">
                    <c:v>2009</c:v>
                  </c:pt>
                  <c:pt idx="106">
                    <c:v>2009</c:v>
                  </c:pt>
                  <c:pt idx="107">
                    <c:v>2009</c:v>
                  </c:pt>
                  <c:pt idx="108">
                    <c:v>2010</c:v>
                  </c:pt>
                  <c:pt idx="109">
                    <c:v>2010</c:v>
                  </c:pt>
                  <c:pt idx="110">
                    <c:v>2010</c:v>
                  </c:pt>
                  <c:pt idx="111">
                    <c:v>2010</c:v>
                  </c:pt>
                  <c:pt idx="112">
                    <c:v>2010</c:v>
                  </c:pt>
                  <c:pt idx="113">
                    <c:v>2010</c:v>
                  </c:pt>
                  <c:pt idx="114">
                    <c:v>2010</c:v>
                  </c:pt>
                  <c:pt idx="115">
                    <c:v>2010</c:v>
                  </c:pt>
                  <c:pt idx="116">
                    <c:v>2010</c:v>
                  </c:pt>
                  <c:pt idx="117">
                    <c:v>2010</c:v>
                  </c:pt>
                  <c:pt idx="118">
                    <c:v>2010</c:v>
                  </c:pt>
                  <c:pt idx="119">
                    <c:v>2010</c:v>
                  </c:pt>
                  <c:pt idx="120">
                    <c:v>2011</c:v>
                  </c:pt>
                  <c:pt idx="121">
                    <c:v>2011</c:v>
                  </c:pt>
                  <c:pt idx="122">
                    <c:v>2011</c:v>
                  </c:pt>
                  <c:pt idx="123">
                    <c:v>2011</c:v>
                  </c:pt>
                  <c:pt idx="124">
                    <c:v>2011</c:v>
                  </c:pt>
                  <c:pt idx="125">
                    <c:v>2011</c:v>
                  </c:pt>
                  <c:pt idx="126">
                    <c:v>2011</c:v>
                  </c:pt>
                  <c:pt idx="127">
                    <c:v>2011</c:v>
                  </c:pt>
                  <c:pt idx="128">
                    <c:v>2011</c:v>
                  </c:pt>
                  <c:pt idx="129">
                    <c:v>2011</c:v>
                  </c:pt>
                  <c:pt idx="130">
                    <c:v>2011</c:v>
                  </c:pt>
                  <c:pt idx="131">
                    <c:v>2011</c:v>
                  </c:pt>
                  <c:pt idx="132">
                    <c:v>2012</c:v>
                  </c:pt>
                  <c:pt idx="133">
                    <c:v>2012</c:v>
                  </c:pt>
                  <c:pt idx="134">
                    <c:v>2012</c:v>
                  </c:pt>
                  <c:pt idx="135">
                    <c:v>2012</c:v>
                  </c:pt>
                  <c:pt idx="136">
                    <c:v>2012</c:v>
                  </c:pt>
                  <c:pt idx="137">
                    <c:v>2012</c:v>
                  </c:pt>
                  <c:pt idx="138">
                    <c:v>2012</c:v>
                  </c:pt>
                  <c:pt idx="139">
                    <c:v>2012</c:v>
                  </c:pt>
                  <c:pt idx="140">
                    <c:v>2012</c:v>
                  </c:pt>
                  <c:pt idx="141">
                    <c:v>2012</c:v>
                  </c:pt>
                  <c:pt idx="142">
                    <c:v>2012</c:v>
                  </c:pt>
                  <c:pt idx="143">
                    <c:v>2012</c:v>
                  </c:pt>
                  <c:pt idx="144">
                    <c:v>2013</c:v>
                  </c:pt>
                  <c:pt idx="145">
                    <c:v>2013</c:v>
                  </c:pt>
                  <c:pt idx="146">
                    <c:v>2013</c:v>
                  </c:pt>
                  <c:pt idx="147">
                    <c:v>2013</c:v>
                  </c:pt>
                  <c:pt idx="148">
                    <c:v>2013</c:v>
                  </c:pt>
                  <c:pt idx="149">
                    <c:v>2013</c:v>
                  </c:pt>
                  <c:pt idx="150">
                    <c:v>2013</c:v>
                  </c:pt>
                  <c:pt idx="151">
                    <c:v>2013</c:v>
                  </c:pt>
                  <c:pt idx="152">
                    <c:v>2013</c:v>
                  </c:pt>
                  <c:pt idx="153">
                    <c:v>2013</c:v>
                  </c:pt>
                  <c:pt idx="154">
                    <c:v>2013</c:v>
                  </c:pt>
                  <c:pt idx="155">
                    <c:v>2013</c:v>
                  </c:pt>
                  <c:pt idx="156">
                    <c:v>2014</c:v>
                  </c:pt>
                  <c:pt idx="157">
                    <c:v>2014</c:v>
                  </c:pt>
                  <c:pt idx="158">
                    <c:v>2014</c:v>
                  </c:pt>
                  <c:pt idx="159">
                    <c:v>2014</c:v>
                  </c:pt>
                  <c:pt idx="160">
                    <c:v>2014</c:v>
                  </c:pt>
                  <c:pt idx="161">
                    <c:v>2014</c:v>
                  </c:pt>
                  <c:pt idx="162">
                    <c:v>2014</c:v>
                  </c:pt>
                  <c:pt idx="163">
                    <c:v>2014</c:v>
                  </c:pt>
                  <c:pt idx="164">
                    <c:v>2014</c:v>
                  </c:pt>
                  <c:pt idx="165">
                    <c:v>2014</c:v>
                  </c:pt>
                  <c:pt idx="166">
                    <c:v>2014</c:v>
                  </c:pt>
                  <c:pt idx="167">
                    <c:v>2014</c:v>
                  </c:pt>
                  <c:pt idx="168">
                    <c:v>2015</c:v>
                  </c:pt>
                  <c:pt idx="169">
                    <c:v>2015</c:v>
                  </c:pt>
                  <c:pt idx="170">
                    <c:v>2015</c:v>
                  </c:pt>
                  <c:pt idx="171">
                    <c:v>2015</c:v>
                  </c:pt>
                  <c:pt idx="172">
                    <c:v>2015</c:v>
                  </c:pt>
                  <c:pt idx="173">
                    <c:v>2015</c:v>
                  </c:pt>
                  <c:pt idx="174">
                    <c:v>2015</c:v>
                  </c:pt>
                  <c:pt idx="175">
                    <c:v>2015</c:v>
                  </c:pt>
                  <c:pt idx="176">
                    <c:v>2015</c:v>
                  </c:pt>
                  <c:pt idx="177">
                    <c:v>2015</c:v>
                  </c:pt>
                  <c:pt idx="178">
                    <c:v>2015</c:v>
                  </c:pt>
                  <c:pt idx="179">
                    <c:v>2015</c:v>
                  </c:pt>
                  <c:pt idx="180">
                    <c:v>2016</c:v>
                  </c:pt>
                  <c:pt idx="181">
                    <c:v>2016</c:v>
                  </c:pt>
                  <c:pt idx="182">
                    <c:v>2016</c:v>
                  </c:pt>
                  <c:pt idx="183">
                    <c:v>2016</c:v>
                  </c:pt>
                  <c:pt idx="184">
                    <c:v>2016</c:v>
                  </c:pt>
                  <c:pt idx="185">
                    <c:v>2016</c:v>
                  </c:pt>
                  <c:pt idx="186">
                    <c:v>2016</c:v>
                  </c:pt>
                  <c:pt idx="187">
                    <c:v>2016</c:v>
                  </c:pt>
                  <c:pt idx="188">
                    <c:v>2016</c:v>
                  </c:pt>
                  <c:pt idx="189">
                    <c:v>2016</c:v>
                  </c:pt>
                  <c:pt idx="190">
                    <c:v>2016</c:v>
                  </c:pt>
                  <c:pt idx="191">
                    <c:v>2016</c:v>
                  </c:pt>
                  <c:pt idx="192">
                    <c:v>2017</c:v>
                  </c:pt>
                  <c:pt idx="193">
                    <c:v>2017</c:v>
                  </c:pt>
                  <c:pt idx="194">
                    <c:v>2017</c:v>
                  </c:pt>
                  <c:pt idx="195">
                    <c:v>2017</c:v>
                  </c:pt>
                  <c:pt idx="196">
                    <c:v>2017</c:v>
                  </c:pt>
                  <c:pt idx="197">
                    <c:v>2017</c:v>
                  </c:pt>
                  <c:pt idx="198">
                    <c:v>2017</c:v>
                  </c:pt>
                  <c:pt idx="199">
                    <c:v>2017</c:v>
                  </c:pt>
                  <c:pt idx="200">
                    <c:v>2017</c:v>
                  </c:pt>
                  <c:pt idx="201">
                    <c:v>2017</c:v>
                  </c:pt>
                  <c:pt idx="202">
                    <c:v>2017</c:v>
                  </c:pt>
                  <c:pt idx="203">
                    <c:v>2017</c:v>
                  </c:pt>
                  <c:pt idx="204">
                    <c:v>2018</c:v>
                  </c:pt>
                  <c:pt idx="205">
                    <c:v>2018</c:v>
                  </c:pt>
                  <c:pt idx="206">
                    <c:v>2018</c:v>
                  </c:pt>
                  <c:pt idx="207">
                    <c:v>2018</c:v>
                  </c:pt>
                  <c:pt idx="208">
                    <c:v>2018</c:v>
                  </c:pt>
                  <c:pt idx="209">
                    <c:v>2018</c:v>
                  </c:pt>
                  <c:pt idx="210">
                    <c:v>2018</c:v>
                  </c:pt>
                  <c:pt idx="211">
                    <c:v>2018</c:v>
                  </c:pt>
                  <c:pt idx="212">
                    <c:v>2018</c:v>
                  </c:pt>
                  <c:pt idx="213">
                    <c:v>2018</c:v>
                  </c:pt>
                  <c:pt idx="214">
                    <c:v>2018</c:v>
                  </c:pt>
                  <c:pt idx="215">
                    <c:v>2018</c:v>
                  </c:pt>
                  <c:pt idx="216">
                    <c:v>2019</c:v>
                  </c:pt>
                  <c:pt idx="217">
                    <c:v>2019</c:v>
                  </c:pt>
                  <c:pt idx="218">
                    <c:v>2019</c:v>
                  </c:pt>
                  <c:pt idx="219">
                    <c:v>2019</c:v>
                  </c:pt>
                  <c:pt idx="220">
                    <c:v>2019</c:v>
                  </c:pt>
                  <c:pt idx="221">
                    <c:v>2019</c:v>
                  </c:pt>
                  <c:pt idx="222">
                    <c:v>2019</c:v>
                  </c:pt>
                  <c:pt idx="223">
                    <c:v>2019</c:v>
                  </c:pt>
                  <c:pt idx="224">
                    <c:v>2019</c:v>
                  </c:pt>
                  <c:pt idx="225">
                    <c:v>2019</c:v>
                  </c:pt>
                  <c:pt idx="226">
                    <c:v>2019</c:v>
                  </c:pt>
                  <c:pt idx="227">
                    <c:v>2019</c:v>
                  </c:pt>
                  <c:pt idx="228">
                    <c:v>2020</c:v>
                  </c:pt>
                  <c:pt idx="229">
                    <c:v>2020</c:v>
                  </c:pt>
                  <c:pt idx="230">
                    <c:v>2020</c:v>
                  </c:pt>
                  <c:pt idx="231">
                    <c:v>2020</c:v>
                  </c:pt>
                  <c:pt idx="232">
                    <c:v>2020</c:v>
                  </c:pt>
                  <c:pt idx="233">
                    <c:v>2020</c:v>
                  </c:pt>
                  <c:pt idx="234">
                    <c:v>2020</c:v>
                  </c:pt>
                  <c:pt idx="235">
                    <c:v>2020</c:v>
                  </c:pt>
                  <c:pt idx="236">
                    <c:v>2020</c:v>
                  </c:pt>
                  <c:pt idx="237">
                    <c:v>2020</c:v>
                  </c:pt>
                  <c:pt idx="238">
                    <c:v>2020</c:v>
                  </c:pt>
                  <c:pt idx="239">
                    <c:v>2020</c:v>
                  </c:pt>
                  <c:pt idx="240">
                    <c:v>2021</c:v>
                  </c:pt>
                  <c:pt idx="241">
                    <c:v>2021</c:v>
                  </c:pt>
                  <c:pt idx="242">
                    <c:v>2021</c:v>
                  </c:pt>
                  <c:pt idx="243">
                    <c:v>2021</c:v>
                  </c:pt>
                  <c:pt idx="244">
                    <c:v>2021</c:v>
                  </c:pt>
                  <c:pt idx="245">
                    <c:v>2021</c:v>
                  </c:pt>
                  <c:pt idx="246">
                    <c:v>2021</c:v>
                  </c:pt>
                  <c:pt idx="247">
                    <c:v>2021</c:v>
                  </c:pt>
                  <c:pt idx="248">
                    <c:v>2021</c:v>
                  </c:pt>
                  <c:pt idx="249">
                    <c:v>2021</c:v>
                  </c:pt>
                  <c:pt idx="250">
                    <c:v>2021</c:v>
                  </c:pt>
                  <c:pt idx="251">
                    <c:v>2021</c:v>
                  </c:pt>
                  <c:pt idx="252">
                    <c:v>2022</c:v>
                  </c:pt>
                  <c:pt idx="253">
                    <c:v>2022</c:v>
                  </c:pt>
                  <c:pt idx="254">
                    <c:v>2022</c:v>
                  </c:pt>
                  <c:pt idx="255">
                    <c:v>2022</c:v>
                  </c:pt>
                  <c:pt idx="256">
                    <c:v>2022</c:v>
                  </c:pt>
                  <c:pt idx="257">
                    <c:v>2022</c:v>
                  </c:pt>
                  <c:pt idx="258">
                    <c:v>2022</c:v>
                  </c:pt>
                  <c:pt idx="259">
                    <c:v>2022</c:v>
                  </c:pt>
                  <c:pt idx="260">
                    <c:v>2022</c:v>
                  </c:pt>
                  <c:pt idx="261">
                    <c:v>2022</c:v>
                  </c:pt>
                  <c:pt idx="262">
                    <c:v>2022</c:v>
                  </c:pt>
                  <c:pt idx="263">
                    <c:v>2022</c:v>
                  </c:pt>
                  <c:pt idx="264">
                    <c:v>2023</c:v>
                  </c:pt>
                  <c:pt idx="265">
                    <c:v>2023</c:v>
                  </c:pt>
                  <c:pt idx="266">
                    <c:v>2023</c:v>
                  </c:pt>
                  <c:pt idx="267">
                    <c:v>2023</c:v>
                  </c:pt>
                  <c:pt idx="268">
                    <c:v>2023</c:v>
                  </c:pt>
                  <c:pt idx="269">
                    <c:v>2023</c:v>
                  </c:pt>
                  <c:pt idx="270">
                    <c:v>2023</c:v>
                  </c:pt>
                  <c:pt idx="271">
                    <c:v>2023</c:v>
                  </c:pt>
                  <c:pt idx="272">
                    <c:v>2023</c:v>
                  </c:pt>
                  <c:pt idx="273">
                    <c:v>2023</c:v>
                  </c:pt>
                  <c:pt idx="274">
                    <c:v>2023</c:v>
                  </c:pt>
                  <c:pt idx="275">
                    <c:v>2023</c:v>
                  </c:pt>
                  <c:pt idx="276">
                    <c:v>2024</c:v>
                  </c:pt>
                  <c:pt idx="277">
                    <c:v>2024</c:v>
                  </c:pt>
                  <c:pt idx="278">
                    <c:v>2024</c:v>
                  </c:pt>
                  <c:pt idx="279">
                    <c:v>2024</c:v>
                  </c:pt>
                  <c:pt idx="280">
                    <c:v>2024</c:v>
                  </c:pt>
                  <c:pt idx="281">
                    <c:v>2024</c:v>
                  </c:pt>
                  <c:pt idx="282">
                    <c:v>2024</c:v>
                  </c:pt>
                  <c:pt idx="283">
                    <c:v>2024</c:v>
                  </c:pt>
                  <c:pt idx="284">
                    <c:v>2024</c:v>
                  </c:pt>
                  <c:pt idx="285">
                    <c:v>2024</c:v>
                  </c:pt>
                  <c:pt idx="286">
                    <c:v>2024</c:v>
                  </c:pt>
                  <c:pt idx="287">
                    <c:v>2024</c:v>
                  </c:pt>
                  <c:pt idx="288">
                    <c:v>2025</c:v>
                  </c:pt>
                  <c:pt idx="289">
                    <c:v>2025</c:v>
                  </c:pt>
                  <c:pt idx="290">
                    <c:v>2025</c:v>
                  </c:pt>
                  <c:pt idx="291">
                    <c:v>2025</c:v>
                  </c:pt>
                  <c:pt idx="292">
                    <c:v>2025</c:v>
                  </c:pt>
                  <c:pt idx="293">
                    <c:v>2025</c:v>
                  </c:pt>
                  <c:pt idx="294">
                    <c:v>2025</c:v>
                  </c:pt>
                  <c:pt idx="295">
                    <c:v>2025</c:v>
                  </c:pt>
                  <c:pt idx="296">
                    <c:v>2025</c:v>
                  </c:pt>
                  <c:pt idx="297">
                    <c:v>2025</c:v>
                  </c:pt>
                  <c:pt idx="298">
                    <c:v>2025</c:v>
                  </c:pt>
                  <c:pt idx="299">
                    <c:v>2025</c:v>
                  </c:pt>
                  <c:pt idx="300">
                    <c:v>2026</c:v>
                  </c:pt>
                  <c:pt idx="301">
                    <c:v>2026</c:v>
                  </c:pt>
                  <c:pt idx="302">
                    <c:v>2026</c:v>
                  </c:pt>
                  <c:pt idx="303">
                    <c:v>2026</c:v>
                  </c:pt>
                  <c:pt idx="304">
                    <c:v>2026</c:v>
                  </c:pt>
                  <c:pt idx="305">
                    <c:v>2026</c:v>
                  </c:pt>
                  <c:pt idx="306">
                    <c:v>2026</c:v>
                  </c:pt>
                  <c:pt idx="307">
                    <c:v>2026</c:v>
                  </c:pt>
                  <c:pt idx="308">
                    <c:v>2026</c:v>
                  </c:pt>
                  <c:pt idx="309">
                    <c:v>2026</c:v>
                  </c:pt>
                </c:lvl>
              </c:multiLvlStrCache>
            </c:multiLvlStrRef>
          </c:cat>
          <c:val>
            <c:numRef>
              <c:f>Sheet1!$B$2:$B$311</c:f>
              <c:numCache>
                <c:formatCode>General</c:formatCode>
                <c:ptCount val="310"/>
                <c:pt idx="0">
                  <c:v>8</c:v>
                </c:pt>
                <c:pt idx="1">
                  <c:v>7.5</c:v>
                </c:pt>
                <c:pt idx="2">
                  <c:v>7</c:v>
                </c:pt>
                <c:pt idx="3">
                  <c:v>8.75</c:v>
                </c:pt>
                <c:pt idx="4">
                  <c:v>8.75</c:v>
                </c:pt>
                <c:pt idx="5">
                  <c:v>8.5</c:v>
                </c:pt>
                <c:pt idx="6">
                  <c:v>8.5</c:v>
                </c:pt>
                <c:pt idx="7">
                  <c:v>8.5</c:v>
                </c:pt>
                <c:pt idx="8">
                  <c:v>8.5</c:v>
                </c:pt>
                <c:pt idx="9">
                  <c:v>8.5</c:v>
                </c:pt>
                <c:pt idx="10">
                  <c:v>8.5</c:v>
                </c:pt>
                <c:pt idx="11">
                  <c:v>8.5</c:v>
                </c:pt>
                <c:pt idx="12">
                  <c:v>8.5</c:v>
                </c:pt>
                <c:pt idx="13">
                  <c:v>8.5</c:v>
                </c:pt>
                <c:pt idx="14">
                  <c:v>8</c:v>
                </c:pt>
                <c:pt idx="15">
                  <c:v>8</c:v>
                </c:pt>
                <c:pt idx="16">
                  <c:v>8</c:v>
                </c:pt>
                <c:pt idx="17">
                  <c:v>8</c:v>
                </c:pt>
                <c:pt idx="18">
                  <c:v>8</c:v>
                </c:pt>
                <c:pt idx="19">
                  <c:v>8</c:v>
                </c:pt>
                <c:pt idx="20">
                  <c:v>8</c:v>
                </c:pt>
                <c:pt idx="21">
                  <c:v>8</c:v>
                </c:pt>
                <c:pt idx="22">
                  <c:v>7.5</c:v>
                </c:pt>
                <c:pt idx="23">
                  <c:v>7.5</c:v>
                </c:pt>
                <c:pt idx="24">
                  <c:v>7.5</c:v>
                </c:pt>
                <c:pt idx="25">
                  <c:v>7.5</c:v>
                </c:pt>
                <c:pt idx="26">
                  <c:v>7</c:v>
                </c:pt>
                <c:pt idx="27">
                  <c:v>7</c:v>
                </c:pt>
                <c:pt idx="28">
                  <c:v>7</c:v>
                </c:pt>
                <c:pt idx="29">
                  <c:v>7</c:v>
                </c:pt>
                <c:pt idx="30">
                  <c:v>7</c:v>
                </c:pt>
                <c:pt idx="31">
                  <c:v>7</c:v>
                </c:pt>
                <c:pt idx="32">
                  <c:v>7</c:v>
                </c:pt>
                <c:pt idx="33">
                  <c:v>7</c:v>
                </c:pt>
                <c:pt idx="34">
                  <c:v>7</c:v>
                </c:pt>
                <c:pt idx="35">
                  <c:v>7</c:v>
                </c:pt>
                <c:pt idx="36">
                  <c:v>7</c:v>
                </c:pt>
                <c:pt idx="37">
                  <c:v>7</c:v>
                </c:pt>
                <c:pt idx="38">
                  <c:v>6</c:v>
                </c:pt>
                <c:pt idx="39">
                  <c:v>6</c:v>
                </c:pt>
                <c:pt idx="40">
                  <c:v>6</c:v>
                </c:pt>
                <c:pt idx="41">
                  <c:v>6</c:v>
                </c:pt>
                <c:pt idx="42">
                  <c:v>6</c:v>
                </c:pt>
                <c:pt idx="43">
                  <c:v>6</c:v>
                </c:pt>
                <c:pt idx="44">
                  <c:v>6</c:v>
                </c:pt>
                <c:pt idx="45">
                  <c:v>6</c:v>
                </c:pt>
                <c:pt idx="46">
                  <c:v>6</c:v>
                </c:pt>
                <c:pt idx="47">
                  <c:v>6</c:v>
                </c:pt>
                <c:pt idx="48">
                  <c:v>6</c:v>
                </c:pt>
                <c:pt idx="49">
                  <c:v>6</c:v>
                </c:pt>
                <c:pt idx="50">
                  <c:v>6</c:v>
                </c:pt>
                <c:pt idx="51">
                  <c:v>6</c:v>
                </c:pt>
                <c:pt idx="52">
                  <c:v>6</c:v>
                </c:pt>
                <c:pt idx="53">
                  <c:v>6</c:v>
                </c:pt>
                <c:pt idx="54">
                  <c:v>6</c:v>
                </c:pt>
                <c:pt idx="55">
                  <c:v>6</c:v>
                </c:pt>
                <c:pt idx="56">
                  <c:v>6</c:v>
                </c:pt>
                <c:pt idx="57">
                  <c:v>6.25</c:v>
                </c:pt>
                <c:pt idx="58">
                  <c:v>6.25</c:v>
                </c:pt>
                <c:pt idx="59">
                  <c:v>6.25</c:v>
                </c:pt>
                <c:pt idx="60">
                  <c:v>6.5</c:v>
                </c:pt>
                <c:pt idx="61">
                  <c:v>6.5</c:v>
                </c:pt>
                <c:pt idx="62">
                  <c:v>6.5</c:v>
                </c:pt>
                <c:pt idx="63">
                  <c:v>6.5</c:v>
                </c:pt>
                <c:pt idx="64">
                  <c:v>6.5</c:v>
                </c:pt>
                <c:pt idx="65">
                  <c:v>6.75</c:v>
                </c:pt>
                <c:pt idx="66">
                  <c:v>7</c:v>
                </c:pt>
                <c:pt idx="67">
                  <c:v>7</c:v>
                </c:pt>
                <c:pt idx="68">
                  <c:v>7</c:v>
                </c:pt>
                <c:pt idx="69">
                  <c:v>7.25</c:v>
                </c:pt>
                <c:pt idx="70">
                  <c:v>7.25</c:v>
                </c:pt>
                <c:pt idx="71">
                  <c:v>7.25</c:v>
                </c:pt>
                <c:pt idx="72">
                  <c:v>7.5</c:v>
                </c:pt>
                <c:pt idx="73">
                  <c:v>7.5</c:v>
                </c:pt>
                <c:pt idx="74">
                  <c:v>7.75</c:v>
                </c:pt>
                <c:pt idx="75">
                  <c:v>7.75</c:v>
                </c:pt>
                <c:pt idx="76">
                  <c:v>7.75</c:v>
                </c:pt>
                <c:pt idx="77">
                  <c:v>7.75</c:v>
                </c:pt>
                <c:pt idx="78">
                  <c:v>7.75</c:v>
                </c:pt>
                <c:pt idx="79">
                  <c:v>7.75</c:v>
                </c:pt>
                <c:pt idx="80">
                  <c:v>7.75</c:v>
                </c:pt>
                <c:pt idx="81">
                  <c:v>7.75</c:v>
                </c:pt>
                <c:pt idx="82">
                  <c:v>7.75</c:v>
                </c:pt>
                <c:pt idx="83">
                  <c:v>7.75</c:v>
                </c:pt>
                <c:pt idx="84">
                  <c:v>7.75</c:v>
                </c:pt>
                <c:pt idx="85">
                  <c:v>7.75</c:v>
                </c:pt>
                <c:pt idx="86">
                  <c:v>7.75</c:v>
                </c:pt>
                <c:pt idx="87">
                  <c:v>7.75</c:v>
                </c:pt>
                <c:pt idx="88">
                  <c:v>7.75</c:v>
                </c:pt>
                <c:pt idx="89">
                  <c:v>8.5</c:v>
                </c:pt>
                <c:pt idx="90">
                  <c:v>9</c:v>
                </c:pt>
                <c:pt idx="91">
                  <c:v>9</c:v>
                </c:pt>
                <c:pt idx="92">
                  <c:v>9</c:v>
                </c:pt>
                <c:pt idx="93">
                  <c:v>8</c:v>
                </c:pt>
                <c:pt idx="94">
                  <c:v>7.5</c:v>
                </c:pt>
                <c:pt idx="95">
                  <c:v>6.5</c:v>
                </c:pt>
                <c:pt idx="96">
                  <c:v>5.5</c:v>
                </c:pt>
                <c:pt idx="97">
                  <c:v>5.5</c:v>
                </c:pt>
                <c:pt idx="98">
                  <c:v>5</c:v>
                </c:pt>
                <c:pt idx="99">
                  <c:v>4.75</c:v>
                </c:pt>
                <c:pt idx="100">
                  <c:v>4.75</c:v>
                </c:pt>
                <c:pt idx="101">
                  <c:v>4.75</c:v>
                </c:pt>
                <c:pt idx="102">
                  <c:v>4.75</c:v>
                </c:pt>
                <c:pt idx="103">
                  <c:v>4.75</c:v>
                </c:pt>
                <c:pt idx="104">
                  <c:v>4.75</c:v>
                </c:pt>
                <c:pt idx="105">
                  <c:v>4.75</c:v>
                </c:pt>
                <c:pt idx="106">
                  <c:v>4.75</c:v>
                </c:pt>
                <c:pt idx="107">
                  <c:v>4.75</c:v>
                </c:pt>
                <c:pt idx="108">
                  <c:v>4.75</c:v>
                </c:pt>
                <c:pt idx="109">
                  <c:v>4.75</c:v>
                </c:pt>
                <c:pt idx="110">
                  <c:v>5</c:v>
                </c:pt>
                <c:pt idx="111">
                  <c:v>5.25</c:v>
                </c:pt>
                <c:pt idx="112">
                  <c:v>5.25</c:v>
                </c:pt>
                <c:pt idx="113">
                  <c:v>5.25</c:v>
                </c:pt>
                <c:pt idx="114">
                  <c:v>5.75</c:v>
                </c:pt>
                <c:pt idx="115">
                  <c:v>5.75</c:v>
                </c:pt>
                <c:pt idx="116">
                  <c:v>6</c:v>
                </c:pt>
                <c:pt idx="117">
                  <c:v>6</c:v>
                </c:pt>
                <c:pt idx="118">
                  <c:v>6.25</c:v>
                </c:pt>
                <c:pt idx="119">
                  <c:v>6.25</c:v>
                </c:pt>
                <c:pt idx="120">
                  <c:v>6.5</c:v>
                </c:pt>
                <c:pt idx="121">
                  <c:v>6.5</c:v>
                </c:pt>
                <c:pt idx="122">
                  <c:v>6.75</c:v>
                </c:pt>
                <c:pt idx="123">
                  <c:v>6.75</c:v>
                </c:pt>
                <c:pt idx="124">
                  <c:v>7.25</c:v>
                </c:pt>
                <c:pt idx="125">
                  <c:v>7.5</c:v>
                </c:pt>
                <c:pt idx="126">
                  <c:v>8</c:v>
                </c:pt>
                <c:pt idx="127">
                  <c:v>8</c:v>
                </c:pt>
                <c:pt idx="128">
                  <c:v>8.25</c:v>
                </c:pt>
                <c:pt idx="129">
                  <c:v>8.5</c:v>
                </c:pt>
                <c:pt idx="130">
                  <c:v>8.5</c:v>
                </c:pt>
                <c:pt idx="131">
                  <c:v>8.5</c:v>
                </c:pt>
                <c:pt idx="132">
                  <c:v>8.5</c:v>
                </c:pt>
                <c:pt idx="133">
                  <c:v>8.5</c:v>
                </c:pt>
                <c:pt idx="134">
                  <c:v>8.5</c:v>
                </c:pt>
                <c:pt idx="135">
                  <c:v>8</c:v>
                </c:pt>
                <c:pt idx="136">
                  <c:v>8</c:v>
                </c:pt>
                <c:pt idx="137">
                  <c:v>8</c:v>
                </c:pt>
                <c:pt idx="138">
                  <c:v>8</c:v>
                </c:pt>
                <c:pt idx="139">
                  <c:v>8</c:v>
                </c:pt>
                <c:pt idx="140">
                  <c:v>8</c:v>
                </c:pt>
                <c:pt idx="141">
                  <c:v>8</c:v>
                </c:pt>
                <c:pt idx="142">
                  <c:v>8</c:v>
                </c:pt>
                <c:pt idx="143">
                  <c:v>8</c:v>
                </c:pt>
                <c:pt idx="144">
                  <c:v>7.75</c:v>
                </c:pt>
                <c:pt idx="145">
                  <c:v>7.75</c:v>
                </c:pt>
                <c:pt idx="146">
                  <c:v>7.5</c:v>
                </c:pt>
                <c:pt idx="147">
                  <c:v>7.5</c:v>
                </c:pt>
                <c:pt idx="148">
                  <c:v>7.25</c:v>
                </c:pt>
                <c:pt idx="149">
                  <c:v>7.25</c:v>
                </c:pt>
                <c:pt idx="150">
                  <c:v>7.25</c:v>
                </c:pt>
                <c:pt idx="151">
                  <c:v>7.25</c:v>
                </c:pt>
                <c:pt idx="152">
                  <c:v>7.5</c:v>
                </c:pt>
                <c:pt idx="153">
                  <c:v>7.75</c:v>
                </c:pt>
                <c:pt idx="154">
                  <c:v>7.75</c:v>
                </c:pt>
                <c:pt idx="155">
                  <c:v>7.75</c:v>
                </c:pt>
                <c:pt idx="156">
                  <c:v>8</c:v>
                </c:pt>
                <c:pt idx="157">
                  <c:v>8</c:v>
                </c:pt>
                <c:pt idx="158">
                  <c:v>8</c:v>
                </c:pt>
                <c:pt idx="159">
                  <c:v>8</c:v>
                </c:pt>
                <c:pt idx="160">
                  <c:v>8</c:v>
                </c:pt>
                <c:pt idx="161">
                  <c:v>8</c:v>
                </c:pt>
                <c:pt idx="162">
                  <c:v>8</c:v>
                </c:pt>
                <c:pt idx="163">
                  <c:v>8</c:v>
                </c:pt>
                <c:pt idx="164">
                  <c:v>8</c:v>
                </c:pt>
                <c:pt idx="165">
                  <c:v>8</c:v>
                </c:pt>
                <c:pt idx="166">
                  <c:v>8</c:v>
                </c:pt>
                <c:pt idx="167">
                  <c:v>8</c:v>
                </c:pt>
                <c:pt idx="168">
                  <c:v>7.75</c:v>
                </c:pt>
                <c:pt idx="169">
                  <c:v>7.75</c:v>
                </c:pt>
                <c:pt idx="170">
                  <c:v>7.5</c:v>
                </c:pt>
                <c:pt idx="171">
                  <c:v>7.5</c:v>
                </c:pt>
                <c:pt idx="172">
                  <c:v>7.5</c:v>
                </c:pt>
                <c:pt idx="173">
                  <c:v>7.25</c:v>
                </c:pt>
                <c:pt idx="174">
                  <c:v>7.25</c:v>
                </c:pt>
                <c:pt idx="175">
                  <c:v>7.25</c:v>
                </c:pt>
                <c:pt idx="176">
                  <c:v>6.75</c:v>
                </c:pt>
                <c:pt idx="177">
                  <c:v>6.75</c:v>
                </c:pt>
                <c:pt idx="178">
                  <c:v>6.75</c:v>
                </c:pt>
                <c:pt idx="179">
                  <c:v>6.75</c:v>
                </c:pt>
                <c:pt idx="180">
                  <c:v>6.75</c:v>
                </c:pt>
                <c:pt idx="181">
                  <c:v>6.75</c:v>
                </c:pt>
                <c:pt idx="182">
                  <c:v>6.75</c:v>
                </c:pt>
                <c:pt idx="183">
                  <c:v>6.5</c:v>
                </c:pt>
                <c:pt idx="184">
                  <c:v>6.5</c:v>
                </c:pt>
                <c:pt idx="185">
                  <c:v>6.5</c:v>
                </c:pt>
                <c:pt idx="186">
                  <c:v>6.5</c:v>
                </c:pt>
                <c:pt idx="187">
                  <c:v>6.5</c:v>
                </c:pt>
                <c:pt idx="188">
                  <c:v>6.5</c:v>
                </c:pt>
                <c:pt idx="189">
                  <c:v>6.25</c:v>
                </c:pt>
                <c:pt idx="190">
                  <c:v>6.25</c:v>
                </c:pt>
                <c:pt idx="191">
                  <c:v>6.25</c:v>
                </c:pt>
                <c:pt idx="192">
                  <c:v>6.25</c:v>
                </c:pt>
                <c:pt idx="193">
                  <c:v>6.25</c:v>
                </c:pt>
                <c:pt idx="194">
                  <c:v>6.25</c:v>
                </c:pt>
                <c:pt idx="195">
                  <c:v>6.25</c:v>
                </c:pt>
                <c:pt idx="196">
                  <c:v>6.25</c:v>
                </c:pt>
                <c:pt idx="197">
                  <c:v>6.25</c:v>
                </c:pt>
                <c:pt idx="198">
                  <c:v>6.25</c:v>
                </c:pt>
                <c:pt idx="199">
                  <c:v>6</c:v>
                </c:pt>
                <c:pt idx="200">
                  <c:v>6</c:v>
                </c:pt>
                <c:pt idx="201">
                  <c:v>6</c:v>
                </c:pt>
                <c:pt idx="202">
                  <c:v>6</c:v>
                </c:pt>
                <c:pt idx="203">
                  <c:v>6</c:v>
                </c:pt>
                <c:pt idx="204">
                  <c:v>6</c:v>
                </c:pt>
                <c:pt idx="205">
                  <c:v>6</c:v>
                </c:pt>
                <c:pt idx="206">
                  <c:v>6</c:v>
                </c:pt>
                <c:pt idx="207">
                  <c:v>6</c:v>
                </c:pt>
                <c:pt idx="208">
                  <c:v>6</c:v>
                </c:pt>
                <c:pt idx="209">
                  <c:v>6.25</c:v>
                </c:pt>
                <c:pt idx="210">
                  <c:v>6.25</c:v>
                </c:pt>
                <c:pt idx="211">
                  <c:v>6.5</c:v>
                </c:pt>
                <c:pt idx="212">
                  <c:v>6.5</c:v>
                </c:pt>
                <c:pt idx="213">
                  <c:v>6.5</c:v>
                </c:pt>
                <c:pt idx="214">
                  <c:v>6.5</c:v>
                </c:pt>
                <c:pt idx="215">
                  <c:v>6.5</c:v>
                </c:pt>
                <c:pt idx="216">
                  <c:v>6.5</c:v>
                </c:pt>
                <c:pt idx="217">
                  <c:v>6.25</c:v>
                </c:pt>
                <c:pt idx="218">
                  <c:v>6.25</c:v>
                </c:pt>
                <c:pt idx="219">
                  <c:v>6</c:v>
                </c:pt>
                <c:pt idx="220">
                  <c:v>6</c:v>
                </c:pt>
                <c:pt idx="221">
                  <c:v>5.75</c:v>
                </c:pt>
                <c:pt idx="222">
                  <c:v>5.75</c:v>
                </c:pt>
                <c:pt idx="223">
                  <c:v>5.4</c:v>
                </c:pt>
                <c:pt idx="224">
                  <c:v>5.4</c:v>
                </c:pt>
                <c:pt idx="225">
                  <c:v>5.15</c:v>
                </c:pt>
                <c:pt idx="226">
                  <c:v>5.15</c:v>
                </c:pt>
                <c:pt idx="227">
                  <c:v>5.15</c:v>
                </c:pt>
                <c:pt idx="228">
                  <c:v>5.15</c:v>
                </c:pt>
                <c:pt idx="229">
                  <c:v>5.15</c:v>
                </c:pt>
                <c:pt idx="230">
                  <c:v>4.4</c:v>
                </c:pt>
                <c:pt idx="231">
                  <c:v>4.4</c:v>
                </c:pt>
                <c:pt idx="232">
                  <c:v>4</c:v>
                </c:pt>
                <c:pt idx="233">
                  <c:v>4</c:v>
                </c:pt>
                <c:pt idx="234">
                  <c:v>4</c:v>
                </c:pt>
                <c:pt idx="235">
                  <c:v>4</c:v>
                </c:pt>
                <c:pt idx="236">
                  <c:v>4</c:v>
                </c:pt>
                <c:pt idx="237">
                  <c:v>4</c:v>
                </c:pt>
                <c:pt idx="238">
                  <c:v>4</c:v>
                </c:pt>
                <c:pt idx="239">
                  <c:v>4</c:v>
                </c:pt>
                <c:pt idx="240">
                  <c:v>4</c:v>
                </c:pt>
                <c:pt idx="241">
                  <c:v>4</c:v>
                </c:pt>
                <c:pt idx="242">
                  <c:v>4</c:v>
                </c:pt>
                <c:pt idx="243">
                  <c:v>4</c:v>
                </c:pt>
                <c:pt idx="244">
                  <c:v>4</c:v>
                </c:pt>
                <c:pt idx="245">
                  <c:v>4</c:v>
                </c:pt>
                <c:pt idx="246">
                  <c:v>4</c:v>
                </c:pt>
                <c:pt idx="247">
                  <c:v>4</c:v>
                </c:pt>
                <c:pt idx="248">
                  <c:v>4</c:v>
                </c:pt>
                <c:pt idx="249">
                  <c:v>4</c:v>
                </c:pt>
                <c:pt idx="250">
                  <c:v>4</c:v>
                </c:pt>
                <c:pt idx="251">
                  <c:v>4</c:v>
                </c:pt>
                <c:pt idx="252">
                  <c:v>4</c:v>
                </c:pt>
                <c:pt idx="253">
                  <c:v>4</c:v>
                </c:pt>
                <c:pt idx="254">
                  <c:v>4</c:v>
                </c:pt>
                <c:pt idx="255">
                  <c:v>4</c:v>
                </c:pt>
                <c:pt idx="256">
                  <c:v>4.4</c:v>
                </c:pt>
                <c:pt idx="257">
                  <c:v>4.9</c:v>
                </c:pt>
                <c:pt idx="258">
                  <c:v>4.9</c:v>
                </c:pt>
                <c:pt idx="259">
                  <c:v>5.4</c:v>
                </c:pt>
                <c:pt idx="260">
                  <c:v>5.9</c:v>
                </c:pt>
                <c:pt idx="261">
                  <c:v>5.9</c:v>
                </c:pt>
                <c:pt idx="262">
                  <c:v>5.9</c:v>
                </c:pt>
                <c:pt idx="263">
                  <c:v>6.25</c:v>
                </c:pt>
                <c:pt idx="264">
                  <c:v>6.25</c:v>
                </c:pt>
                <c:pt idx="265">
                  <c:v>6.5</c:v>
                </c:pt>
                <c:pt idx="266">
                  <c:v>6.5</c:v>
                </c:pt>
                <c:pt idx="267">
                  <c:v>6.5</c:v>
                </c:pt>
                <c:pt idx="268">
                  <c:v>6.5</c:v>
                </c:pt>
                <c:pt idx="269">
                  <c:v>6.5</c:v>
                </c:pt>
                <c:pt idx="270">
                  <c:v>6.5</c:v>
                </c:pt>
                <c:pt idx="271">
                  <c:v>6.5</c:v>
                </c:pt>
                <c:pt idx="272">
                  <c:v>6.5</c:v>
                </c:pt>
                <c:pt idx="273">
                  <c:v>6.5</c:v>
                </c:pt>
                <c:pt idx="274">
                  <c:v>6.5</c:v>
                </c:pt>
                <c:pt idx="275">
                  <c:v>6.5</c:v>
                </c:pt>
                <c:pt idx="276">
                  <c:v>6.5</c:v>
                </c:pt>
                <c:pt idx="277">
                  <c:v>6.5</c:v>
                </c:pt>
                <c:pt idx="278">
                  <c:v>6.5</c:v>
                </c:pt>
                <c:pt idx="279">
                  <c:v>6.5</c:v>
                </c:pt>
                <c:pt idx="280">
                  <c:v>6.5</c:v>
                </c:pt>
                <c:pt idx="281">
                  <c:v>6.5</c:v>
                </c:pt>
                <c:pt idx="282">
                  <c:v>6.5</c:v>
                </c:pt>
                <c:pt idx="283">
                  <c:v>6.5</c:v>
                </c:pt>
                <c:pt idx="284">
                  <c:v>6.5</c:v>
                </c:pt>
                <c:pt idx="285">
                  <c:v>6.5</c:v>
                </c:pt>
                <c:pt idx="286">
                  <c:v>6.5</c:v>
                </c:pt>
                <c:pt idx="287">
                  <c:v>6.5</c:v>
                </c:pt>
                <c:pt idx="288">
                  <c:v>6.5</c:v>
                </c:pt>
                <c:pt idx="289">
                  <c:v>6.25</c:v>
                </c:pt>
                <c:pt idx="290">
                  <c:v>6.25</c:v>
                </c:pt>
                <c:pt idx="291">
                  <c:v>6</c:v>
                </c:pt>
                <c:pt idx="292">
                  <c:v>6</c:v>
                </c:pt>
                <c:pt idx="293">
                  <c:v>5.5</c:v>
                </c:pt>
                <c:pt idx="294">
                  <c:v>5.5</c:v>
                </c:pt>
                <c:pt idx="295">
                  <c:v>5.5</c:v>
                </c:pt>
                <c:pt idx="296">
                  <c:v>5.5</c:v>
                </c:pt>
                <c:pt idx="297">
                  <c:v>5.5</c:v>
                </c:pt>
                <c:pt idx="298">
                  <c:v>5.5</c:v>
                </c:pt>
                <c:pt idx="299">
                  <c:v>5.25</c:v>
                </c:pt>
                <c:pt idx="300">
                  <c:v>5.25</c:v>
                </c:pt>
                <c:pt idx="301">
                  <c:v>5.25</c:v>
                </c:pt>
                <c:pt idx="302">
                  <c:v>5.25</c:v>
                </c:pt>
                <c:pt idx="303">
                  <c:v>5.25</c:v>
                </c:pt>
                <c:pt idx="304">
                  <c:v>5.25</c:v>
                </c:pt>
                <c:pt idx="305">
                  <c:v>5.25</c:v>
                </c:pt>
                <c:pt idx="306">
                  <c:v>5.25</c:v>
                </c:pt>
                <c:pt idx="307">
                  <c:v>5.25</c:v>
                </c:pt>
                <c:pt idx="308">
                  <c:v>5.25</c:v>
                </c:pt>
                <c:pt idx="309">
                  <c:v>5.5</c:v>
                </c:pt>
              </c:numCache>
            </c:numRef>
          </c:val>
          <c:smooth val="0"/>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tickLblSkip val="48"/>
      </c:catAx>
      <c:valAx>
        <c:axId val="2094734552"/>
        <c:scaling>
          <c:orientation val="minMax"/>
          <c:max val="10"/>
          <c:min val="3"/>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Average change in the probability of a hike, points</a:t>
            </a:r>
          </a:p>
        </c:rich>
      </c:tx>
      <c:layout/>
      <c:overlay val="0"/>
    </c:title>
    <c:autoTitleDeleted val="0"/>
    <c:plotArea>
      <c:layout/>
      <c:barChart>
        <c:barDir val="bar"/>
        <c:grouping val="clustered"/>
        <c:varyColors val="0"/>
        <c:ser>
          <c:idx val="0"/>
          <c:order val="0"/>
          <c:tx>
            <c:strRef>
              <c:f>Sheet1!$B$1</c:f>
              <c:strCache>
                <c:ptCount val="1"/>
                <c:pt idx="0">
                  <c:v>Change in P(hike), points</c:v>
                </c:pt>
              </c:strCache>
            </c:strRef>
          </c:tx>
          <c:spPr>
            <a:solidFill>
              <a:srgbClr val="EB6834"/>
            </a:solidFill>
            <a:effectLst/>
          </c:spPr>
          <c:invertIfNegative val="0"/>
          <c:dLbls>
            <c:numFmt formatCode="0.0;&quot;minus &quot;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EB6834"/>
              </a:solidFill>
              <a:effectLst/>
            </c:spPr>
          </c:dPt>
          <c:dPt>
            <c:idx val="1"/>
            <c:invertIfNegative val="0"/>
            <c:bubble3D val="0"/>
            <c:spPr>
              <a:solidFill>
                <a:srgbClr val="EB6834"/>
              </a:solidFill>
              <a:effectLst/>
            </c:spPr>
          </c:dPt>
          <c:dPt>
            <c:idx val="2"/>
            <c:invertIfNegative val="0"/>
            <c:bubble3D val="0"/>
            <c:spPr>
              <a:solidFill>
                <a:srgbClr val="8A8F98"/>
              </a:solidFill>
              <a:effectLst/>
            </c:spPr>
          </c:dPt>
          <c:dPt>
            <c:idx val="3"/>
            <c:invertIfNegative val="0"/>
            <c:bubble3D val="0"/>
            <c:spPr>
              <a:solidFill>
                <a:srgbClr val="8A8F98"/>
              </a:solidFill>
              <a:effectLst/>
            </c:spPr>
          </c:dPt>
          <c:dPt>
            <c:idx val="4"/>
            <c:invertIfNegative val="0"/>
            <c:bubble3D val="0"/>
            <c:spPr>
              <a:solidFill>
                <a:srgbClr val="8A8F98"/>
              </a:solidFill>
              <a:effectLst/>
            </c:spPr>
          </c:dPt>
          <c:dPt>
            <c:idx val="5"/>
            <c:invertIfNegative val="0"/>
            <c:bubble3D val="0"/>
            <c:spPr>
              <a:solidFill>
                <a:srgbClr val="8A8F98"/>
              </a:solidFill>
              <a:effectLst/>
            </c:spPr>
          </c:dPt>
          <c:cat>
            <c:multiLvlStrRef>
              <c:f>Sheet1!$A$2:$A$7</c:f>
              <c:multiLvlStrCache>
                <c:ptCount val="6"/>
                <c:lvl>
                  <c:pt idx="0">
                    <c:v>Previous decision was a hike</c:v>
                  </c:pt>
                  <c:pt idx="1">
                    <c:v>RBI raised its inflation projection by 1 point</c:v>
                  </c:pt>
                  <c:pt idx="2">
                    <c:v>Realized inflation 1 point above anchor</c:v>
                  </c:pt>
                  <c:pt idx="3">
                    <c:v>Projected inflation 1 point above anchor</c:v>
                  </c:pt>
                  <c:pt idx="4">
                    <c:v>Growth gap 1 point higher</c:v>
                  </c:pt>
                  <c:pt idx="5">
                    <c:v>Rupee 1 percent weaker</c:v>
                  </c:pt>
                </c:lvl>
              </c:multiLvlStrCache>
            </c:multiLvlStrRef>
          </c:cat>
          <c:val>
            <c:numRef>
              <c:f>Sheet1!$B$2:$B$7</c:f>
              <c:numCache>
                <c:formatCode>General</c:formatCode>
                <c:ptCount val="6"/>
                <c:pt idx="0">
                  <c:v>24.5</c:v>
                </c:pt>
                <c:pt idx="1">
                  <c:v>27.6</c:v>
                </c:pt>
                <c:pt idx="2">
                  <c:v>2.5</c:v>
                </c:pt>
                <c:pt idx="3">
                  <c:v>-4.7</c:v>
                </c:pt>
                <c:pt idx="4">
                  <c:v>0.2</c:v>
                </c:pt>
                <c:pt idx="5">
                  <c:v>-0.3</c:v>
                </c:pt>
              </c:numCache>
            </c:numRef>
          </c:val>
        </c:ser>
        <c:dLbls>
          <c:numFmt formatCode="0.0;&quot;minus &quot;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35"/>
          <c:min val="-15"/>
        </c:scaling>
        <c:delete val="1"/>
        <c:axPos val="b"/>
        <c:majorGridlines>
          <c:spPr>
            <a:ln w="6350" cap="flat">
              <a:solidFill>
                <a:srgbClr val="D9DCE1"/>
              </a:solidFill>
              <a:prstDash val="solid"/>
              <a:round/>
            </a:ln>
          </c:spPr>
        </c:majorGridlines>
        <c:numFmt formatCode="0;&quot;minus &quot;0" sourceLinked="0"/>
        <c:majorTickMark val="out"/>
        <c:minorTickMark val="none"/>
        <c:tickLblPos val="low"/>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Probabilities before each decision, unseen 2021 to 2026</a:t>
            </a:r>
          </a:p>
        </c:rich>
      </c:tx>
      <c:layout/>
      <c:overlay val="0"/>
    </c:title>
    <c:autoTitleDeleted val="0"/>
    <c:plotArea>
      <c:layout/>
      <c:lineChart>
        <c:varyColors val="0"/>
        <c:ser>
          <c:idx val="0"/>
          <c:order val="0"/>
          <c:tx>
            <c:strRef>
              <c:f>Sheet1!$B$1</c:f>
              <c:strCache>
                <c:ptCount val="1"/>
                <c:pt idx="0">
                  <c:v>P(hike)</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circle"/>
            <c:size val="5"/>
            <c:spPr>
              <a:solidFill>
                <a:srgbClr val="EB6834"/>
              </a:solidFill>
              <a:ln w="9525" cap="flat">
                <a:solidFill>
                  <a:srgbClr val="EB6834"/>
                </a:solidFill>
                <a:prstDash val="solid"/>
                <a:round/>
              </a:ln>
              <a:effectLst/>
            </c:spPr>
          </c:marker>
          <c:cat>
            <c:multiLvlStrRef>
              <c:f>Sheet1!$A$2:$A$32</c:f>
              <c:multiLvlStrCache>
                <c:ptCount val="31"/>
                <c:lvl>
                  <c:pt idx="0">
                    <c:v>Dec 21</c:v>
                  </c:pt>
                  <c:pt idx="1">
                    <c:v>Feb 22</c:v>
                  </c:pt>
                  <c:pt idx="2">
                    <c:v>Apr 22</c:v>
                  </c:pt>
                  <c:pt idx="3">
                    <c:v>May 22</c:v>
                  </c:pt>
                  <c:pt idx="4">
                    <c:v>Jun 22</c:v>
                  </c:pt>
                  <c:pt idx="5">
                    <c:v>Aug 22</c:v>
                  </c:pt>
                  <c:pt idx="6">
                    <c:v>Sep 22</c:v>
                  </c:pt>
                  <c:pt idx="7">
                    <c:v>Dec 22</c:v>
                  </c:pt>
                  <c:pt idx="8">
                    <c:v>Feb 23</c:v>
                  </c:pt>
                  <c:pt idx="9">
                    <c:v>Apr 23</c:v>
                  </c:pt>
                  <c:pt idx="10">
                    <c:v>Jun 23</c:v>
                  </c:pt>
                  <c:pt idx="11">
                    <c:v>Aug 23</c:v>
                  </c:pt>
                  <c:pt idx="12">
                    <c:v>Oct 23</c:v>
                  </c:pt>
                  <c:pt idx="13">
                    <c:v>Dec 23</c:v>
                  </c:pt>
                  <c:pt idx="14">
                    <c:v>Feb 24</c:v>
                  </c:pt>
                  <c:pt idx="15">
                    <c:v>Apr 24</c:v>
                  </c:pt>
                  <c:pt idx="16">
                    <c:v>Jun 24</c:v>
                  </c:pt>
                  <c:pt idx="17">
                    <c:v>Aug 24</c:v>
                  </c:pt>
                  <c:pt idx="18">
                    <c:v>Oct 24</c:v>
                  </c:pt>
                  <c:pt idx="19">
                    <c:v>Dec 24</c:v>
                  </c:pt>
                  <c:pt idx="20">
                    <c:v>Feb 25</c:v>
                  </c:pt>
                  <c:pt idx="21">
                    <c:v>Apr 25</c:v>
                  </c:pt>
                  <c:pt idx="22">
                    <c:v>Jun 25</c:v>
                  </c:pt>
                  <c:pt idx="23">
                    <c:v>Aug 25</c:v>
                  </c:pt>
                  <c:pt idx="24">
                    <c:v>Oct 25</c:v>
                  </c:pt>
                  <c:pt idx="25">
                    <c:v>Dec 25</c:v>
                  </c:pt>
                  <c:pt idx="26">
                    <c:v>Feb 26</c:v>
                  </c:pt>
                  <c:pt idx="27">
                    <c:v>Apr 26</c:v>
                  </c:pt>
                  <c:pt idx="28">
                    <c:v>Jun 26</c:v>
                  </c:pt>
                  <c:pt idx="29">
                    <c:v>Aug 26</c:v>
                  </c:pt>
                  <c:pt idx="30">
                    <c:v>Oct 26</c:v>
                  </c:pt>
                </c:lvl>
              </c:multiLvlStrCache>
            </c:multiLvlStrRef>
          </c:cat>
          <c:val>
            <c:numRef>
              <c:f>Sheet1!$B$2:$B$32</c:f>
              <c:numCache>
                <c:formatCode>General</c:formatCode>
                <c:ptCount val="31"/>
                <c:pt idx="0">
                  <c:v>0.119</c:v>
                </c:pt>
                <c:pt idx="1">
                  <c:v>0.126</c:v>
                </c:pt>
                <c:pt idx="2">
                  <c:v>0.166</c:v>
                </c:pt>
                <c:pt idx="3">
                  <c:v>0.448</c:v>
                </c:pt>
                <c:pt idx="4">
                  <c:v>0.841</c:v>
                </c:pt>
                <c:pt idx="5">
                  <c:v>0.725</c:v>
                </c:pt>
                <c:pt idx="6">
                  <c:v>0.506</c:v>
                </c:pt>
                <c:pt idx="7">
                  <c:v>0.47</c:v>
                </c:pt>
                <c:pt idx="8">
                  <c:v>0.422</c:v>
                </c:pt>
                <c:pt idx="9">
                  <c:v>0.476</c:v>
                </c:pt>
                <c:pt idx="10">
                  <c:v>0.044</c:v>
                </c:pt>
                <c:pt idx="11">
                  <c:v>0.106</c:v>
                </c:pt>
                <c:pt idx="12">
                  <c:v>0.156</c:v>
                </c:pt>
                <c:pt idx="13">
                  <c:v>0.113</c:v>
                </c:pt>
                <c:pt idx="14">
                  <c:v>0.156</c:v>
                </c:pt>
                <c:pt idx="15">
                  <c:v>0.128</c:v>
                </c:pt>
                <c:pt idx="16">
                  <c:v>0.089</c:v>
                </c:pt>
                <c:pt idx="17">
                  <c:v>0.141</c:v>
                </c:pt>
                <c:pt idx="18">
                  <c:v>0.111</c:v>
                </c:pt>
                <c:pt idx="19">
                  <c:v>0.144</c:v>
                </c:pt>
                <c:pt idx="20">
                  <c:v>0.15</c:v>
                </c:pt>
                <c:pt idx="21">
                  <c:v>0.012</c:v>
                </c:pt>
                <c:pt idx="22">
                  <c:v>0.016</c:v>
                </c:pt>
                <c:pt idx="23">
                  <c:v>0.004</c:v>
                </c:pt>
                <c:pt idx="24">
                  <c:v>0.056</c:v>
                </c:pt>
                <c:pt idx="25">
                  <c:v>0.018</c:v>
                </c:pt>
                <c:pt idx="26">
                  <c:v>0.004</c:v>
                </c:pt>
                <c:pt idx="27">
                  <c:v>0.138</c:v>
                </c:pt>
                <c:pt idx="28">
                  <c:v>0.077</c:v>
                </c:pt>
                <c:pt idx="29">
                  <c:v>0.274</c:v>
                </c:pt>
                <c:pt idx="30">
                  <c:v>0.086</c:v>
                </c:pt>
              </c:numCache>
            </c:numRef>
          </c:val>
          <c:smooth val="0"/>
        </c:ser>
        <c:ser>
          <c:idx val="1"/>
          <c:order val="1"/>
          <c:tx>
            <c:strRef>
              <c:f>Sheet1!$C$1</c:f>
              <c:strCache>
                <c:ptCount val="1"/>
                <c:pt idx="0">
                  <c:v>P(cut)</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Sheet1!$A$2:$A$32</c:f>
              <c:multiLvlStrCache>
                <c:ptCount val="31"/>
                <c:lvl>
                  <c:pt idx="0">
                    <c:v>Dec 21</c:v>
                  </c:pt>
                  <c:pt idx="1">
                    <c:v>Feb 22</c:v>
                  </c:pt>
                  <c:pt idx="2">
                    <c:v>Apr 22</c:v>
                  </c:pt>
                  <c:pt idx="3">
                    <c:v>May 22</c:v>
                  </c:pt>
                  <c:pt idx="4">
                    <c:v>Jun 22</c:v>
                  </c:pt>
                  <c:pt idx="5">
                    <c:v>Aug 22</c:v>
                  </c:pt>
                  <c:pt idx="6">
                    <c:v>Sep 22</c:v>
                  </c:pt>
                  <c:pt idx="7">
                    <c:v>Dec 22</c:v>
                  </c:pt>
                  <c:pt idx="8">
                    <c:v>Feb 23</c:v>
                  </c:pt>
                  <c:pt idx="9">
                    <c:v>Apr 23</c:v>
                  </c:pt>
                  <c:pt idx="10">
                    <c:v>Jun 23</c:v>
                  </c:pt>
                  <c:pt idx="11">
                    <c:v>Aug 23</c:v>
                  </c:pt>
                  <c:pt idx="12">
                    <c:v>Oct 23</c:v>
                  </c:pt>
                  <c:pt idx="13">
                    <c:v>Dec 23</c:v>
                  </c:pt>
                  <c:pt idx="14">
                    <c:v>Feb 24</c:v>
                  </c:pt>
                  <c:pt idx="15">
                    <c:v>Apr 24</c:v>
                  </c:pt>
                  <c:pt idx="16">
                    <c:v>Jun 24</c:v>
                  </c:pt>
                  <c:pt idx="17">
                    <c:v>Aug 24</c:v>
                  </c:pt>
                  <c:pt idx="18">
                    <c:v>Oct 24</c:v>
                  </c:pt>
                  <c:pt idx="19">
                    <c:v>Dec 24</c:v>
                  </c:pt>
                  <c:pt idx="20">
                    <c:v>Feb 25</c:v>
                  </c:pt>
                  <c:pt idx="21">
                    <c:v>Apr 25</c:v>
                  </c:pt>
                  <c:pt idx="22">
                    <c:v>Jun 25</c:v>
                  </c:pt>
                  <c:pt idx="23">
                    <c:v>Aug 25</c:v>
                  </c:pt>
                  <c:pt idx="24">
                    <c:v>Oct 25</c:v>
                  </c:pt>
                  <c:pt idx="25">
                    <c:v>Dec 25</c:v>
                  </c:pt>
                  <c:pt idx="26">
                    <c:v>Feb 26</c:v>
                  </c:pt>
                  <c:pt idx="27">
                    <c:v>Apr 26</c:v>
                  </c:pt>
                  <c:pt idx="28">
                    <c:v>Jun 26</c:v>
                  </c:pt>
                  <c:pt idx="29">
                    <c:v>Aug 26</c:v>
                  </c:pt>
                  <c:pt idx="30">
                    <c:v>Oct 26</c:v>
                  </c:pt>
                </c:lvl>
              </c:multiLvlStrCache>
            </c:multiLvlStrRef>
          </c:cat>
          <c:val>
            <c:numRef>
              <c:f>Sheet1!$C$2:$C$32</c:f>
              <c:numCache>
                <c:formatCode>General</c:formatCode>
                <c:ptCount val="31"/>
                <c:pt idx="0">
                  <c:v>0.219</c:v>
                </c:pt>
                <c:pt idx="1">
                  <c:v>0.204</c:v>
                </c:pt>
                <c:pt idx="2">
                  <c:v>0.155</c:v>
                </c:pt>
                <c:pt idx="3">
                  <c:v>0.031</c:v>
                </c:pt>
                <c:pt idx="4">
                  <c:v>0.001</c:v>
                </c:pt>
                <c:pt idx="5">
                  <c:v>0.005</c:v>
                </c:pt>
                <c:pt idx="6">
                  <c:v>0.022</c:v>
                </c:pt>
                <c:pt idx="7">
                  <c:v>0.028</c:v>
                </c:pt>
                <c:pt idx="8">
                  <c:v>0.038</c:v>
                </c:pt>
                <c:pt idx="9">
                  <c:v>0.028</c:v>
                </c:pt>
                <c:pt idx="10">
                  <c:v>0.393</c:v>
                </c:pt>
                <c:pt idx="11">
                  <c:v>0.227</c:v>
                </c:pt>
                <c:pt idx="12">
                  <c:v>0.159</c:v>
                </c:pt>
                <c:pt idx="13">
                  <c:v>0.208</c:v>
                </c:pt>
                <c:pt idx="14">
                  <c:v>0.152</c:v>
                </c:pt>
                <c:pt idx="15">
                  <c:v>0.178</c:v>
                </c:pt>
                <c:pt idx="16">
                  <c:v>0.234</c:v>
                </c:pt>
                <c:pt idx="17">
                  <c:v>0.156</c:v>
                </c:pt>
                <c:pt idx="18">
                  <c:v>0.189</c:v>
                </c:pt>
                <c:pt idx="19">
                  <c:v>0.145</c:v>
                </c:pt>
                <c:pt idx="20">
                  <c:v>0.137</c:v>
                </c:pt>
                <c:pt idx="21">
                  <c:v>0.568</c:v>
                </c:pt>
                <c:pt idx="22">
                  <c:v>0.517</c:v>
                </c:pt>
                <c:pt idx="23">
                  <c:v>0.702</c:v>
                </c:pt>
                <c:pt idx="24">
                  <c:v>0.308</c:v>
                </c:pt>
                <c:pt idx="25">
                  <c:v>0.492</c:v>
                </c:pt>
                <c:pt idx="26">
                  <c:v>0.695</c:v>
                </c:pt>
                <c:pt idx="27">
                  <c:v>0.156</c:v>
                </c:pt>
                <c:pt idx="28">
                  <c:v>0.245</c:v>
                </c:pt>
                <c:pt idx="29">
                  <c:v>0.063</c:v>
                </c:pt>
                <c:pt idx="30">
                  <c:v>0.219</c:v>
                </c:pt>
              </c:numCache>
            </c:numRef>
          </c:val>
          <c:smooth val="0"/>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mn-lt"/>
              </a:defRPr>
            </a:pPr>
            <a:endParaRPr lang="en-US"/>
          </a:p>
        </c:txPr>
        <c:crossAx val="2094734552"/>
        <c:crosses val="autoZero"/>
        <c:auto val="1"/>
        <c:lblAlgn val="ctr"/>
        <c:noMultiLvlLbl val="1"/>
        <c:tickLblSkip val="4"/>
      </c:catAx>
      <c:valAx>
        <c:axId val="2094734552"/>
        <c:scaling>
          <c:orientation val="minMax"/>
          <c:max val="1"/>
          <c:min val="0"/>
        </c:scaling>
        <c:delete val="0"/>
        <c:axPos val="l"/>
        <c:majorGridlines>
          <c:spPr>
            <a:ln w="6350" cap="flat">
              <a:solidFill>
                <a:srgbClr val="D9DCE1"/>
              </a:solidFill>
              <a:prstDash val="solid"/>
              <a:round/>
            </a:ln>
          </c:spPr>
        </c:majorGridlines>
        <c:numFmt formatCode="0.00"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Balanced accuracy at each stage</a:t>
            </a:r>
          </a:p>
        </c:rich>
      </c:tx>
      <c:layout/>
      <c:overlay val="0"/>
    </c:title>
    <c:autoTitleDeleted val="0"/>
    <c:plotArea>
      <c:layout/>
      <c:barChart>
        <c:barDir val="col"/>
        <c:grouping val="clustered"/>
        <c:varyColors val="0"/>
        <c:ser>
          <c:idx val="0"/>
          <c:order val="0"/>
          <c:tx>
            <c:strRef>
              <c:f>Sheet1!$B$1</c:f>
              <c:strCache>
                <c:ptCount val="1"/>
                <c:pt idx="0">
                  <c:v>In sample</c:v>
                </c:pt>
              </c:strCache>
            </c:strRef>
          </c:tx>
          <c:spPr>
            <a:solidFill>
              <a:srgbClr val="BFC4CC"/>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Sheet1!$A$2:$A$4</c:f>
              <c:multiLvlStrCache>
                <c:ptCount val="3"/>
                <c:lvl>
                  <c:pt idx="0">
                    <c:v>India probit</c:v>
                  </c:pt>
                  <c:pt idx="1">
                    <c:v>Nepal rise</c:v>
                  </c:pt>
                  <c:pt idx="2">
                    <c:v>Nepal fall</c:v>
                  </c:pt>
                </c:lvl>
              </c:multiLvlStrCache>
            </c:multiLvlStrRef>
          </c:cat>
          <c:val>
            <c:numRef>
              <c:f>Sheet1!$B$2:$B$4</c:f>
              <c:numCache>
                <c:formatCode>General</c:formatCode>
                <c:ptCount val="3"/>
                <c:pt idx="0">
                  <c:v>0.598</c:v>
                </c:pt>
                <c:pt idx="1">
                  <c:v>0.735</c:v>
                </c:pt>
                <c:pt idx="2">
                  <c:v>0.751</c:v>
                </c:pt>
              </c:numCache>
            </c:numRef>
          </c:val>
        </c:ser>
        <c:ser>
          <c:idx val="1"/>
          <c:order val="1"/>
          <c:tx>
            <c:strRef>
              <c:f>Sheet1!$C$1</c:f>
              <c:strCache>
                <c:ptCount val="1"/>
                <c:pt idx="0">
                  <c:v>Walk forward, training years</c:v>
                </c:pt>
              </c:strCache>
            </c:strRef>
          </c:tx>
          <c:spPr>
            <a:solidFill>
              <a:srgbClr val="8A8F98"/>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Sheet1!$A$2:$A$4</c:f>
              <c:multiLvlStrCache>
                <c:ptCount val="3"/>
                <c:lvl>
                  <c:pt idx="0">
                    <c:v>India probit</c:v>
                  </c:pt>
                  <c:pt idx="1">
                    <c:v>Nepal rise</c:v>
                  </c:pt>
                  <c:pt idx="2">
                    <c:v>Nepal fall</c:v>
                  </c:pt>
                </c:lvl>
              </c:multiLvlStrCache>
            </c:multiLvlStrRef>
          </c:cat>
          <c:val>
            <c:numRef>
              <c:f>Sheet1!$C$2:$C$4</c:f>
              <c:numCache>
                <c:formatCode>General</c:formatCode>
                <c:ptCount val="3"/>
                <c:pt idx="0">
                  <c:v>0.639</c:v>
                </c:pt>
                <c:pt idx="1">
                  <c:v>0.64</c:v>
                </c:pt>
                <c:pt idx="2">
                  <c:v>0.727</c:v>
                </c:pt>
              </c:numCache>
            </c:numRef>
          </c:val>
        </c:ser>
        <c:ser>
          <c:idx val="2"/>
          <c:order val="2"/>
          <c:tx>
            <c:strRef>
              <c:f>Sheet1!$D$1</c:f>
              <c:strCache>
                <c:ptCount val="1"/>
                <c:pt idx="0">
                  <c:v>Unseen 2021 to 2026</c:v>
                </c:pt>
              </c:strCache>
            </c:strRef>
          </c:tx>
          <c:spPr>
            <a:solidFill>
              <a:srgbClr val="1F2D4A"/>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Sheet1!$A$2:$A$4</c:f>
              <c:multiLvlStrCache>
                <c:ptCount val="3"/>
                <c:lvl>
                  <c:pt idx="0">
                    <c:v>India probit</c:v>
                  </c:pt>
                  <c:pt idx="1">
                    <c:v>Nepal rise</c:v>
                  </c:pt>
                  <c:pt idx="2">
                    <c:v>Nepal fall</c:v>
                  </c:pt>
                </c:lvl>
              </c:multiLvlStrCache>
            </c:multiLvlStrRef>
          </c:cat>
          <c:val>
            <c:numRef>
              <c:f>Sheet1!$D$2:$D$4</c:f>
              <c:numCache>
                <c:formatCode>General</c:formatCode>
                <c:ptCount val="3"/>
                <c:pt idx="0">
                  <c:v>0.693</c:v>
                </c:pt>
                <c:pt idx="1">
                  <c:v>0.669</c:v>
                </c:pt>
                <c:pt idx="2">
                  <c:v>0.53</c:v>
                </c:pt>
              </c:numCache>
            </c:numRef>
          </c:val>
        </c:ser>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0.9"/>
          <c:min val="0"/>
        </c:scaling>
        <c:delete val="1"/>
        <c:axPos val="l"/>
        <c:majorGridlines>
          <c:spPr>
            <a:ln w="6350" cap="flat">
              <a:solidFill>
                <a:srgbClr val="D9DCE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Probability of each repo level after the April 2027 meeting</a:t>
            </a:r>
          </a:p>
        </c:rich>
      </c:tx>
      <c:layout/>
      <c:overlay val="0"/>
    </c:title>
    <c:autoTitleDeleted val="0"/>
    <c:plotArea>
      <c:layout/>
      <c:barChart>
        <c:barDir val="col"/>
        <c:grouping val="clustered"/>
        <c:varyColors val="0"/>
        <c:ser>
          <c:idx val="0"/>
          <c:order val="0"/>
          <c:tx>
            <c:strRef>
              <c:f>Sheet1!$B$1</c:f>
              <c:strCache>
                <c:ptCount val="1"/>
                <c:pt idx="0">
                  <c:v>Easing tensions</c:v>
                </c:pt>
              </c:strCache>
            </c:strRef>
          </c:tx>
          <c:spPr>
            <a:solidFill>
              <a:srgbClr val="9DB9DE"/>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Sheet1!$A$2:$A$6</c:f>
              <c:multiLvlStrCache>
                <c:ptCount val="5"/>
                <c:lvl>
                  <c:pt idx="0">
                    <c:v>5.25 or lower</c:v>
                  </c:pt>
                  <c:pt idx="1">
                    <c:v>5.50</c:v>
                  </c:pt>
                  <c:pt idx="2">
                    <c:v>5.75</c:v>
                  </c:pt>
                  <c:pt idx="3">
                    <c:v>6.00</c:v>
                  </c:pt>
                  <c:pt idx="4">
                    <c:v>6.25</c:v>
                  </c:pt>
                </c:lvl>
              </c:multiLvlStrCache>
            </c:multiLvlStrRef>
          </c:cat>
          <c:val>
            <c:numRef>
              <c:f>Sheet1!$B$2:$B$6</c:f>
              <c:numCache>
                <c:formatCode>General</c:formatCode>
                <c:ptCount val="5"/>
                <c:pt idx="0">
                  <c:v>0.20800000000000002</c:v>
                </c:pt>
                <c:pt idx="1">
                  <c:v>0.273</c:v>
                </c:pt>
                <c:pt idx="2">
                  <c:v>0.304</c:v>
                </c:pt>
                <c:pt idx="3">
                  <c:v>0.141</c:v>
                </c:pt>
                <c:pt idx="4">
                  <c:v>0.074</c:v>
                </c:pt>
              </c:numCache>
            </c:numRef>
          </c:val>
        </c:ser>
        <c:ser>
          <c:idx val="1"/>
          <c:order val="1"/>
          <c:tx>
            <c:strRef>
              <c:f>Sheet1!$C$1</c:f>
              <c:strCache>
                <c:ptCount val="1"/>
                <c:pt idx="0">
                  <c:v>Premium persists</c:v>
                </c:pt>
              </c:strCache>
            </c:strRef>
          </c:tx>
          <c:spPr>
            <a:solidFill>
              <a:srgbClr val="8A8F98"/>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Sheet1!$A$2:$A$6</c:f>
              <c:multiLvlStrCache>
                <c:ptCount val="5"/>
                <c:lvl>
                  <c:pt idx="0">
                    <c:v>5.25 or lower</c:v>
                  </c:pt>
                  <c:pt idx="1">
                    <c:v>5.50</c:v>
                  </c:pt>
                  <c:pt idx="2">
                    <c:v>5.75</c:v>
                  </c:pt>
                  <c:pt idx="3">
                    <c:v>6.00</c:v>
                  </c:pt>
                  <c:pt idx="4">
                    <c:v>6.25</c:v>
                  </c:pt>
                </c:lvl>
              </c:multiLvlStrCache>
            </c:multiLvlStrRef>
          </c:cat>
          <c:val>
            <c:numRef>
              <c:f>Sheet1!$C$2:$C$6</c:f>
              <c:numCache>
                <c:formatCode>General</c:formatCode>
                <c:ptCount val="5"/>
                <c:pt idx="0">
                  <c:v>0.138</c:v>
                </c:pt>
                <c:pt idx="1">
                  <c:v>0.269</c:v>
                </c:pt>
                <c:pt idx="2">
                  <c:v>0.262</c:v>
                </c:pt>
                <c:pt idx="3">
                  <c:v>0.212</c:v>
                </c:pt>
                <c:pt idx="4">
                  <c:v>0.119</c:v>
                </c:pt>
              </c:numCache>
            </c:numRef>
          </c:val>
        </c:ser>
        <c:ser>
          <c:idx val="2"/>
          <c:order val="2"/>
          <c:tx>
            <c:strRef>
              <c:f>Sheet1!$D$1</c:f>
              <c:strCache>
                <c:ptCount val="1"/>
                <c:pt idx="0">
                  <c:v>Escalation</c:v>
                </c:pt>
              </c:strCache>
            </c:strRef>
          </c:tx>
          <c:spPr>
            <a:solidFill>
              <a:srgbClr val="EB6834"/>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Sheet1!$A$2:$A$6</c:f>
              <c:multiLvlStrCache>
                <c:ptCount val="5"/>
                <c:lvl>
                  <c:pt idx="0">
                    <c:v>5.25 or lower</c:v>
                  </c:pt>
                  <c:pt idx="1">
                    <c:v>5.50</c:v>
                  </c:pt>
                  <c:pt idx="2">
                    <c:v>5.75</c:v>
                  </c:pt>
                  <c:pt idx="3">
                    <c:v>6.00</c:v>
                  </c:pt>
                  <c:pt idx="4">
                    <c:v>6.25</c:v>
                  </c:pt>
                </c:lvl>
              </c:multiLvlStrCache>
            </c:multiLvlStrRef>
          </c:cat>
          <c:val>
            <c:numRef>
              <c:f>Sheet1!$D$2:$D$6</c:f>
              <c:numCache>
                <c:formatCode>General</c:formatCode>
                <c:ptCount val="5"/>
                <c:pt idx="0">
                  <c:v>0.088</c:v>
                </c:pt>
                <c:pt idx="1">
                  <c:v>0.217</c:v>
                </c:pt>
                <c:pt idx="2">
                  <c:v>0.221</c:v>
                </c:pt>
                <c:pt idx="3">
                  <c:v>0.31</c:v>
                </c:pt>
                <c:pt idx="4">
                  <c:v>0.166</c:v>
                </c:pt>
              </c:numCache>
            </c:numRef>
          </c:val>
        </c:ser>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majorGridlines>
          <c:spPr>
            <a:ln w="6350" cap="flat">
              <a:solidFill>
                <a:srgbClr val="D9DCE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Balanced accuracy, 57 months, 2021 to 2026</a:t>
            </a:r>
          </a:p>
        </c:rich>
      </c:tx>
      <c:layout/>
      <c:overlay val="0"/>
    </c:title>
    <c:autoTitleDeleted val="0"/>
    <c:plotArea>
      <c:layout/>
      <c:barChart>
        <c:barDir val="col"/>
        <c:grouping val="clustered"/>
        <c:varyColors val="0"/>
        <c:ser>
          <c:idx val="0"/>
          <c:order val="0"/>
          <c:tx>
            <c:strRef>
              <c:f>Sheet1!$B$1</c:f>
              <c:strCache>
                <c:ptCount val="1"/>
                <c:pt idx="0">
                  <c:v>Model</c:v>
                </c:pt>
              </c:strCache>
            </c:strRef>
          </c:tx>
          <c:spPr>
            <a:solidFill>
              <a:srgbClr val="2A78D6"/>
            </a:solidFill>
            <a:effectLst/>
          </c:spPr>
          <c:invertIfNegative val="0"/>
          <c:dLbls>
            <c:numFmt formatCode="0.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cat>
            <c:multiLvlStrRef>
              <c:f>Sheet1!$A$2:$A$3</c:f>
              <c:multiLvlStrCache>
                <c:ptCount val="2"/>
                <c:lvl>
                  <c:pt idx="0">
                    <c:v>Rise over 0.5 point</c:v>
                  </c:pt>
                  <c:pt idx="1">
                    <c:v>Fall over 0.5 point</c:v>
                  </c:pt>
                </c:lvl>
              </c:multiLvlStrCache>
            </c:multiLvlStrRef>
          </c:cat>
          <c:val>
            <c:numRef>
              <c:f>Sheet1!$B$2:$B$3</c:f>
              <c:numCache>
                <c:formatCode>General</c:formatCode>
                <c:ptCount val="2"/>
                <c:pt idx="0">
                  <c:v>0.669</c:v>
                </c:pt>
                <c:pt idx="1">
                  <c:v>0.53</c:v>
                </c:pt>
              </c:numCache>
            </c:numRef>
          </c:val>
        </c:ser>
        <c:ser>
          <c:idx val="1"/>
          <c:order val="1"/>
          <c:tx>
            <c:strRef>
              <c:f>Sheet1!$C$1</c:f>
              <c:strCache>
                <c:ptCount val="1"/>
                <c:pt idx="0">
                  <c:v>Persistence</c:v>
                </c:pt>
              </c:strCache>
            </c:strRef>
          </c:tx>
          <c:spPr>
            <a:solidFill>
              <a:srgbClr val="8A8F98"/>
            </a:solidFill>
            <a:effectLst/>
          </c:spPr>
          <c:invertIfNegative val="0"/>
          <c:dLbls>
            <c:numFmt formatCode="0.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cat>
            <c:multiLvlStrRef>
              <c:f>Sheet1!$A$2:$A$3</c:f>
              <c:multiLvlStrCache>
                <c:ptCount val="2"/>
                <c:lvl>
                  <c:pt idx="0">
                    <c:v>Rise over 0.5 point</c:v>
                  </c:pt>
                  <c:pt idx="1">
                    <c:v>Fall over 0.5 point</c:v>
                  </c:pt>
                </c:lvl>
              </c:multiLvlStrCache>
            </c:multiLvlStrRef>
          </c:cat>
          <c:val>
            <c:numRef>
              <c:f>Sheet1!$C$2:$C$3</c:f>
              <c:numCache>
                <c:formatCode>General</c:formatCode>
                <c:ptCount val="2"/>
                <c:pt idx="0">
                  <c:v>0.604</c:v>
                </c:pt>
                <c:pt idx="1">
                  <c:v>0.651</c:v>
                </c:pt>
              </c:numCache>
            </c:numRef>
          </c:val>
        </c:ser>
        <c:dLbls>
          <c:numFmt formatCode="0.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0.8"/>
          <c:min val="0"/>
        </c:scaling>
        <c:delete val="1"/>
        <c:axPos val="l"/>
        <c:majorGridlines>
          <c:spPr>
            <a:ln w="6350" cap="flat">
              <a:solidFill>
                <a:srgbClr val="D9DCE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questions. First, is India entering a new interest rate cycle, and how far will it go? Second, because Nepal's rupee is pegged to India's at 1.6, do Nepal's interest rates follow India's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the new cycle has already started; the question now is how long it runs. Nepal: the peg carries prices across the border, but Nepal's short term interest rates follow India's only half the time, no better than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steps run in this order and each one feeds the next. The grey line under each step names the page of the Streamlit dashboard where it can be inspected. Every choice in steps 2 to 7 was written into the decision log before it was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ledger is data/source_registry/variable_registry.csv. Used means core or in use; excluded includes one variable that was coded and then not used. Each download is in a manifest under data/source_registry/manifests with its address, time and SHA256 hash.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in time rule is enforced in code: features are joined on publication dates, and tests fail if any value is dated after its cutoff. RBI projections were hand coded from the policy statements and count only from the day they were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Nepal gap, or embargo, equals the three month horizon plus the publication lag, so a training label is never one that would still be unknown at the forecast origin. The random forest used fixed shallow settings so that it could not be tuned to the test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was scored on 80 decisions, generations 2 and 3 on 75, because RBI projections start later. Nepal went the same way: a policy style model (0.35) gave way to a liquidity model (0.42) and then to the two yes or no questions (0.64 for rises, 0.73 for falls in the training years). Every step up was declared before it was run, and the failures stay in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permutation test shifts the decision labels in time while keeping their order, which keeps the persistence of policy but breaks the link to the inputs. A coefficient counts as learned only if its sign holds in at least 80 percent of windows, a rule set before the check (D031).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after the freeze that came from designs chosen later, such as the Nepal yes or no questions, are labelled post hoc rather than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cycle is a run of moves in one direction. Since 2005 hiking cycles have had between 2 and 13 hikes. The 2013 cycle followed the taper tantrum and the rupee's fall; 2018 followed oil and the rupee. Source: reports/tables/rbi_decisions.csv and peg_cycles.csv.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Ordered probit on 115 training decisions with six economic inputs. Bars are average marginal effects on the probability of a hike. Orange bars are significant at 1 percent. Inflation gaps are measured from the nominal anchor of each regime: the multiple indicator years, the Patel glide path and the 4 percent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five unseen years the model's balanced accuracy is 0.69 against 0.33 for chance, but its plain accuracy, 0.77, equals simply repeating the last decision, and the gain over that is not significant (p 0.51). Its weakness is the start of a cycle: it reacts one meeting late, because it sees inflation data, not the RBI's words or market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overfitted model scores much better on the data it was fitted to than on new data. None of the final models shows that pattern. Complex models did: the random forest fell to 0.49 on unseen data and a ten feature probit to 0.44 in training, which is why the small models were kept. Source: reports/tables/fit_gap.csv, decision D051.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D050. The probit was refitted on all 146 known decisions and not otherwise changed. Oil enters through the RBI's own sensitivity: crude 10 percent above baseline adds about 0.3 points to inflation and takes about 0.2 off growth. The December probabilities are recorded and will be scored after the 2 to 4 December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meeting's probabilities are chained: every branch carries its own previous decision and repo level into the next meeting. Source: reports/tables/india_outlook_paths_20261028.csv.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from the month before the RBI's first move to three months after its last, in percentage points. Same way means a move of more than 0.1 point in the RBI's direction. The NRB bank rate is the ceiling of the NRB corridor. Decision D053, reports/tables/peg_cycles.csv.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Descriptive comparison, decision D052. India's inflation is WPI before 2014 and CPI after; with CPI on both sides since 2013 the correlation is 0.66. The one period with a positive rate correlation, 2016 to 2021, contains a single cycle and the pandemic, a common shock. Building this chart exposed an error in the IMF CPI file for Nepal: twelve months in 2006 and 2007 repeated the year before. They are now left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 projections, August 2000 to October 2021, controlling for oil, US policy and Indian inflation, with Newey West errors. Coefficients are the cumulative response in percentage points to a 1 point change in the RBI repo rate. The forecasting test agrees: adding the RBI repo to the Nepal liquidity model does not improve it (Diebold Mariano p 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peg the NRB must buy the foreign currency that remittances bring in, and each purchase creates bank reserves. When deposits grow faster than credit, the surplus pushes the interbank rate to the floor of the corridor; when credit outruns deposits, it rises to the ceiling. Slow government spending did not cause the current floor: the fiscal injection was smaller during it. Decision D049.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sealed forecast is from the frozen Nepal model at origin July 2026, three months ahead, recorded on 27 October before the outcome was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our own earlier claims were corrected and logged: the fiscal explanation of the Nepal floor (D049) and a two year effect of RBI moves on Nepali inflation, which came from an error in the IMF CPI file (D052).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data manifests and the decision log are in the project repository; every number in this deck comes from a committed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Nepal target is the published interbank rate. The binary design was chosen on the training years only, so the 2021 to 2026 scores are labelled post hoc rather than blind. The sealed forecasts for August to October 2026 can be scored when the NRB publishes those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606040"/>
            <a:ext cx="8046720" cy="1463040"/>
          </a:xfrm>
          <a:prstGeom prst="rect">
            <a:avLst/>
          </a:prstGeom>
          <a:noFill/>
          <a:ln/>
        </p:spPr>
        <p:txBody>
          <a:bodyPr wrap="square" rtlCol="0"/>
          <a:lstStyle>
            <a:lvl1pPr indent="0" marL="0">
              <a:buNone/>
              <a:defRPr lang="en-US" sz="1800" dirty="0">
                <a:solidFill>
                  <a:srgbClr val="CADCFC"/>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6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3" name="Text 0"/>
          <p:cNvSpPr/>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chemeClr val="accent4"/>
                </a:solidFill>
              </a:rPr>
              <a:t>RateCycle India Nepal</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Will India enter a new rate cycle, and does Nepal follow?</a:t>
            </a:r>
            <a:endParaRPr lang="en-US" sz="4000" dirty="0"/>
          </a:p>
        </p:txBody>
      </p:sp>
      <p:sp>
        <p:nvSpPr>
          <p:cNvPr id="3" name="Text 0"/>
          <p:cNvSpPr/>
          <p:nvPr>
            <p:ph idx="101" type="body" hasCustomPrompt="1"/>
          </p:nvPr>
        </p:nvSpPr>
        <p:spPr>
          <a:xfrm>
            <a:off x="548640" y="2606040"/>
            <a:ext cx="8046720" cy="1463040"/>
          </a:xfrm>
          <a:prstGeom prst="rect">
            <a:avLst/>
          </a:prstGeom>
          <a:noFill/>
          <a:ln/>
        </p:spPr>
        <p:txBody>
          <a:bodyPr wrap="square" lIns="0" tIns="0" rIns="0" bIns="0" rtlCol="0" anchor="t"/>
          <a:lstStyle/>
          <a:p>
            <a:pPr indent="0" marL="0">
              <a:buNone/>
            </a:pPr>
            <a:r>
              <a:rPr lang="en-US" sz="1800" dirty="0">
                <a:solidFill>
                  <a:srgbClr val="CADCFC"/>
                </a:solidFill>
              </a:rPr>
              <a:t>RBI policy cycles, and Nepal's interest rates under the peg of 1.6 Nepali rupees to the Indian rupee</a:t>
            </a:r>
            <a:endParaRPr lang="en-US" sz="1800" dirty="0"/>
          </a:p>
          <a:p>
            <a:pPr indent="0" marL="0">
              <a:buNone/>
            </a:pPr>
            <a:r>
              <a:rPr lang="en-US" sz="1000" dirty="0">
                <a:solidFill>
                  <a:srgbClr val="CADCFC"/>
                </a:solidFill>
              </a:rPr>
              <a:t> </a:t>
            </a:r>
            <a:endParaRPr lang="en-US" sz="1800" dirty="0"/>
          </a:p>
          <a:p>
            <a:pPr indent="0" marL="0">
              <a:buNone/>
            </a:pPr>
            <a:r>
              <a:rPr lang="en-US" sz="1300" dirty="0">
                <a:solidFill>
                  <a:srgbClr val="9FB3D1"/>
                </a:solidFill>
              </a:rPr>
              <a:t>RateCycle India Nepal  |  Macroeconomics project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The answers</a:t>
            </a:r>
            <a:endParaRPr lang="en-US" sz="2600" dirty="0"/>
          </a:p>
        </p:txBody>
      </p:sp>
      <p:sp>
        <p:nvSpPr>
          <p:cNvPr id="3" name="stat0"/>
          <p:cNvSpPr/>
          <p:nvPr/>
        </p:nvSpPr>
        <p:spPr>
          <a:xfrm>
            <a:off x="457200" y="1188720"/>
            <a:ext cx="2606040" cy="2331720"/>
          </a:xfrm>
          <a:prstGeom prst="roundRect">
            <a:avLst>
              <a:gd name="adj" fmla="val 3137"/>
            </a:avLst>
          </a:prstGeom>
          <a:solidFill>
            <a:schemeClr val="bg2"/>
          </a:solidFill>
          <a:ln/>
        </p:spPr>
      </p:sp>
      <p:sp>
        <p:nvSpPr>
          <p:cNvPr id="4" name="Text 2"/>
          <p:cNvSpPr txBox="1"/>
          <p:nvPr/>
        </p:nvSpPr>
        <p:spPr>
          <a:xfrm>
            <a:off x="685800" y="1371600"/>
            <a:ext cx="2194560" cy="86868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Yes</a:t>
            </a:r>
            <a:endParaRPr lang="en-US" sz="4400" dirty="0"/>
          </a:p>
        </p:txBody>
      </p:sp>
      <p:sp>
        <p:nvSpPr>
          <p:cNvPr id="5" name="Text 3"/>
          <p:cNvSpPr txBox="1"/>
          <p:nvPr/>
        </p:nvSpPr>
        <p:spPr>
          <a:xfrm>
            <a:off x="685800" y="2331720"/>
            <a:ext cx="2194560" cy="114300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India entered a hiking cycle on 7 October 2026, repo 5.25 to 5.50. Our model gives a second hike in December a 0.56 chance.</a:t>
            </a:r>
            <a:endParaRPr lang="en-US" sz="1250" dirty="0"/>
          </a:p>
        </p:txBody>
      </p:sp>
      <p:sp>
        <p:nvSpPr>
          <p:cNvPr id="6" name="stat1"/>
          <p:cNvSpPr/>
          <p:nvPr/>
        </p:nvSpPr>
        <p:spPr>
          <a:xfrm>
            <a:off x="3264408" y="1188720"/>
            <a:ext cx="2606040" cy="2331720"/>
          </a:xfrm>
          <a:prstGeom prst="roundRect">
            <a:avLst>
              <a:gd name="adj" fmla="val 3137"/>
            </a:avLst>
          </a:prstGeom>
          <a:solidFill>
            <a:schemeClr val="bg2"/>
          </a:solidFill>
          <a:ln/>
        </p:spPr>
      </p:sp>
      <p:sp>
        <p:nvSpPr>
          <p:cNvPr id="7" name="Text 5"/>
          <p:cNvSpPr txBox="1"/>
          <p:nvPr/>
        </p:nvSpPr>
        <p:spPr>
          <a:xfrm>
            <a:off x="3493008" y="1371600"/>
            <a:ext cx="2194560" cy="868680"/>
          </a:xfrm>
          <a:prstGeom prst="rect">
            <a:avLst/>
          </a:prstGeom>
          <a:noFill/>
          <a:ln/>
        </p:spPr>
        <p:txBody>
          <a:bodyPr wrap="square" lIns="0" tIns="0" rIns="0" bIns="0" rtlCol="0" anchor="b"/>
          <a:lstStyle/>
          <a:p>
            <a:pPr indent="0" marL="0">
              <a:buNone/>
            </a:pPr>
            <a:r>
              <a:rPr lang="en-US" sz="2800" b="1" dirty="0">
                <a:solidFill>
                  <a:schemeClr val="accent1"/>
                </a:solidFill>
                <a:latin typeface="Cambria" pitchFamily="34" charset="0"/>
                <a:ea typeface="Cambria" pitchFamily="34" charset="-122"/>
                <a:cs typeface="Cambria" pitchFamily="34" charset="-120"/>
              </a:rPr>
              <a:t>5.75 to 6.00</a:t>
            </a:r>
            <a:endParaRPr lang="en-US" sz="2800" dirty="0"/>
          </a:p>
        </p:txBody>
      </p:sp>
      <p:sp>
        <p:nvSpPr>
          <p:cNvPr id="8" name="Text 6"/>
          <p:cNvSpPr txBox="1"/>
          <p:nvPr/>
        </p:nvSpPr>
        <p:spPr>
          <a:xfrm>
            <a:off x="3493008" y="2331720"/>
            <a:ext cx="2194560" cy="114300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Most likely end by April 2027: 5.75, or 6.00 if oil stays above 110 dollars. A short cycle like 2013 and 2018.</a:t>
            </a:r>
            <a:endParaRPr lang="en-US" sz="1250" dirty="0"/>
          </a:p>
        </p:txBody>
      </p:sp>
      <p:sp>
        <p:nvSpPr>
          <p:cNvPr id="9" name="stat2"/>
          <p:cNvSpPr/>
          <p:nvPr/>
        </p:nvSpPr>
        <p:spPr>
          <a:xfrm>
            <a:off x="6071616" y="1188720"/>
            <a:ext cx="2606040" cy="2331720"/>
          </a:xfrm>
          <a:prstGeom prst="roundRect">
            <a:avLst>
              <a:gd name="adj" fmla="val 3137"/>
            </a:avLst>
          </a:prstGeom>
          <a:solidFill>
            <a:schemeClr val="bg2"/>
          </a:solidFill>
          <a:ln/>
        </p:spPr>
      </p:sp>
      <p:sp>
        <p:nvSpPr>
          <p:cNvPr id="10" name="Text 8"/>
          <p:cNvSpPr txBox="1"/>
          <p:nvPr/>
        </p:nvSpPr>
        <p:spPr>
          <a:xfrm>
            <a:off x="6300216" y="1371600"/>
            <a:ext cx="2194560" cy="868680"/>
          </a:xfrm>
          <a:prstGeom prst="rect">
            <a:avLst/>
          </a:prstGeom>
          <a:noFill/>
          <a:ln/>
        </p:spPr>
        <p:txBody>
          <a:bodyPr wrap="square" lIns="0" tIns="0" rIns="0" bIns="0" rtlCol="0" anchor="b"/>
          <a:lstStyle/>
          <a:p>
            <a:pPr indent="0" marL="0">
              <a:buNone/>
            </a:pPr>
            <a:r>
              <a:rPr lang="en-US" sz="4400" b="1" dirty="0">
                <a:solidFill>
                  <a:schemeClr val="accent2"/>
                </a:solidFill>
                <a:latin typeface="Cambria" pitchFamily="34" charset="0"/>
                <a:ea typeface="Cambria" pitchFamily="34" charset="-122"/>
                <a:cs typeface="Cambria" pitchFamily="34" charset="-120"/>
              </a:rPr>
              <a:t>6 of 12</a:t>
            </a:r>
            <a:endParaRPr lang="en-US" sz="4400" dirty="0"/>
          </a:p>
        </p:txBody>
      </p:sp>
      <p:sp>
        <p:nvSpPr>
          <p:cNvPr id="11" name="Text 9"/>
          <p:cNvSpPr txBox="1"/>
          <p:nvPr/>
        </p:nvSpPr>
        <p:spPr>
          <a:xfrm>
            <a:off x="6300216" y="2331720"/>
            <a:ext cx="2194560" cy="114300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RBI cycles since 2001 in which Nepal's interbank rate moved the same way: a coin flip, despite the peg.</a:t>
            </a:r>
            <a:endParaRPr lang="en-US" sz="1250" dirty="0"/>
          </a:p>
        </p:txBody>
      </p:sp>
      <p:sp>
        <p:nvSpPr>
          <p:cNvPr id="12" name="Text 10"/>
          <p:cNvSpPr txBox="1"/>
          <p:nvPr/>
        </p:nvSpPr>
        <p:spPr>
          <a:xfrm>
            <a:off x="457200" y="3749040"/>
            <a:ext cx="8229600" cy="822960"/>
          </a:xfrm>
          <a:prstGeom prst="rect">
            <a:avLst/>
          </a:prstGeom>
          <a:noFill/>
          <a:ln/>
        </p:spPr>
        <p:txBody>
          <a:bodyPr wrap="square" lIns="0" tIns="0" rIns="0" bIns="0" rtlCol="0" anchor="ctr"/>
          <a:lstStyle/>
          <a:p>
            <a:pPr indent="0" marL="0">
              <a:buNone/>
            </a:pPr>
            <a:r>
              <a:rPr lang="en-US" sz="1400" i="1" dirty="0">
                <a:solidFill>
                  <a:schemeClr val="tx2"/>
                </a:solidFill>
                <a:latin typeface="Calibri" pitchFamily="34" charset="0"/>
                <a:ea typeface="Calibri" pitchFamily="34" charset="-122"/>
                <a:cs typeface="Calibri" pitchFamily="34" charset="-120"/>
              </a:rPr>
              <a:t>The peg ties Nepal's prices to India's, not its interest rates. Nepal's rate is set by its own liquidity, which the peg creates when remittances are converted at the fixed rate.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How the models were trained: seven steps</a:t>
            </a:r>
            <a:endParaRPr lang="en-US" sz="2600" dirty="0"/>
          </a:p>
        </p:txBody>
      </p:sp>
      <p:sp>
        <p:nvSpPr>
          <p:cNvPr id="3" name="flowline"/>
          <p:cNvSpPr/>
          <p:nvPr/>
        </p:nvSpPr>
        <p:spPr>
          <a:xfrm>
            <a:off x="777240" y="1426464"/>
            <a:ext cx="7589520" cy="0"/>
          </a:xfrm>
          <a:prstGeom prst="line">
            <a:avLst/>
          </a:prstGeom>
          <a:noFill/>
          <a:ln w="25400">
            <a:solidFill>
              <a:srgbClr val="D9DCE1"/>
            </a:solidFill>
            <a:prstDash val="solid"/>
          </a:ln>
        </p:spPr>
      </p:sp>
      <p:sp>
        <p:nvSpPr>
          <p:cNvPr id="4" name="tdot0"/>
          <p:cNvSpPr/>
          <p:nvPr/>
        </p:nvSpPr>
        <p:spPr>
          <a:xfrm>
            <a:off x="585216" y="1234440"/>
            <a:ext cx="384048" cy="384048"/>
          </a:xfrm>
          <a:prstGeom prst="ellipse">
            <a:avLst/>
          </a:prstGeom>
          <a:solidFill>
            <a:schemeClr val="tx2"/>
          </a:solidFill>
          <a:ln/>
        </p:spPr>
      </p:sp>
      <p:sp>
        <p:nvSpPr>
          <p:cNvPr id="5" name="Text 3"/>
          <p:cNvSpPr txBox="1"/>
          <p:nvPr/>
        </p:nvSpPr>
        <p:spPr>
          <a:xfrm>
            <a:off x="58521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45720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Collect</a:t>
            </a:r>
            <a:endParaRPr lang="en-US" sz="1200" dirty="0"/>
          </a:p>
        </p:txBody>
      </p:sp>
      <p:sp>
        <p:nvSpPr>
          <p:cNvPr id="7" name="Text 5"/>
          <p:cNvSpPr txBox="1"/>
          <p:nvPr/>
        </p:nvSpPr>
        <p:spPr>
          <a:xfrm>
            <a:off x="45720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1,015 source files from RBI, MOSPI, IMF, BIS, FRED and NRB, each logged with a hash</a:t>
            </a:r>
            <a:endParaRPr lang="en-US" sz="1050" dirty="0"/>
          </a:p>
        </p:txBody>
      </p:sp>
      <p:sp>
        <p:nvSpPr>
          <p:cNvPr id="8" name="Text 6"/>
          <p:cNvSpPr txBox="1"/>
          <p:nvPr/>
        </p:nvSpPr>
        <p:spPr>
          <a:xfrm>
            <a:off x="45720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Data explorer</a:t>
            </a:r>
            <a:endParaRPr lang="en-US" sz="950" dirty="0"/>
          </a:p>
        </p:txBody>
      </p:sp>
      <p:sp>
        <p:nvSpPr>
          <p:cNvPr id="9" name="tdot1"/>
          <p:cNvSpPr/>
          <p:nvPr/>
        </p:nvSpPr>
        <p:spPr>
          <a:xfrm>
            <a:off x="1773936" y="1234440"/>
            <a:ext cx="384048" cy="384048"/>
          </a:xfrm>
          <a:prstGeom prst="ellipse">
            <a:avLst/>
          </a:prstGeom>
          <a:solidFill>
            <a:schemeClr val="tx2"/>
          </a:solidFill>
          <a:ln/>
        </p:spPr>
      </p:sp>
      <p:sp>
        <p:nvSpPr>
          <p:cNvPr id="10" name="Text 8"/>
          <p:cNvSpPr txBox="1"/>
          <p:nvPr/>
        </p:nvSpPr>
        <p:spPr>
          <a:xfrm>
            <a:off x="177393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64592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Choose variables</a:t>
            </a:r>
            <a:endParaRPr lang="en-US" sz="1200" dirty="0"/>
          </a:p>
        </p:txBody>
      </p:sp>
      <p:sp>
        <p:nvSpPr>
          <p:cNvPr id="12" name="Text 10"/>
          <p:cNvSpPr txBox="1"/>
          <p:nvPr/>
        </p:nvSpPr>
        <p:spPr>
          <a:xfrm>
            <a:off x="164592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64 candidates in a ledger; 25 used, each other one kept or dropped with a reason</a:t>
            </a:r>
            <a:endParaRPr lang="en-US" sz="1050" dirty="0"/>
          </a:p>
        </p:txBody>
      </p:sp>
      <p:sp>
        <p:nvSpPr>
          <p:cNvPr id="13" name="Text 11"/>
          <p:cNvSpPr txBox="1"/>
          <p:nvPr/>
        </p:nvSpPr>
        <p:spPr>
          <a:xfrm>
            <a:off x="164592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Variable ledger</a:t>
            </a:r>
            <a:endParaRPr lang="en-US" sz="950" dirty="0"/>
          </a:p>
        </p:txBody>
      </p:sp>
      <p:sp>
        <p:nvSpPr>
          <p:cNvPr id="14" name="tdot2"/>
          <p:cNvSpPr/>
          <p:nvPr/>
        </p:nvSpPr>
        <p:spPr>
          <a:xfrm>
            <a:off x="2962656" y="1234440"/>
            <a:ext cx="384048" cy="384048"/>
          </a:xfrm>
          <a:prstGeom prst="ellipse">
            <a:avLst/>
          </a:prstGeom>
          <a:solidFill>
            <a:schemeClr val="tx2"/>
          </a:solidFill>
          <a:ln/>
        </p:spPr>
      </p:sp>
      <p:sp>
        <p:nvSpPr>
          <p:cNvPr id="15" name="Text 13"/>
          <p:cNvSpPr txBox="1"/>
          <p:nvPr/>
        </p:nvSpPr>
        <p:spPr>
          <a:xfrm>
            <a:off x="296265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283464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Features at the cutoff</a:t>
            </a:r>
            <a:endParaRPr lang="en-US" sz="1200" dirty="0"/>
          </a:p>
        </p:txBody>
      </p:sp>
      <p:sp>
        <p:nvSpPr>
          <p:cNvPr id="17" name="Text 15"/>
          <p:cNvSpPr txBox="1"/>
          <p:nvPr/>
        </p:nvSpPr>
        <p:spPr>
          <a:xfrm>
            <a:off x="283464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Only what was published before each decision or month</a:t>
            </a:r>
            <a:endParaRPr lang="en-US" sz="1050" dirty="0"/>
          </a:p>
        </p:txBody>
      </p:sp>
      <p:sp>
        <p:nvSpPr>
          <p:cNvPr id="18" name="Text 16"/>
          <p:cNvSpPr txBox="1"/>
          <p:nvPr/>
        </p:nvSpPr>
        <p:spPr>
          <a:xfrm>
            <a:off x="283464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Data explorer</a:t>
            </a:r>
            <a:endParaRPr lang="en-US" sz="950" dirty="0"/>
          </a:p>
        </p:txBody>
      </p:sp>
      <p:sp>
        <p:nvSpPr>
          <p:cNvPr id="19" name="tdot3"/>
          <p:cNvSpPr/>
          <p:nvPr/>
        </p:nvSpPr>
        <p:spPr>
          <a:xfrm>
            <a:off x="4151376" y="1234440"/>
            <a:ext cx="384048" cy="384048"/>
          </a:xfrm>
          <a:prstGeom prst="ellipse">
            <a:avLst/>
          </a:prstGeom>
          <a:solidFill>
            <a:schemeClr val="tx2"/>
          </a:solidFill>
          <a:ln/>
        </p:spPr>
      </p:sp>
      <p:sp>
        <p:nvSpPr>
          <p:cNvPr id="20" name="Text 18"/>
          <p:cNvSpPr txBox="1"/>
          <p:nvPr/>
        </p:nvSpPr>
        <p:spPr>
          <a:xfrm>
            <a:off x="415137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402336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Targets</a:t>
            </a:r>
            <a:endParaRPr lang="en-US" sz="1200" dirty="0"/>
          </a:p>
        </p:txBody>
      </p:sp>
      <p:sp>
        <p:nvSpPr>
          <p:cNvPr id="22" name="Text 20"/>
          <p:cNvSpPr txBox="1"/>
          <p:nvPr/>
        </p:nvSpPr>
        <p:spPr>
          <a:xfrm>
            <a:off x="402336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India: cut, hold or hike. Nepal: moves over 0.5 point in 3 months</a:t>
            </a:r>
            <a:endParaRPr lang="en-US" sz="1050" dirty="0"/>
          </a:p>
        </p:txBody>
      </p:sp>
      <p:sp>
        <p:nvSpPr>
          <p:cNvPr id="23" name="Text 21"/>
          <p:cNvSpPr txBox="1"/>
          <p:nvPr/>
        </p:nvSpPr>
        <p:spPr>
          <a:xfrm>
            <a:off x="402336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Models</a:t>
            </a:r>
            <a:endParaRPr lang="en-US" sz="950" dirty="0"/>
          </a:p>
        </p:txBody>
      </p:sp>
      <p:sp>
        <p:nvSpPr>
          <p:cNvPr id="24" name="tdot4"/>
          <p:cNvSpPr/>
          <p:nvPr/>
        </p:nvSpPr>
        <p:spPr>
          <a:xfrm>
            <a:off x="5340096" y="1234440"/>
            <a:ext cx="384048" cy="384048"/>
          </a:xfrm>
          <a:prstGeom prst="ellipse">
            <a:avLst/>
          </a:prstGeom>
          <a:solidFill>
            <a:schemeClr val="tx2"/>
          </a:solidFill>
          <a:ln/>
        </p:spPr>
      </p:sp>
      <p:sp>
        <p:nvSpPr>
          <p:cNvPr id="25" name="Text 23"/>
          <p:cNvSpPr txBox="1"/>
          <p:nvPr/>
        </p:nvSpPr>
        <p:spPr>
          <a:xfrm>
            <a:off x="534009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5</a:t>
            </a:r>
            <a:endParaRPr lang="en-US" sz="1300" dirty="0"/>
          </a:p>
        </p:txBody>
      </p:sp>
      <p:sp>
        <p:nvSpPr>
          <p:cNvPr id="26" name="Text 24"/>
          <p:cNvSpPr txBox="1"/>
          <p:nvPr/>
        </p:nvSpPr>
        <p:spPr>
          <a:xfrm>
            <a:off x="521208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Walk forward</a:t>
            </a:r>
            <a:endParaRPr lang="en-US" sz="1200" dirty="0"/>
          </a:p>
        </p:txBody>
      </p:sp>
      <p:sp>
        <p:nvSpPr>
          <p:cNvPr id="27" name="Text 25"/>
          <p:cNvSpPr txBox="1"/>
          <p:nvPr/>
        </p:nvSpPr>
        <p:spPr>
          <a:xfrm>
            <a:off x="521208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Refit at every decision on past outcomes only, up to October 2021</a:t>
            </a:r>
            <a:endParaRPr lang="en-US" sz="1050" dirty="0"/>
          </a:p>
        </p:txBody>
      </p:sp>
      <p:sp>
        <p:nvSpPr>
          <p:cNvPr id="28" name="Text 26"/>
          <p:cNvSpPr txBox="1"/>
          <p:nvPr/>
        </p:nvSpPr>
        <p:spPr>
          <a:xfrm>
            <a:off x="521208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Models</a:t>
            </a:r>
            <a:endParaRPr lang="en-US" sz="950" dirty="0"/>
          </a:p>
        </p:txBody>
      </p:sp>
      <p:sp>
        <p:nvSpPr>
          <p:cNvPr id="29" name="tdot5"/>
          <p:cNvSpPr/>
          <p:nvPr/>
        </p:nvSpPr>
        <p:spPr>
          <a:xfrm>
            <a:off x="6528816" y="1234440"/>
            <a:ext cx="384048" cy="384048"/>
          </a:xfrm>
          <a:prstGeom prst="ellipse">
            <a:avLst/>
          </a:prstGeom>
          <a:solidFill>
            <a:schemeClr val="tx2"/>
          </a:solidFill>
          <a:ln/>
        </p:spPr>
      </p:sp>
      <p:sp>
        <p:nvSpPr>
          <p:cNvPr id="30" name="Text 28"/>
          <p:cNvSpPr txBox="1"/>
          <p:nvPr/>
        </p:nvSpPr>
        <p:spPr>
          <a:xfrm>
            <a:off x="652881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6</a:t>
            </a:r>
            <a:endParaRPr lang="en-US" sz="1300" dirty="0"/>
          </a:p>
        </p:txBody>
      </p:sp>
      <p:sp>
        <p:nvSpPr>
          <p:cNvPr id="31" name="Text 29"/>
          <p:cNvSpPr txBox="1"/>
          <p:nvPr/>
        </p:nvSpPr>
        <p:spPr>
          <a:xfrm>
            <a:off x="640080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Check the skill</a:t>
            </a:r>
            <a:endParaRPr lang="en-US" sz="1200" dirty="0"/>
          </a:p>
        </p:txBody>
      </p:sp>
      <p:sp>
        <p:nvSpPr>
          <p:cNvPr id="32" name="Text 30"/>
          <p:cNvSpPr txBox="1"/>
          <p:nvPr/>
        </p:nvSpPr>
        <p:spPr>
          <a:xfrm>
            <a:off x="640080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Permutation, stability, block accuracy, replication, ablations</a:t>
            </a:r>
            <a:endParaRPr lang="en-US" sz="1050" dirty="0"/>
          </a:p>
        </p:txBody>
      </p:sp>
      <p:sp>
        <p:nvSpPr>
          <p:cNvPr id="33" name="Text 31"/>
          <p:cNvSpPr txBox="1"/>
          <p:nvPr/>
        </p:nvSpPr>
        <p:spPr>
          <a:xfrm>
            <a:off x="640080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Models, stability</a:t>
            </a:r>
            <a:endParaRPr lang="en-US" sz="950" dirty="0"/>
          </a:p>
        </p:txBody>
      </p:sp>
      <p:sp>
        <p:nvSpPr>
          <p:cNvPr id="34" name="tdot6"/>
          <p:cNvSpPr/>
          <p:nvPr/>
        </p:nvSpPr>
        <p:spPr>
          <a:xfrm>
            <a:off x="7717536" y="1234440"/>
            <a:ext cx="384048" cy="384048"/>
          </a:xfrm>
          <a:prstGeom prst="ellipse">
            <a:avLst/>
          </a:prstGeom>
          <a:solidFill>
            <a:schemeClr val="accent1"/>
          </a:solidFill>
          <a:ln/>
        </p:spPr>
      </p:sp>
      <p:sp>
        <p:nvSpPr>
          <p:cNvPr id="35" name="Text 33"/>
          <p:cNvSpPr txBox="1"/>
          <p:nvPr/>
        </p:nvSpPr>
        <p:spPr>
          <a:xfrm>
            <a:off x="771753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7</a:t>
            </a:r>
            <a:endParaRPr lang="en-US" sz="1300" dirty="0"/>
          </a:p>
        </p:txBody>
      </p:sp>
      <p:sp>
        <p:nvSpPr>
          <p:cNvPr id="36" name="Text 34"/>
          <p:cNvSpPr txBox="1"/>
          <p:nvPr/>
        </p:nvSpPr>
        <p:spPr>
          <a:xfrm>
            <a:off x="758952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Freeze and blind test</a:t>
            </a:r>
            <a:endParaRPr lang="en-US" sz="1200" dirty="0"/>
          </a:p>
        </p:txBody>
      </p:sp>
      <p:sp>
        <p:nvSpPr>
          <p:cNvPr id="37" name="Text 35"/>
          <p:cNvSpPr txBox="1"/>
          <p:nvPr/>
        </p:nvSpPr>
        <p:spPr>
          <a:xfrm>
            <a:off x="758952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Configuration hashed, then scored once on 2021 to 2026</a:t>
            </a:r>
            <a:endParaRPr lang="en-US" sz="1050" dirty="0"/>
          </a:p>
        </p:txBody>
      </p:sp>
      <p:sp>
        <p:nvSpPr>
          <p:cNvPr id="38" name="Text 36"/>
          <p:cNvSpPr txBox="1"/>
          <p:nvPr/>
        </p:nvSpPr>
        <p:spPr>
          <a:xfrm>
            <a:off x="758952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Blind backtest</a:t>
            </a:r>
            <a:endParaRPr lang="en-US" sz="950" dirty="0"/>
          </a:p>
        </p:txBody>
      </p:sp>
      <p:sp>
        <p:nvSpPr>
          <p:cNvPr id="39" name="Text 37"/>
          <p:cNvSpPr txBox="1"/>
          <p:nvPr/>
        </p:nvSpPr>
        <p:spPr>
          <a:xfrm>
            <a:off x="457200" y="4114800"/>
            <a:ext cx="8229600" cy="365760"/>
          </a:xfrm>
          <a:prstGeom prst="rect">
            <a:avLst/>
          </a:prstGeom>
          <a:noFill/>
          <a:ln/>
        </p:spPr>
        <p:txBody>
          <a:bodyPr wrap="square" lIns="0" tIns="0" rIns="0" bIns="0" rtlCol="0" anchor="ctr"/>
          <a:lstStyle/>
          <a:p>
            <a:pPr indent="0" marL="0">
              <a:buNone/>
            </a:pPr>
            <a:r>
              <a:rPr lang="en-US" sz="1300" i="1" dirty="0">
                <a:solidFill>
                  <a:schemeClr val="tx2"/>
                </a:solidFill>
                <a:latin typeface="Calibri" pitchFamily="34" charset="0"/>
                <a:ea typeface="Calibri" pitchFamily="34" charset="-122"/>
                <a:cs typeface="Calibri" pitchFamily="34" charset="-120"/>
              </a:rPr>
              <a:t>Every choice from step 2 onward was written into the decision log before it was run, and failures stay on the record.</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Steps 1 and 2: data, and a ledger of every variable</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663440" cy="914400"/>
        </p:xfrm>
        <a:graphic>
          <a:graphicData uri="http://schemas.openxmlformats.org/drawingml/2006/table">
            <a:tbl>
              <a:tblPr/>
              <a:tblGrid>
                <a:gridCol w="1234440"/>
                <a:gridCol w="2743200"/>
                <a:gridCol w="685800"/>
              </a:tblGrid>
              <a:tr h="274320">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What</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Files</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RBI</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Policy statements, policy index, projections</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250</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MOSPI</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CPI, industrial production</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IMF</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Nepal CPI, monetary surveys, interest rates</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BIS</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Policy rates of India and the US</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FRED</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Brent oil, rupee per dollar, VIX</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NRB</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Macro tables, time series database</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744</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Caldara and Iacoviello</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Geopolitical risk index</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Text 1"/>
          <p:cNvSpPr txBox="1"/>
          <p:nvPr/>
        </p:nvSpPr>
        <p:spPr>
          <a:xfrm>
            <a:off x="457200" y="3429000"/>
            <a:ext cx="4663440" cy="548640"/>
          </a:xfrm>
          <a:prstGeom prst="rect">
            <a:avLst/>
          </a:prstGeom>
          <a:noFill/>
          <a:ln/>
        </p:spPr>
        <p:txBody>
          <a:bodyPr wrap="square" lIns="0" tIns="0" rIns="0" bIns="0" rtlCol="0" anchor="ctr"/>
          <a:lstStyle/>
          <a:p>
            <a:pPr indent="0" marL="0">
              <a:buNone/>
            </a:pPr>
            <a:r>
              <a:rPr lang="en-US" sz="1050" i="1" dirty="0">
                <a:solidFill>
                  <a:schemeClr val="accent4"/>
                </a:solidFill>
                <a:latin typeface="Calibri" pitchFamily="34" charset="0"/>
                <a:ea typeface="Calibri" pitchFamily="34" charset="-122"/>
                <a:cs typeface="Calibri" pitchFamily="34" charset="-120"/>
              </a:rPr>
              <a:t>Files that failed or were incomplete are logged, not silently dropped: 1,015 of 1,177 downloads are usable.</a:t>
            </a:r>
            <a:endParaRPr lang="en-US" sz="1050" dirty="0"/>
          </a:p>
        </p:txBody>
      </p:sp>
      <p:graphicFrame>
        <p:nvGraphicFramePr>
          <p:cNvPr id="5" name="Chart 0" descr=""/>
          <p:cNvGraphicFramePr/>
          <p:nvPr/>
        </p:nvGraphicFramePr>
        <p:xfrm>
          <a:off x="5349240" y="1005840"/>
          <a:ext cx="3337560" cy="274320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349240" y="3840480"/>
            <a:ext cx="3337560" cy="77724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Each variable has a role, a source, a publication lag and a reason for its status, so nothing enters a model unexplained.</a:t>
            </a:r>
            <a:endParaRPr lang="en-US" sz="1100" dirty="0"/>
          </a:p>
        </p:txBody>
      </p:sp>
      <p:sp>
        <p:nvSpPr>
          <p:cNvPr id="7" name="Text 3"/>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Data explorer, Variable ledger</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Steps 3 and 4: features at the cutoff, and targets</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371600"/>
                <a:gridCol w="3429000"/>
                <a:gridCol w="3429000"/>
              </a:tblGrid>
              <a:tr h="0">
                <a:tc>
                  <a:txBody>
                    <a:bodyPr/>
                    <a:lstStyle/>
                    <a:p>
                      <a:pPr algn="ctr" indent="0" marL="0">
                        <a:buNone/>
                      </a:pP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Nepal</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0">
                <a:tc>
                  <a:txBody>
                    <a:bodyPr/>
                    <a:lstStyle/>
                    <a:p>
                      <a:pPr algn="l" indent="0" marL="0">
                        <a:buNone/>
                      </a:pPr>
                      <a:r>
                        <a:rPr lang="en-US" sz="1050" b="1" dirty="0">
                          <a:solidFill>
                            <a:schemeClr val="tx2"/>
                          </a:solidFill>
                          <a:latin typeface="Calibri" pitchFamily="34" charset="0"/>
                          <a:ea typeface="Calibri" pitchFamily="34" charset="-122"/>
                          <a:cs typeface="Calibri" pitchFamily="34" charset="-120"/>
                        </a:rPr>
                        <a:t>One row per</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RBI decision: 146 since 2001, inter meeting moves included</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Month, from the mid 1990s</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0">
                <a:tc>
                  <a:txBody>
                    <a:bodyPr/>
                    <a:lstStyle/>
                    <a:p>
                      <a:pPr algn="l" indent="0" marL="0">
                        <a:buNone/>
                      </a:pPr>
                      <a:r>
                        <a:rPr lang="en-US" sz="1050" b="1" dirty="0">
                          <a:solidFill>
                            <a:schemeClr val="tx2"/>
                          </a:solidFill>
                          <a:latin typeface="Calibri" pitchFamily="34" charset="0"/>
                          <a:ea typeface="Calibri" pitchFamily="34" charset="-122"/>
                          <a:cs typeface="Calibri" pitchFamily="34" charset="-120"/>
                        </a:rPr>
                        <a:t>Target</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Cut, hold or hike</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Does the published interbank rate rise, or fall, by more than 0.5 point over the next three months?</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0">
                <a:tc>
                  <a:txBody>
                    <a:bodyPr/>
                    <a:lstStyle/>
                    <a:p>
                      <a:pPr algn="l" indent="0" marL="0">
                        <a:buNone/>
                      </a:pPr>
                      <a:r>
                        <a:rPr lang="en-US" sz="1050" b="1" dirty="0">
                          <a:solidFill>
                            <a:schemeClr val="tx2"/>
                          </a:solidFill>
                          <a:latin typeface="Calibri" pitchFamily="34" charset="0"/>
                          <a:ea typeface="Calibri" pitchFamily="34" charset="-122"/>
                          <a:cs typeface="Calibri" pitchFamily="34" charset="-120"/>
                        </a:rPr>
                        <a:t>What is known</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Data published at least 7 days before the decision (1 and 30 days as checks)</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Interbank and corridor rates lagged one month, monetary data two months, as published</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0">
                <a:tc>
                  <a:txBody>
                    <a:bodyPr/>
                    <a:lstStyle/>
                    <a:p>
                      <a:pPr algn="l" indent="0" marL="0">
                        <a:buNone/>
                      </a:pPr>
                      <a:r>
                        <a:rPr lang="en-US" sz="1050" b="1" dirty="0">
                          <a:solidFill>
                            <a:schemeClr val="tx2"/>
                          </a:solidFill>
                          <a:latin typeface="Calibri" pitchFamily="34" charset="0"/>
                          <a:ea typeface="Calibri" pitchFamily="34" charset="-122"/>
                          <a:cs typeface="Calibri" pitchFamily="34" charset="-120"/>
                        </a:rPr>
                        <a:t>Inputs</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Previous decision; revision to the RBI's inflation projection; inflation and projected inflation minus the anchor; industrial growth minus its five year mean; rupee move over three months</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Interbank level and momentum; distance to the corridor floor and ceiling; NRB and RBI rate changes; reserves to deposits; NRB foreign asset growth; government deposits at the NRB; credit minus deposit growth; calendar effect</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0">
                <a:tc>
                  <a:txBody>
                    <a:bodyPr/>
                    <a:lstStyle/>
                    <a:p>
                      <a:pPr algn="l" indent="0" marL="0">
                        <a:buNone/>
                      </a:pPr>
                      <a:r>
                        <a:rPr lang="en-US" sz="1050" b="1" dirty="0">
                          <a:solidFill>
                            <a:schemeClr val="tx2"/>
                          </a:solidFill>
                          <a:latin typeface="Calibri" pitchFamily="34" charset="0"/>
                          <a:ea typeface="Calibri" pitchFamily="34" charset="-122"/>
                          <a:cs typeface="Calibri" pitchFamily="34" charset="-120"/>
                        </a:rPr>
                        <a:t>Fixed in advance</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Nominal anchor by regime: 5 percent from 2001, 8 in 2014, 6 in 2015, 5 in 2016, then the 4 percent target</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The 0.5 point band, set before the classes were counted</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Text 1"/>
          <p:cNvSpPr txBox="1"/>
          <p:nvPr/>
        </p:nvSpPr>
        <p:spPr>
          <a:xfrm>
            <a:off x="457200" y="3931920"/>
            <a:ext cx="8229600" cy="640080"/>
          </a:xfrm>
          <a:prstGeom prst="rect">
            <a:avLst/>
          </a:prstGeom>
          <a:noFill/>
          <a:ln/>
        </p:spPr>
        <p:txBody>
          <a:bodyPr wrap="square" lIns="0" tIns="0" rIns="0" bIns="0" rtlCol="0" anchor="ctr"/>
          <a:lstStyle/>
          <a:p>
            <a:pPr indent="0" marL="0">
              <a:buNone/>
            </a:pPr>
            <a:r>
              <a:rPr lang="en-US" sz="1200" i="1" dirty="0">
                <a:solidFill>
                  <a:schemeClr val="tx2"/>
                </a:solidFill>
                <a:latin typeface="Calibri" pitchFamily="34" charset="0"/>
                <a:ea typeface="Calibri" pitchFamily="34" charset="-122"/>
                <a:cs typeface="Calibri" pitchFamily="34" charset="-120"/>
              </a:rPr>
              <a:t>The rule is enforced in code: features are joined on publication dates, and a test fails if any input is dated after its cutoff. RBI projections were hand coded from 223 policy statements and count only from the day they were published.</a:t>
            </a:r>
            <a:endParaRPr lang="en-US" sz="1200" dirty="0"/>
          </a:p>
        </p:txBody>
      </p:sp>
      <p:sp>
        <p:nvSpPr>
          <p:cNvPr id="5" name="Text 2"/>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Data explorer, Models</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 5: walk forward training, never looking ahead</a:t>
            </a:r>
            <a:endParaRPr lang="en-US" sz="2600" dirty="0"/>
          </a:p>
        </p:txBody>
      </p:sp>
      <p:sp>
        <p:nvSpPr>
          <p:cNvPr id="3" name="Text 1"/>
          <p:cNvSpPr txBox="1"/>
          <p:nvPr/>
        </p:nvSpPr>
        <p:spPr>
          <a:xfrm>
            <a:off x="457200" y="1234440"/>
            <a:ext cx="822960" cy="320040"/>
          </a:xfrm>
          <a:prstGeom prst="rect">
            <a:avLst/>
          </a:prstGeom>
          <a:noFill/>
          <a:ln/>
        </p:spPr>
        <p:txBody>
          <a:bodyPr wrap="square" lIns="0" tIns="0" rIns="0" bIns="0" rtlCol="0" anchor="ctr"/>
          <a:lstStyle/>
          <a:p>
            <a:pPr indent="0" marL="0">
              <a:buNone/>
            </a:pPr>
            <a:r>
              <a:rPr lang="en-US" sz="1050" dirty="0">
                <a:solidFill>
                  <a:schemeClr val="accent4"/>
                </a:solidFill>
                <a:latin typeface="Calibri" pitchFamily="34" charset="0"/>
                <a:ea typeface="Calibri" pitchFamily="34" charset="-122"/>
                <a:cs typeface="Calibri" pitchFamily="34" charset="-120"/>
              </a:rPr>
              <a:t>Origin 1</a:t>
            </a:r>
            <a:endParaRPr lang="en-US" sz="1050" dirty="0"/>
          </a:p>
        </p:txBody>
      </p:sp>
      <p:sp>
        <p:nvSpPr>
          <p:cNvPr id="4" name="wftr0"/>
          <p:cNvSpPr/>
          <p:nvPr/>
        </p:nvSpPr>
        <p:spPr>
          <a:xfrm>
            <a:off x="1325880" y="1280160"/>
            <a:ext cx="2194560" cy="228600"/>
          </a:xfrm>
          <a:prstGeom prst="rect">
            <a:avLst/>
          </a:prstGeom>
          <a:solidFill>
            <a:schemeClr val="accent2"/>
          </a:solidFill>
          <a:ln/>
        </p:spPr>
      </p:sp>
      <p:sp>
        <p:nvSpPr>
          <p:cNvPr id="5" name="wfemb0"/>
          <p:cNvSpPr/>
          <p:nvPr/>
        </p:nvSpPr>
        <p:spPr>
          <a:xfrm>
            <a:off x="3520440" y="1280160"/>
            <a:ext cx="457200" cy="228600"/>
          </a:xfrm>
          <a:prstGeom prst="rect">
            <a:avLst/>
          </a:prstGeom>
          <a:solidFill>
            <a:srgbClr val="D9DCE1"/>
          </a:solidFill>
          <a:ln/>
        </p:spPr>
      </p:sp>
      <p:sp>
        <p:nvSpPr>
          <p:cNvPr id="6" name="wfte0"/>
          <p:cNvSpPr/>
          <p:nvPr/>
        </p:nvSpPr>
        <p:spPr>
          <a:xfrm>
            <a:off x="3995928" y="1271016"/>
            <a:ext cx="246888" cy="246888"/>
          </a:xfrm>
          <a:prstGeom prst="ellipse">
            <a:avLst/>
          </a:prstGeom>
          <a:solidFill>
            <a:schemeClr val="accent1"/>
          </a:solidFill>
          <a:ln/>
        </p:spPr>
      </p:sp>
      <p:sp>
        <p:nvSpPr>
          <p:cNvPr id="7" name="Text 5"/>
          <p:cNvSpPr txBox="1"/>
          <p:nvPr/>
        </p:nvSpPr>
        <p:spPr>
          <a:xfrm>
            <a:off x="457200" y="1737360"/>
            <a:ext cx="822960" cy="320040"/>
          </a:xfrm>
          <a:prstGeom prst="rect">
            <a:avLst/>
          </a:prstGeom>
          <a:noFill/>
          <a:ln/>
        </p:spPr>
        <p:txBody>
          <a:bodyPr wrap="square" lIns="0" tIns="0" rIns="0" bIns="0" rtlCol="0" anchor="ctr"/>
          <a:lstStyle/>
          <a:p>
            <a:pPr indent="0" marL="0">
              <a:buNone/>
            </a:pPr>
            <a:r>
              <a:rPr lang="en-US" sz="1050" dirty="0">
                <a:solidFill>
                  <a:schemeClr val="accent4"/>
                </a:solidFill>
                <a:latin typeface="Calibri" pitchFamily="34" charset="0"/>
                <a:ea typeface="Calibri" pitchFamily="34" charset="-122"/>
                <a:cs typeface="Calibri" pitchFamily="34" charset="-120"/>
              </a:rPr>
              <a:t>Origin 2</a:t>
            </a:r>
            <a:endParaRPr lang="en-US" sz="1050" dirty="0"/>
          </a:p>
        </p:txBody>
      </p:sp>
      <p:sp>
        <p:nvSpPr>
          <p:cNvPr id="8" name="wftr1"/>
          <p:cNvSpPr/>
          <p:nvPr/>
        </p:nvSpPr>
        <p:spPr>
          <a:xfrm>
            <a:off x="1325880" y="1783080"/>
            <a:ext cx="2743200" cy="228600"/>
          </a:xfrm>
          <a:prstGeom prst="rect">
            <a:avLst/>
          </a:prstGeom>
          <a:solidFill>
            <a:schemeClr val="accent2"/>
          </a:solidFill>
          <a:ln/>
        </p:spPr>
      </p:sp>
      <p:sp>
        <p:nvSpPr>
          <p:cNvPr id="9" name="wfemb1"/>
          <p:cNvSpPr/>
          <p:nvPr/>
        </p:nvSpPr>
        <p:spPr>
          <a:xfrm>
            <a:off x="4069080" y="1783080"/>
            <a:ext cx="457200" cy="228600"/>
          </a:xfrm>
          <a:prstGeom prst="rect">
            <a:avLst/>
          </a:prstGeom>
          <a:solidFill>
            <a:srgbClr val="D9DCE1"/>
          </a:solidFill>
          <a:ln/>
        </p:spPr>
      </p:sp>
      <p:sp>
        <p:nvSpPr>
          <p:cNvPr id="10" name="wfte1"/>
          <p:cNvSpPr/>
          <p:nvPr/>
        </p:nvSpPr>
        <p:spPr>
          <a:xfrm>
            <a:off x="4544568" y="1773936"/>
            <a:ext cx="246888" cy="246888"/>
          </a:xfrm>
          <a:prstGeom prst="ellipse">
            <a:avLst/>
          </a:prstGeom>
          <a:solidFill>
            <a:schemeClr val="accent1"/>
          </a:solidFill>
          <a:ln/>
        </p:spPr>
      </p:sp>
      <p:sp>
        <p:nvSpPr>
          <p:cNvPr id="11" name="Text 9"/>
          <p:cNvSpPr txBox="1"/>
          <p:nvPr/>
        </p:nvSpPr>
        <p:spPr>
          <a:xfrm>
            <a:off x="457200" y="2240280"/>
            <a:ext cx="822960" cy="320040"/>
          </a:xfrm>
          <a:prstGeom prst="rect">
            <a:avLst/>
          </a:prstGeom>
          <a:noFill/>
          <a:ln/>
        </p:spPr>
        <p:txBody>
          <a:bodyPr wrap="square" lIns="0" tIns="0" rIns="0" bIns="0" rtlCol="0" anchor="ctr"/>
          <a:lstStyle/>
          <a:p>
            <a:pPr indent="0" marL="0">
              <a:buNone/>
            </a:pPr>
            <a:r>
              <a:rPr lang="en-US" sz="1050" dirty="0">
                <a:solidFill>
                  <a:schemeClr val="accent4"/>
                </a:solidFill>
                <a:latin typeface="Calibri" pitchFamily="34" charset="0"/>
                <a:ea typeface="Calibri" pitchFamily="34" charset="-122"/>
                <a:cs typeface="Calibri" pitchFamily="34" charset="-120"/>
              </a:rPr>
              <a:t>Origin 3</a:t>
            </a:r>
            <a:endParaRPr lang="en-US" sz="1050" dirty="0"/>
          </a:p>
        </p:txBody>
      </p:sp>
      <p:sp>
        <p:nvSpPr>
          <p:cNvPr id="12" name="wftr2"/>
          <p:cNvSpPr/>
          <p:nvPr/>
        </p:nvSpPr>
        <p:spPr>
          <a:xfrm>
            <a:off x="1325880" y="2286000"/>
            <a:ext cx="3291840" cy="228600"/>
          </a:xfrm>
          <a:prstGeom prst="rect">
            <a:avLst/>
          </a:prstGeom>
          <a:solidFill>
            <a:schemeClr val="accent2"/>
          </a:solidFill>
          <a:ln/>
        </p:spPr>
      </p:sp>
      <p:sp>
        <p:nvSpPr>
          <p:cNvPr id="13" name="wfemb2"/>
          <p:cNvSpPr/>
          <p:nvPr/>
        </p:nvSpPr>
        <p:spPr>
          <a:xfrm>
            <a:off x="4617720" y="2286000"/>
            <a:ext cx="457200" cy="228600"/>
          </a:xfrm>
          <a:prstGeom prst="rect">
            <a:avLst/>
          </a:prstGeom>
          <a:solidFill>
            <a:srgbClr val="D9DCE1"/>
          </a:solidFill>
          <a:ln/>
        </p:spPr>
      </p:sp>
      <p:sp>
        <p:nvSpPr>
          <p:cNvPr id="14" name="wfte2"/>
          <p:cNvSpPr/>
          <p:nvPr/>
        </p:nvSpPr>
        <p:spPr>
          <a:xfrm>
            <a:off x="5093208" y="2276856"/>
            <a:ext cx="246888" cy="246888"/>
          </a:xfrm>
          <a:prstGeom prst="ellipse">
            <a:avLst/>
          </a:prstGeom>
          <a:solidFill>
            <a:schemeClr val="accent1"/>
          </a:solidFill>
          <a:ln/>
        </p:spPr>
      </p:sp>
      <p:sp>
        <p:nvSpPr>
          <p:cNvPr id="15" name="Text 13"/>
          <p:cNvSpPr txBox="1"/>
          <p:nvPr/>
        </p:nvSpPr>
        <p:spPr>
          <a:xfrm>
            <a:off x="457200" y="2788920"/>
            <a:ext cx="5486400" cy="274320"/>
          </a:xfrm>
          <a:prstGeom prst="rect">
            <a:avLst/>
          </a:prstGeom>
          <a:noFill/>
          <a:ln/>
        </p:spPr>
        <p:txBody>
          <a:bodyPr wrap="square" lIns="0" tIns="0" rIns="0" bIns="0" rtlCol="0" anchor="ctr"/>
          <a:lstStyle/>
          <a:p>
            <a:pPr indent="0" marL="0">
              <a:buNone/>
            </a:pPr>
            <a:r>
              <a:rPr lang="en-US" sz="1000" b="1" dirty="0">
                <a:solidFill>
                  <a:schemeClr val="accent2"/>
                </a:solidFill>
                <a:latin typeface="Calibri" pitchFamily="34" charset="0"/>
                <a:ea typeface="Calibri" pitchFamily="34" charset="-122"/>
                <a:cs typeface="Calibri" pitchFamily="34" charset="-120"/>
              </a:rPr>
              <a:t>Train</a:t>
            </a:r>
            <a:pPr indent="0" marL="0">
              <a:buNone/>
            </a:pPr>
            <a:r>
              <a:rPr lang="en-US" sz="1000" dirty="0">
                <a:solidFill>
                  <a:schemeClr val="tx1"/>
                </a:solidFill>
                <a:latin typeface="Calibri" pitchFamily="34" charset="0"/>
                <a:ea typeface="Calibri" pitchFamily="34" charset="-122"/>
                <a:cs typeface="Calibri" pitchFamily="34" charset="-120"/>
              </a:rPr>
              <a:t>  on public outcomes    </a:t>
            </a:r>
            <a:pPr indent="0" marL="0">
              <a:buNone/>
            </a:pPr>
            <a:r>
              <a:rPr lang="en-US" sz="1000" b="1" dirty="0">
                <a:solidFill>
                  <a:schemeClr val="accent4"/>
                </a:solidFill>
                <a:latin typeface="Calibri" pitchFamily="34" charset="0"/>
                <a:ea typeface="Calibri" pitchFamily="34" charset="-122"/>
                <a:cs typeface="Calibri" pitchFamily="34" charset="-120"/>
              </a:rPr>
              <a:t>Gap</a:t>
            </a:r>
            <a:pPr indent="0" marL="0">
              <a:buNone/>
            </a:pPr>
            <a:r>
              <a:rPr lang="en-US" sz="1000" dirty="0">
                <a:solidFill>
                  <a:schemeClr val="tx1"/>
                </a:solidFill>
                <a:latin typeface="Calibri" pitchFamily="34" charset="0"/>
                <a:ea typeface="Calibri" pitchFamily="34" charset="-122"/>
                <a:cs typeface="Calibri" pitchFamily="34" charset="-120"/>
              </a:rPr>
              <a:t>  Nepal labels not yet known    </a:t>
            </a:r>
            <a:pPr indent="0" marL="0">
              <a:buNone/>
            </a:pPr>
            <a:r>
              <a:rPr lang="en-US" sz="1000" b="1" dirty="0">
                <a:solidFill>
                  <a:schemeClr val="accent1"/>
                </a:solidFill>
                <a:latin typeface="Calibri" pitchFamily="34" charset="0"/>
                <a:ea typeface="Calibri" pitchFamily="34" charset="-122"/>
                <a:cs typeface="Calibri" pitchFamily="34" charset="-120"/>
              </a:rPr>
              <a:t>Predict</a:t>
            </a:r>
            <a:pPr indent="0" marL="0">
              <a:buNone/>
            </a:pPr>
            <a:r>
              <a:rPr lang="en-US" sz="1000" dirty="0">
                <a:solidFill>
                  <a:schemeClr val="tx1"/>
                </a:solidFill>
                <a:latin typeface="Calibri" pitchFamily="34" charset="0"/>
                <a:ea typeface="Calibri" pitchFamily="34" charset="-122"/>
                <a:cs typeface="Calibri" pitchFamily="34" charset="-120"/>
              </a:rPr>
              <a:t>  the next one</a:t>
            </a:r>
            <a:endParaRPr lang="en-US" sz="1000" dirty="0"/>
          </a:p>
        </p:txBody>
      </p:sp>
      <p:sp>
        <p:nvSpPr>
          <p:cNvPr id="16" name="t4a"/>
          <p:cNvSpPr/>
          <p:nvPr/>
        </p:nvSpPr>
        <p:spPr>
          <a:xfrm>
            <a:off x="457200" y="3200400"/>
            <a:ext cx="2651760" cy="1463040"/>
          </a:xfrm>
          <a:prstGeom prst="roundRect">
            <a:avLst>
              <a:gd name="adj" fmla="val 5000"/>
            </a:avLst>
          </a:prstGeom>
          <a:solidFill>
            <a:schemeClr val="bg2"/>
          </a:solidFill>
          <a:ln/>
        </p:spPr>
      </p:sp>
      <p:sp>
        <p:nvSpPr>
          <p:cNvPr id="17" name="Text 15"/>
          <p:cNvSpPr txBox="1"/>
          <p:nvPr/>
        </p:nvSpPr>
        <p:spPr>
          <a:xfrm>
            <a:off x="594360" y="3291840"/>
            <a:ext cx="2377440" cy="1298448"/>
          </a:xfrm>
          <a:prstGeom prst="rect">
            <a:avLst/>
          </a:prstGeom>
          <a:noFill/>
          <a:ln/>
        </p:spPr>
        <p:txBody>
          <a:bodyPr wrap="square" lIns="0" tIns="0" rIns="0" bIns="0" rtlCol="0" anchor="t"/>
          <a:lstStyle/>
          <a:p>
            <a:pPr indent="0" marL="0">
              <a:buNone/>
            </a:pPr>
            <a:r>
              <a:rPr lang="en-US" sz="1050" b="1" dirty="0">
                <a:solidFill>
                  <a:schemeClr val="accent2"/>
                </a:solidFill>
                <a:latin typeface="Calibri" pitchFamily="34" charset="0"/>
                <a:ea typeface="Calibri" pitchFamily="34" charset="-122"/>
                <a:cs typeface="Calibri" pitchFamily="34" charset="-120"/>
              </a:rPr>
              <a:t>Expanding window</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India from the 41st decision (January 2010); Nepal after 60 months. Rolling and recency weighted windows were tried for Nepal and did not do better overall.</a:t>
            </a:r>
            <a:endParaRPr lang="en-US" sz="1050" dirty="0"/>
          </a:p>
        </p:txBody>
      </p:sp>
      <p:sp>
        <p:nvSpPr>
          <p:cNvPr id="18" name="t4b"/>
          <p:cNvSpPr/>
          <p:nvPr/>
        </p:nvSpPr>
        <p:spPr>
          <a:xfrm>
            <a:off x="3246120" y="3200400"/>
            <a:ext cx="2651760" cy="1463040"/>
          </a:xfrm>
          <a:prstGeom prst="roundRect">
            <a:avLst>
              <a:gd name="adj" fmla="val 5000"/>
            </a:avLst>
          </a:prstGeom>
          <a:solidFill>
            <a:schemeClr val="bg2"/>
          </a:solidFill>
          <a:ln/>
        </p:spPr>
      </p:sp>
      <p:sp>
        <p:nvSpPr>
          <p:cNvPr id="19" name="Text 17"/>
          <p:cNvSpPr txBox="1"/>
          <p:nvPr/>
        </p:nvSpPr>
        <p:spPr>
          <a:xfrm>
            <a:off x="3383280" y="3291840"/>
            <a:ext cx="2377440" cy="1298448"/>
          </a:xfrm>
          <a:prstGeom prst="rect">
            <a:avLst/>
          </a:prstGeom>
          <a:noFill/>
          <a:ln/>
        </p:spPr>
        <p:txBody>
          <a:bodyPr wrap="square" lIns="0" tIns="0" rIns="0" bIns="0" rtlCol="0" anchor="t"/>
          <a:lstStyle/>
          <a:p>
            <a:pPr indent="0" marL="0">
              <a:buNone/>
            </a:pPr>
            <a:r>
              <a:rPr lang="en-US" sz="1050" b="1" dirty="0">
                <a:solidFill>
                  <a:schemeClr val="accent2"/>
                </a:solidFill>
                <a:latin typeface="Calibri" pitchFamily="34" charset="0"/>
                <a:ea typeface="Calibri" pitchFamily="34" charset="-122"/>
                <a:cs typeface="Calibri" pitchFamily="34" charset="-120"/>
              </a:rPr>
              <a:t>Refit every time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Scaling, coefficients and the calendar effect are estimated inside each window only, so no future mean leaks in.</a:t>
            </a:r>
            <a:endParaRPr lang="en-US" sz="1050" dirty="0"/>
          </a:p>
        </p:txBody>
      </p:sp>
      <p:sp>
        <p:nvSpPr>
          <p:cNvPr id="20" name="t4c"/>
          <p:cNvSpPr/>
          <p:nvPr/>
        </p:nvSpPr>
        <p:spPr>
          <a:xfrm>
            <a:off x="6035040" y="3200400"/>
            <a:ext cx="2651760" cy="1463040"/>
          </a:xfrm>
          <a:prstGeom prst="roundRect">
            <a:avLst>
              <a:gd name="adj" fmla="val 5000"/>
            </a:avLst>
          </a:prstGeom>
          <a:solidFill>
            <a:schemeClr val="bg2"/>
          </a:solidFill>
          <a:ln/>
        </p:spPr>
      </p:sp>
      <p:sp>
        <p:nvSpPr>
          <p:cNvPr id="21" name="Text 19"/>
          <p:cNvSpPr txBox="1"/>
          <p:nvPr/>
        </p:nvSpPr>
        <p:spPr>
          <a:xfrm>
            <a:off x="6172200" y="3291840"/>
            <a:ext cx="2377440" cy="1298448"/>
          </a:xfrm>
          <a:prstGeom prst="rect">
            <a:avLst/>
          </a:prstGeom>
          <a:noFill/>
          <a:ln/>
        </p:spPr>
        <p:txBody>
          <a:bodyPr wrap="square" lIns="0" tIns="0" rIns="0" bIns="0" rtlCol="0" anchor="t"/>
          <a:lstStyle/>
          <a:p>
            <a:pPr indent="0" marL="0">
              <a:buNone/>
            </a:pPr>
            <a:r>
              <a:rPr lang="en-US" sz="1050" b="1" dirty="0">
                <a:solidFill>
                  <a:schemeClr val="accent2"/>
                </a:solidFill>
                <a:latin typeface="Calibri" pitchFamily="34" charset="0"/>
                <a:ea typeface="Calibri" pitchFamily="34" charset="-122"/>
                <a:cs typeface="Calibri" pitchFamily="34" charset="-120"/>
              </a:rPr>
              <a:t>Tuning without peeking</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Penalty strength picked by an inner walk forward on the last 15 training decisions, choosing the simplest within one standard error.</a:t>
            </a:r>
            <a:endParaRPr lang="en-US" sz="1050" dirty="0"/>
          </a:p>
        </p:txBody>
      </p:sp>
      <p:sp>
        <p:nvSpPr>
          <p:cNvPr id="22" name="t4d"/>
          <p:cNvSpPr/>
          <p:nvPr/>
        </p:nvSpPr>
        <p:spPr>
          <a:xfrm>
            <a:off x="6035040" y="1143000"/>
            <a:ext cx="2651760" cy="1783080"/>
          </a:xfrm>
          <a:prstGeom prst="roundRect">
            <a:avLst>
              <a:gd name="adj" fmla="val 4103"/>
            </a:avLst>
          </a:prstGeom>
          <a:solidFill>
            <a:schemeClr val="bg2"/>
          </a:solidFill>
          <a:ln/>
        </p:spPr>
      </p:sp>
      <p:sp>
        <p:nvSpPr>
          <p:cNvPr id="23" name="Text 21"/>
          <p:cNvSpPr txBox="1"/>
          <p:nvPr/>
        </p:nvSpPr>
        <p:spPr>
          <a:xfrm>
            <a:off x="6172200" y="1234440"/>
            <a:ext cx="2377440" cy="1618488"/>
          </a:xfrm>
          <a:prstGeom prst="rect">
            <a:avLst/>
          </a:prstGeom>
          <a:noFill/>
          <a:ln/>
        </p:spPr>
        <p:txBody>
          <a:bodyPr wrap="square" lIns="0" tIns="0" rIns="0" bIns="0" rtlCol="0" anchor="t"/>
          <a:lstStyle/>
          <a:p>
            <a:pPr indent="0" marL="0">
              <a:buNone/>
            </a:pPr>
            <a:r>
              <a:rPr lang="en-US" sz="1050" b="1" dirty="0">
                <a:solidFill>
                  <a:schemeClr val="accent4"/>
                </a:solidFill>
                <a:latin typeface="Calibri" pitchFamily="34" charset="0"/>
                <a:ea typeface="Calibri" pitchFamily="34" charset="-122"/>
                <a:cs typeface="Calibri" pitchFamily="34" charset="-120"/>
              </a:rPr>
              <a:t>Benchmarks, same rules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Majority class, persistence (repeat the last decision) and simple rules are scored on exactly the same origins.</a:t>
            </a:r>
            <a:endParaRPr lang="en-US" sz="1050" dirty="0"/>
          </a:p>
        </p:txBody>
      </p:sp>
      <p:sp>
        <p:nvSpPr>
          <p:cNvPr id="24" name="Text 22"/>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Models</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 5: three generations of the India model</a:t>
            </a:r>
            <a:endParaRPr lang="en-US" sz="2600" dirty="0"/>
          </a:p>
        </p:txBody>
      </p:sp>
      <p:graphicFrame>
        <p:nvGraphicFramePr>
          <p:cNvPr id="3" name="Chart 0"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t5a"/>
          <p:cNvSpPr/>
          <p:nvPr/>
        </p:nvSpPr>
        <p:spPr>
          <a:xfrm>
            <a:off x="5760720" y="1097280"/>
            <a:ext cx="2926080" cy="1097280"/>
          </a:xfrm>
          <a:prstGeom prst="roundRect">
            <a:avLst>
              <a:gd name="adj" fmla="val 6667"/>
            </a:avLst>
          </a:prstGeom>
          <a:solidFill>
            <a:schemeClr val="bg2"/>
          </a:solidFill>
          <a:ln/>
        </p:spPr>
      </p:sp>
      <p:sp>
        <p:nvSpPr>
          <p:cNvPr id="5" name="Text 2"/>
          <p:cNvSpPr txBox="1"/>
          <p:nvPr/>
        </p:nvSpPr>
        <p:spPr>
          <a:xfrm>
            <a:off x="5897880" y="1188720"/>
            <a:ext cx="2651760" cy="932688"/>
          </a:xfrm>
          <a:prstGeom prst="rect">
            <a:avLst/>
          </a:prstGeom>
          <a:noFill/>
          <a:ln/>
        </p:spPr>
        <p:txBody>
          <a:bodyPr wrap="square" lIns="0" tIns="0" rIns="0" bIns="0" rtlCol="0" anchor="t"/>
          <a:lstStyle/>
          <a:p>
            <a:pPr indent="0" marL="0">
              <a:buNone/>
            </a:pPr>
            <a:r>
              <a:rPr lang="en-US" sz="1050" b="1" dirty="0">
                <a:solidFill>
                  <a:schemeClr val="accent4"/>
                </a:solidFill>
                <a:latin typeface="Calibri" pitchFamily="34" charset="0"/>
                <a:ea typeface="Calibri" pitchFamily="34" charset="-122"/>
                <a:cs typeface="Calibri" pitchFamily="34" charset="-120"/>
              </a:rPr>
              <a:t>Gen 1: realized data</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Inflation and growth as published. Complex versions overfit; none clearly beat persistence.</a:t>
            </a:r>
            <a:endParaRPr lang="en-US" sz="1050" dirty="0"/>
          </a:p>
        </p:txBody>
      </p:sp>
      <p:sp>
        <p:nvSpPr>
          <p:cNvPr id="6" name="t5b"/>
          <p:cNvSpPr/>
          <p:nvPr/>
        </p:nvSpPr>
        <p:spPr>
          <a:xfrm>
            <a:off x="5760720" y="2286000"/>
            <a:ext cx="2926080" cy="1097280"/>
          </a:xfrm>
          <a:prstGeom prst="roundRect">
            <a:avLst>
              <a:gd name="adj" fmla="val 6667"/>
            </a:avLst>
          </a:prstGeom>
          <a:solidFill>
            <a:schemeClr val="bg2"/>
          </a:solidFill>
          <a:ln/>
        </p:spPr>
      </p:sp>
      <p:sp>
        <p:nvSpPr>
          <p:cNvPr id="7" name="Text 4"/>
          <p:cNvSpPr txBox="1"/>
          <p:nvPr/>
        </p:nvSpPr>
        <p:spPr>
          <a:xfrm>
            <a:off x="5897880" y="2377440"/>
            <a:ext cx="2651760" cy="932688"/>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Gen 2: the RBI's own forecast</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Adding its inflation projection and its revision: the RBI reacts to news in its forecast.</a:t>
            </a:r>
            <a:endParaRPr lang="en-US" sz="1050" dirty="0"/>
          </a:p>
        </p:txBody>
      </p:sp>
      <p:sp>
        <p:nvSpPr>
          <p:cNvPr id="8" name="t5c"/>
          <p:cNvSpPr/>
          <p:nvPr/>
        </p:nvSpPr>
        <p:spPr>
          <a:xfrm>
            <a:off x="5760720" y="3474720"/>
            <a:ext cx="2926080" cy="1143000"/>
          </a:xfrm>
          <a:prstGeom prst="roundRect">
            <a:avLst>
              <a:gd name="adj" fmla="val 6400"/>
            </a:avLst>
          </a:prstGeom>
          <a:solidFill>
            <a:schemeClr val="bg2"/>
          </a:solidFill>
          <a:ln/>
        </p:spPr>
      </p:sp>
      <p:sp>
        <p:nvSpPr>
          <p:cNvPr id="9" name="Text 6"/>
          <p:cNvSpPr txBox="1"/>
          <p:nvPr/>
        </p:nvSpPr>
        <p:spPr>
          <a:xfrm>
            <a:off x="5897880" y="3566160"/>
            <a:ext cx="2651760" cy="978408"/>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Gen 3: distance to the anchor</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Inflation measured against the anchor of each regime. Six inputs. Chosen as the primary model.</a:t>
            </a:r>
            <a:endParaRPr lang="en-US" sz="1050" dirty="0"/>
          </a:p>
        </p:txBody>
      </p:sp>
      <p:sp>
        <p:nvSpPr>
          <p:cNvPr id="10" name="Text 7"/>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Models</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 6: is the skill real, and is it stable?</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3017520"/>
                <a:gridCol w="3474720"/>
              </a:tblGrid>
              <a:tr h="438912">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Check</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Question it answers</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Result</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Permutation test</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Could shuffled history score as well?</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Generation 2: 0.59 against 0.47 for the top 5 percent of 96 shifts; p 0.01</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Coefficient stability</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Does each effect keep its sign as the window grows?</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All 6 India inputs in at least 81 percent of 75 windows; all 8 Nepal inputs in at least 82 percent of 157</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Accuracy by period</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Is the gain spread over time, not one lucky spell?</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India beats persistence in 3 of 4 three year blocks; Nepal in 3 of 5</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Diebold Mariano</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Are probability scores better than the benchmark?</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accent5"/>
                          </a:solidFill>
                          <a:latin typeface="Calibri" pitchFamily="34" charset="0"/>
                          <a:ea typeface="Calibri" pitchFamily="34" charset="-122"/>
                          <a:cs typeface="Calibri" pitchFamily="34" charset="-120"/>
                        </a:rPr>
                        <a:t>Not significantly better than persistence (p 0.62 in training)</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Ablations</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Do news, geopolitical or election indices help?</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None improved the model; all rejected</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Replication</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Does a rebuild from raw files give the same output?</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Identical file hashes</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Text 1"/>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Models, stability and replication</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 7: freeze, then test once on unseen years</a:t>
            </a:r>
            <a:endParaRPr lang="en-US" sz="2600" dirty="0"/>
          </a:p>
        </p:txBody>
      </p:sp>
      <p:sp>
        <p:nvSpPr>
          <p:cNvPr id="3" name="fz0"/>
          <p:cNvSpPr/>
          <p:nvPr/>
        </p:nvSpPr>
        <p:spPr>
          <a:xfrm>
            <a:off x="457200" y="1188720"/>
            <a:ext cx="1920240" cy="2514600"/>
          </a:xfrm>
          <a:prstGeom prst="roundRect">
            <a:avLst>
              <a:gd name="adj" fmla="val 3810"/>
            </a:avLst>
          </a:prstGeom>
          <a:solidFill>
            <a:schemeClr val="bg2"/>
          </a:solidFill>
          <a:ln/>
        </p:spPr>
      </p:sp>
      <p:sp>
        <p:nvSpPr>
          <p:cNvPr id="4" name="fzd0"/>
          <p:cNvSpPr/>
          <p:nvPr/>
        </p:nvSpPr>
        <p:spPr>
          <a:xfrm>
            <a:off x="594360" y="1325880"/>
            <a:ext cx="384048" cy="384048"/>
          </a:xfrm>
          <a:prstGeom prst="ellipse">
            <a:avLst/>
          </a:prstGeom>
          <a:solidFill>
            <a:schemeClr val="tx2"/>
          </a:solidFill>
          <a:ln/>
        </p:spPr>
      </p:sp>
      <p:sp>
        <p:nvSpPr>
          <p:cNvPr id="5" name="Text 3"/>
          <p:cNvSpPr txBox="1"/>
          <p:nvPr/>
        </p:nvSpPr>
        <p:spPr>
          <a:xfrm>
            <a:off x="594360" y="13258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594360" y="1783080"/>
            <a:ext cx="1645920" cy="36576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Freeze</a:t>
            </a:r>
            <a:endParaRPr lang="en-US" sz="1400" dirty="0"/>
          </a:p>
        </p:txBody>
      </p:sp>
      <p:sp>
        <p:nvSpPr>
          <p:cNvPr id="7" name="Text 5"/>
          <p:cNvSpPr txBox="1"/>
          <p:nvPr/>
        </p:nvSpPr>
        <p:spPr>
          <a:xfrm>
            <a:off x="594360" y="2148840"/>
            <a:ext cx="1645920" cy="15087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Models, inputs and benchmarks written into a configuration and hashed with SHA256. The scoring script refuses to run if the hash changes.</a:t>
            </a:r>
            <a:endParaRPr lang="en-US" sz="1050" dirty="0"/>
          </a:p>
        </p:txBody>
      </p:sp>
      <p:sp>
        <p:nvSpPr>
          <p:cNvPr id="8" name="fza0"/>
          <p:cNvSpPr/>
          <p:nvPr/>
        </p:nvSpPr>
        <p:spPr>
          <a:xfrm>
            <a:off x="2404872" y="2331720"/>
            <a:ext cx="128016" cy="274320"/>
          </a:xfrm>
          <a:prstGeom prst="chevron">
            <a:avLst/>
          </a:prstGeom>
          <a:solidFill>
            <a:schemeClr val="accent4"/>
          </a:solidFill>
          <a:ln/>
        </p:spPr>
      </p:sp>
      <p:sp>
        <p:nvSpPr>
          <p:cNvPr id="9" name="fz1"/>
          <p:cNvSpPr/>
          <p:nvPr/>
        </p:nvSpPr>
        <p:spPr>
          <a:xfrm>
            <a:off x="2560320" y="1188720"/>
            <a:ext cx="1920240" cy="2514600"/>
          </a:xfrm>
          <a:prstGeom prst="roundRect">
            <a:avLst>
              <a:gd name="adj" fmla="val 3810"/>
            </a:avLst>
          </a:prstGeom>
          <a:solidFill>
            <a:schemeClr val="bg2"/>
          </a:solidFill>
          <a:ln/>
        </p:spPr>
      </p:sp>
      <p:sp>
        <p:nvSpPr>
          <p:cNvPr id="10" name="fzd1"/>
          <p:cNvSpPr/>
          <p:nvPr/>
        </p:nvSpPr>
        <p:spPr>
          <a:xfrm>
            <a:off x="2697480" y="1325880"/>
            <a:ext cx="384048" cy="384048"/>
          </a:xfrm>
          <a:prstGeom prst="ellipse">
            <a:avLst/>
          </a:prstGeom>
          <a:solidFill>
            <a:schemeClr val="accent1"/>
          </a:solidFill>
          <a:ln/>
        </p:spPr>
      </p:sp>
      <p:sp>
        <p:nvSpPr>
          <p:cNvPr id="11" name="Text 9"/>
          <p:cNvSpPr txBox="1"/>
          <p:nvPr/>
        </p:nvSpPr>
        <p:spPr>
          <a:xfrm>
            <a:off x="2697480" y="13258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2697480" y="1783080"/>
            <a:ext cx="1645920" cy="36576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Blind test</a:t>
            </a:r>
            <a:endParaRPr lang="en-US" sz="1400" dirty="0"/>
          </a:p>
        </p:txBody>
      </p:sp>
      <p:sp>
        <p:nvSpPr>
          <p:cNvPr id="13" name="Text 11"/>
          <p:cNvSpPr txBox="1"/>
          <p:nvPr/>
        </p:nvSpPr>
        <p:spPr>
          <a:xfrm>
            <a:off x="2697480" y="2148840"/>
            <a:ext cx="1645920" cy="15087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Scored once on November 2021 to October 2026: 31 RBI decisions and 57 Nepal months, still refitting at each origin on outcomes public by then.</a:t>
            </a:r>
            <a:endParaRPr lang="en-US" sz="1050" dirty="0"/>
          </a:p>
        </p:txBody>
      </p:sp>
      <p:sp>
        <p:nvSpPr>
          <p:cNvPr id="14" name="fza1"/>
          <p:cNvSpPr/>
          <p:nvPr/>
        </p:nvSpPr>
        <p:spPr>
          <a:xfrm>
            <a:off x="4507992" y="2331720"/>
            <a:ext cx="128016" cy="274320"/>
          </a:xfrm>
          <a:prstGeom prst="chevron">
            <a:avLst/>
          </a:prstGeom>
          <a:solidFill>
            <a:schemeClr val="accent4"/>
          </a:solidFill>
          <a:ln/>
        </p:spPr>
      </p:sp>
      <p:sp>
        <p:nvSpPr>
          <p:cNvPr id="15" name="fz2"/>
          <p:cNvSpPr/>
          <p:nvPr/>
        </p:nvSpPr>
        <p:spPr>
          <a:xfrm>
            <a:off x="4663440" y="1188720"/>
            <a:ext cx="1920240" cy="2514600"/>
          </a:xfrm>
          <a:prstGeom prst="roundRect">
            <a:avLst>
              <a:gd name="adj" fmla="val 3810"/>
            </a:avLst>
          </a:prstGeom>
          <a:solidFill>
            <a:schemeClr val="bg2"/>
          </a:solidFill>
          <a:ln/>
        </p:spPr>
      </p:sp>
      <p:sp>
        <p:nvSpPr>
          <p:cNvPr id="16" name="fzd2"/>
          <p:cNvSpPr/>
          <p:nvPr/>
        </p:nvSpPr>
        <p:spPr>
          <a:xfrm>
            <a:off x="4800600" y="1325880"/>
            <a:ext cx="384048" cy="384048"/>
          </a:xfrm>
          <a:prstGeom prst="ellipse">
            <a:avLst/>
          </a:prstGeom>
          <a:solidFill>
            <a:schemeClr val="accent2"/>
          </a:solidFill>
          <a:ln/>
        </p:spPr>
      </p:sp>
      <p:sp>
        <p:nvSpPr>
          <p:cNvPr id="17" name="Text 15"/>
          <p:cNvSpPr txBox="1"/>
          <p:nvPr/>
        </p:nvSpPr>
        <p:spPr>
          <a:xfrm>
            <a:off x="4800600" y="13258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4800600" y="1783080"/>
            <a:ext cx="1645920" cy="365760"/>
          </a:xfrm>
          <a:prstGeom prst="rect">
            <a:avLst/>
          </a:prstGeom>
          <a:noFill/>
          <a:ln/>
        </p:spPr>
        <p:txBody>
          <a:bodyPr wrap="square" lIns="0" tIns="0" rIns="0" bIns="0" rtlCol="0" anchor="ctr"/>
          <a:lstStyle/>
          <a:p>
            <a:pPr indent="0" marL="0">
              <a:buNone/>
            </a:pPr>
            <a:r>
              <a:rPr lang="en-US" sz="1400" b="1" dirty="0">
                <a:solidFill>
                  <a:schemeClr val="accent2"/>
                </a:solidFill>
                <a:latin typeface="Calibri" pitchFamily="34" charset="0"/>
                <a:ea typeface="Calibri" pitchFamily="34" charset="-122"/>
                <a:cs typeface="Calibri" pitchFamily="34" charset="-120"/>
              </a:rPr>
              <a:t>Seal</a:t>
            </a:r>
            <a:endParaRPr lang="en-US" sz="1400" dirty="0"/>
          </a:p>
        </p:txBody>
      </p:sp>
      <p:sp>
        <p:nvSpPr>
          <p:cNvPr id="19" name="Text 17"/>
          <p:cNvSpPr txBox="1"/>
          <p:nvPr/>
        </p:nvSpPr>
        <p:spPr>
          <a:xfrm>
            <a:off x="4800600" y="2148840"/>
            <a:ext cx="1645920" cy="15087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Nepal forecasts whose outcomes are not yet public are stored now and scored when the NRB publishes.</a:t>
            </a:r>
            <a:endParaRPr lang="en-US" sz="1050" dirty="0"/>
          </a:p>
        </p:txBody>
      </p:sp>
      <p:sp>
        <p:nvSpPr>
          <p:cNvPr id="20" name="fza2"/>
          <p:cNvSpPr/>
          <p:nvPr/>
        </p:nvSpPr>
        <p:spPr>
          <a:xfrm>
            <a:off x="6611112" y="2331720"/>
            <a:ext cx="128016" cy="274320"/>
          </a:xfrm>
          <a:prstGeom prst="chevron">
            <a:avLst/>
          </a:prstGeom>
          <a:solidFill>
            <a:schemeClr val="accent4"/>
          </a:solidFill>
          <a:ln/>
        </p:spPr>
      </p:sp>
      <p:sp>
        <p:nvSpPr>
          <p:cNvPr id="21" name="fz3"/>
          <p:cNvSpPr/>
          <p:nvPr/>
        </p:nvSpPr>
        <p:spPr>
          <a:xfrm>
            <a:off x="6766560" y="1188720"/>
            <a:ext cx="1920240" cy="2514600"/>
          </a:xfrm>
          <a:prstGeom prst="roundRect">
            <a:avLst>
              <a:gd name="adj" fmla="val 3810"/>
            </a:avLst>
          </a:prstGeom>
          <a:solidFill>
            <a:schemeClr val="bg2"/>
          </a:solidFill>
          <a:ln/>
        </p:spPr>
      </p:sp>
      <p:sp>
        <p:nvSpPr>
          <p:cNvPr id="22" name="fzd3"/>
          <p:cNvSpPr/>
          <p:nvPr/>
        </p:nvSpPr>
        <p:spPr>
          <a:xfrm>
            <a:off x="6903720" y="1325880"/>
            <a:ext cx="384048" cy="384048"/>
          </a:xfrm>
          <a:prstGeom prst="ellipse">
            <a:avLst/>
          </a:prstGeom>
          <a:solidFill>
            <a:schemeClr val="accent3"/>
          </a:solidFill>
          <a:ln/>
        </p:spPr>
      </p:sp>
      <p:sp>
        <p:nvSpPr>
          <p:cNvPr id="23" name="Text 21"/>
          <p:cNvSpPr txBox="1"/>
          <p:nvPr/>
        </p:nvSpPr>
        <p:spPr>
          <a:xfrm>
            <a:off x="6903720" y="13258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6903720" y="1783080"/>
            <a:ext cx="164592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Use</a:t>
            </a:r>
            <a:endParaRPr lang="en-US" sz="1400" dirty="0"/>
          </a:p>
        </p:txBody>
      </p:sp>
      <p:sp>
        <p:nvSpPr>
          <p:cNvPr id="25" name="Text 23"/>
          <p:cNvSpPr txBox="1"/>
          <p:nvPr/>
        </p:nvSpPr>
        <p:spPr>
          <a:xfrm>
            <a:off x="6903720" y="2148840"/>
            <a:ext cx="1645920" cy="15087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For the outlook the same model is refitted on all 146 decisions, with nothing added.</a:t>
            </a:r>
            <a:endParaRPr lang="en-US" sz="1050" dirty="0"/>
          </a:p>
        </p:txBody>
      </p:sp>
      <p:sp>
        <p:nvSpPr>
          <p:cNvPr id="26" name="Text 24"/>
          <p:cNvSpPr txBox="1"/>
          <p:nvPr/>
        </p:nvSpPr>
        <p:spPr>
          <a:xfrm>
            <a:off x="457200" y="3931920"/>
            <a:ext cx="8229600" cy="548640"/>
          </a:xfrm>
          <a:prstGeom prst="rect">
            <a:avLst/>
          </a:prstGeom>
          <a:noFill/>
          <a:ln/>
        </p:spPr>
        <p:txBody>
          <a:bodyPr wrap="square" lIns="0" tIns="0" rIns="0" bIns="0" rtlCol="0" anchor="ctr"/>
          <a:lstStyle/>
          <a:p>
            <a:pPr indent="0" marL="0">
              <a:buNone/>
            </a:pPr>
            <a:r>
              <a:rPr lang="en-US" sz="1300" i="1" dirty="0">
                <a:solidFill>
                  <a:schemeClr val="tx2"/>
                </a:solidFill>
                <a:latin typeface="Calibri" pitchFamily="34" charset="0"/>
                <a:ea typeface="Calibri" pitchFamily="34" charset="-122"/>
                <a:cs typeface="Calibri" pitchFamily="34" charset="-120"/>
              </a:rPr>
              <a:t>Result: India 0.69 balanced accuracy on the blind years, against 0.55 for persistence.</a:t>
            </a:r>
            <a:endParaRPr lang="en-US" sz="1300" dirty="0"/>
          </a:p>
        </p:txBody>
      </p:sp>
      <p:sp>
        <p:nvSpPr>
          <p:cNvPr id="27" name="Text 25"/>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Blind backtest</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India's rate cycles since 2001</a:t>
            </a:r>
            <a:endParaRPr lang="en-US" sz="2600" dirty="0"/>
          </a:p>
        </p:txBody>
      </p:sp>
      <p:graphicFrame>
        <p:nvGraphicFramePr>
          <p:cNvPr id="3" name="Chart 0" descr=""/>
          <p:cNvGraphicFramePr/>
          <p:nvPr/>
        </p:nvGraphicFramePr>
        <p:xfrm>
          <a:off x="365760" y="1005840"/>
          <a:ext cx="502920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23560" y="1097280"/>
          <a:ext cx="3063240" cy="914400"/>
        </p:xfrm>
        <a:graphic>
          <a:graphicData uri="http://schemas.openxmlformats.org/drawingml/2006/table">
            <a:tbl>
              <a:tblPr/>
              <a:tblGrid>
                <a:gridCol w="1325880"/>
                <a:gridCol w="822960"/>
                <a:gridCol w="914400"/>
              </a:tblGrid>
              <a:tr h="265176">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Hiking cycle</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Hikes</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2005 to 2008</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300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2010 to 2011</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375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2013 to 2014</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75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2018</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50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2022 to 2023</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250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b="1" dirty="0">
                          <a:solidFill>
                            <a:schemeClr val="accent1"/>
                          </a:solidFill>
                          <a:latin typeface="Calibri" pitchFamily="34" charset="0"/>
                          <a:ea typeface="Calibri" pitchFamily="34" charset="-122"/>
                          <a:cs typeface="Calibri" pitchFamily="34" charset="-120"/>
                        </a:rPr>
                        <a:t>2026, open</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b="1" dirty="0">
                          <a:solidFill>
                            <a:schemeClr val="accent1"/>
                          </a:solidFill>
                          <a:latin typeface="Calibri" pitchFamily="34" charset="0"/>
                          <a:ea typeface="Calibri" pitchFamily="34" charset="-122"/>
                          <a:cs typeface="Calibri" pitchFamily="34" charset="-120"/>
                        </a:rPr>
                        <a:t>1 so far</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b="1" dirty="0">
                          <a:solidFill>
                            <a:schemeClr val="accent1"/>
                          </a:solidFill>
                          <a:latin typeface="Calibri" pitchFamily="34" charset="0"/>
                          <a:ea typeface="Calibri" pitchFamily="34" charset="-122"/>
                          <a:cs typeface="Calibri" pitchFamily="34" charset="-120"/>
                        </a:rPr>
                        <a:t>25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5" name="Text 1"/>
          <p:cNvSpPr txBox="1"/>
          <p:nvPr/>
        </p:nvSpPr>
        <p:spPr>
          <a:xfrm>
            <a:off x="5623560" y="3108960"/>
            <a:ext cx="3063240" cy="146304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Long cycles (2005, 2010, 2022) answered broad inflation and strong demand. Short ones (2013, 2018) answered the rupee and oil. Today's trigger is oil and a weak rupee.</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What the RBI reacts to</a:t>
            </a:r>
            <a:endParaRPr lang="en-US" sz="2600" dirty="0"/>
          </a:p>
        </p:txBody>
      </p:sp>
      <p:graphicFrame>
        <p:nvGraphicFramePr>
          <p:cNvPr id="3" name="Chart 0" descr=""/>
          <p:cNvGraphicFramePr/>
          <p:nvPr/>
        </p:nvGraphicFramePr>
        <p:xfrm>
          <a:off x="365760" y="105156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india-read"/>
          <p:cNvSpPr/>
          <p:nvPr/>
        </p:nvSpPr>
        <p:spPr>
          <a:xfrm>
            <a:off x="6035040" y="1143000"/>
            <a:ext cx="2651760" cy="3383280"/>
          </a:xfrm>
          <a:prstGeom prst="roundRect">
            <a:avLst>
              <a:gd name="adj" fmla="val 2759"/>
            </a:avLst>
          </a:prstGeom>
          <a:solidFill>
            <a:schemeClr val="bg2"/>
          </a:solidFill>
          <a:ln/>
        </p:spPr>
      </p:sp>
      <p:sp>
        <p:nvSpPr>
          <p:cNvPr id="5" name="Text 2"/>
          <p:cNvSpPr txBox="1"/>
          <p:nvPr/>
        </p:nvSpPr>
        <p:spPr>
          <a:xfrm>
            <a:off x="6217920" y="1280160"/>
            <a:ext cx="2331720" cy="315468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Smoothing</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A hike was followed by another hike 71 percent of the time.</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1"/>
                </a:solidFill>
                <a:latin typeface="Calibri" pitchFamily="34" charset="0"/>
                <a:ea typeface="Calibri" pitchFamily="34" charset="-122"/>
                <a:cs typeface="Calibri" pitchFamily="34" charset="-120"/>
              </a:rPr>
              <a:t>Forecast led</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The RBI's own projection revision matters most (p 0.003); realized inflation adds little.</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4"/>
                </a:solidFill>
                <a:latin typeface="Calibri" pitchFamily="34" charset="0"/>
                <a:ea typeface="Calibri" pitchFamily="34" charset="-122"/>
                <a:cs typeface="Calibri" pitchFamily="34" charset="-120"/>
              </a:rPr>
              <a:t>Not significant</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Growth gap and the rupee, once inflation and the projection are known.</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Can the model see a new cycle coming?</a:t>
            </a:r>
            <a:endParaRPr lang="en-US" sz="2600" dirty="0"/>
          </a:p>
        </p:txBody>
      </p:sp>
      <p:graphicFrame>
        <p:nvGraphicFramePr>
          <p:cNvPr id="3" name="Chart 0"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turn0"/>
          <p:cNvSpPr/>
          <p:nvPr/>
        </p:nvSpPr>
        <p:spPr>
          <a:xfrm>
            <a:off x="5760720" y="1097280"/>
            <a:ext cx="2926080" cy="1051560"/>
          </a:xfrm>
          <a:prstGeom prst="roundRect">
            <a:avLst>
              <a:gd name="adj" fmla="val 6957"/>
            </a:avLst>
          </a:prstGeom>
          <a:solidFill>
            <a:schemeClr val="bg2"/>
          </a:solidFill>
          <a:ln/>
        </p:spPr>
      </p:sp>
      <p:sp>
        <p:nvSpPr>
          <p:cNvPr id="5" name="Text 2"/>
          <p:cNvSpPr txBox="1"/>
          <p:nvPr/>
        </p:nvSpPr>
        <p:spPr>
          <a:xfrm>
            <a:off x="5897880" y="1170432"/>
            <a:ext cx="2697480" cy="932688"/>
          </a:xfrm>
          <a:prstGeom prst="rect">
            <a:avLst/>
          </a:prstGeom>
          <a:noFill/>
          <a:ln/>
        </p:spPr>
        <p:txBody>
          <a:bodyPr wrap="square" lIns="0" tIns="0" rIns="0" bIns="0" rtlCol="0" anchor="t"/>
          <a:lstStyle/>
          <a:p>
            <a:pPr indent="0" marL="0">
              <a:buNone/>
            </a:pPr>
            <a:r>
              <a:rPr lang="en-US" sz="1150" b="1" dirty="0">
                <a:solidFill>
                  <a:schemeClr val="accent1"/>
                </a:solidFill>
                <a:latin typeface="Calibri" pitchFamily="34" charset="0"/>
                <a:ea typeface="Calibri" pitchFamily="34" charset="-122"/>
                <a:cs typeface="Calibri" pitchFamily="34" charset="-120"/>
              </a:rPr>
              <a:t>May 2022, first hike</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P(hike) rose from 0.17 to 0.45 at the first hike, then 0.84 at the next. One meeting late.</a:t>
            </a:r>
            <a:endParaRPr lang="en-US" sz="1150" dirty="0"/>
          </a:p>
        </p:txBody>
      </p:sp>
      <p:sp>
        <p:nvSpPr>
          <p:cNvPr id="6" name="turn1"/>
          <p:cNvSpPr/>
          <p:nvPr/>
        </p:nvSpPr>
        <p:spPr>
          <a:xfrm>
            <a:off x="5760720" y="2258568"/>
            <a:ext cx="2926080" cy="1051560"/>
          </a:xfrm>
          <a:prstGeom prst="roundRect">
            <a:avLst>
              <a:gd name="adj" fmla="val 6957"/>
            </a:avLst>
          </a:prstGeom>
          <a:solidFill>
            <a:schemeClr val="bg2"/>
          </a:solidFill>
          <a:ln/>
        </p:spPr>
      </p:sp>
      <p:sp>
        <p:nvSpPr>
          <p:cNvPr id="7" name="Text 4"/>
          <p:cNvSpPr txBox="1"/>
          <p:nvPr/>
        </p:nvSpPr>
        <p:spPr>
          <a:xfrm>
            <a:off x="5897880" y="2331720"/>
            <a:ext cx="2697480" cy="932688"/>
          </a:xfrm>
          <a:prstGeom prst="rect">
            <a:avLst/>
          </a:prstGeom>
          <a:noFill/>
          <a:ln/>
        </p:spPr>
        <p:txBody>
          <a:bodyPr wrap="square" lIns="0" tIns="0" rIns="0" bIns="0" rtlCol="0" anchor="t"/>
          <a:lstStyle/>
          <a:p>
            <a:pPr indent="0" marL="0">
              <a:buNone/>
            </a:pPr>
            <a:r>
              <a:rPr lang="en-US" sz="1150" b="1" dirty="0">
                <a:solidFill>
                  <a:schemeClr val="accent2"/>
                </a:solidFill>
                <a:latin typeface="Calibri" pitchFamily="34" charset="0"/>
                <a:ea typeface="Calibri" pitchFamily="34" charset="-122"/>
                <a:cs typeface="Calibri" pitchFamily="34" charset="-120"/>
              </a:rPr>
              <a:t>February 2025, first cut</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P(cut) only 0.14 at the first cut, 0.57 at the next. One meeting late.</a:t>
            </a:r>
            <a:endParaRPr lang="en-US" sz="1150" dirty="0"/>
          </a:p>
        </p:txBody>
      </p:sp>
      <p:sp>
        <p:nvSpPr>
          <p:cNvPr id="8" name="turn2"/>
          <p:cNvSpPr/>
          <p:nvPr/>
        </p:nvSpPr>
        <p:spPr>
          <a:xfrm>
            <a:off x="5760720" y="3419856"/>
            <a:ext cx="2926080" cy="1051560"/>
          </a:xfrm>
          <a:prstGeom prst="roundRect">
            <a:avLst>
              <a:gd name="adj" fmla="val 6957"/>
            </a:avLst>
          </a:prstGeom>
          <a:solidFill>
            <a:schemeClr val="bg2"/>
          </a:solidFill>
          <a:ln/>
        </p:spPr>
      </p:sp>
      <p:sp>
        <p:nvSpPr>
          <p:cNvPr id="9" name="Text 6"/>
          <p:cNvSpPr txBox="1"/>
          <p:nvPr/>
        </p:nvSpPr>
        <p:spPr>
          <a:xfrm>
            <a:off x="5897880" y="3493008"/>
            <a:ext cx="2697480" cy="932688"/>
          </a:xfrm>
          <a:prstGeom prst="rect">
            <a:avLst/>
          </a:prstGeom>
          <a:noFill/>
          <a:ln/>
        </p:spPr>
        <p:txBody>
          <a:bodyPr wrap="square" lIns="0" tIns="0" rIns="0" bIns="0" rtlCol="0" anchor="t"/>
          <a:lstStyle/>
          <a:p>
            <a:pPr indent="0" marL="0">
              <a:buNone/>
            </a:pPr>
            <a:r>
              <a:rPr lang="en-US" sz="1150" b="1" dirty="0">
                <a:solidFill>
                  <a:schemeClr val="accent5"/>
                </a:solidFill>
                <a:latin typeface="Calibri" pitchFamily="34" charset="0"/>
                <a:ea typeface="Calibri" pitchFamily="34" charset="-122"/>
                <a:cs typeface="Calibri" pitchFamily="34" charset="-120"/>
              </a:rPr>
              <a:t>October 2026, first hike</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P(hike) rose to 0.27 in August, then fell to 0.09 at the hike itself. Missed.</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Over and underfitting: the three stage check</a:t>
            </a:r>
            <a:endParaRPr lang="en-US" sz="2600" dirty="0"/>
          </a:p>
        </p:txBody>
      </p:sp>
      <p:graphicFrame>
        <p:nvGraphicFramePr>
          <p:cNvPr id="3" name="Chart 0" descr=""/>
          <p:cNvGraphicFramePr/>
          <p:nvPr/>
        </p:nvGraphicFramePr>
        <p:xfrm>
          <a:off x="365760" y="10515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fit0"/>
          <p:cNvSpPr/>
          <p:nvPr/>
        </p:nvSpPr>
        <p:spPr>
          <a:xfrm>
            <a:off x="5760720" y="1143000"/>
            <a:ext cx="2926080" cy="1024128"/>
          </a:xfrm>
          <a:prstGeom prst="roundRect">
            <a:avLst>
              <a:gd name="adj" fmla="val 7143"/>
            </a:avLst>
          </a:prstGeom>
          <a:solidFill>
            <a:schemeClr val="bg2"/>
          </a:solidFill>
          <a:ln/>
        </p:spPr>
      </p:sp>
      <p:sp>
        <p:nvSpPr>
          <p:cNvPr id="5" name="Text 2"/>
          <p:cNvSpPr txBox="1"/>
          <p:nvPr/>
        </p:nvSpPr>
        <p:spPr>
          <a:xfrm>
            <a:off x="5897880" y="1216152"/>
            <a:ext cx="2697480" cy="896112"/>
          </a:xfrm>
          <a:prstGeom prst="rect">
            <a:avLst/>
          </a:prstGeom>
          <a:noFill/>
          <a:ln/>
        </p:spPr>
        <p:txBody>
          <a:bodyPr wrap="square" lIns="0" tIns="0" rIns="0" bIns="0" rtlCol="0" anchor="t"/>
          <a:lstStyle/>
          <a:p>
            <a:pPr indent="0" marL="0">
              <a:buNone/>
            </a:pPr>
            <a:r>
              <a:rPr lang="en-US" sz="1150" b="1" dirty="0">
                <a:solidFill>
                  <a:schemeClr val="accent3"/>
                </a:solidFill>
                <a:latin typeface="Calibri" pitchFamily="34" charset="0"/>
                <a:ea typeface="Calibri" pitchFamily="34" charset="-122"/>
                <a:cs typeface="Calibri" pitchFamily="34" charset="-120"/>
              </a:rPr>
              <a:t>India: no overfitting</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Unseen score is higher than in sample. If anything the model is too simple: it lags turning points.</a:t>
            </a:r>
            <a:endParaRPr lang="en-US" sz="1150" dirty="0"/>
          </a:p>
        </p:txBody>
      </p:sp>
      <p:sp>
        <p:nvSpPr>
          <p:cNvPr id="6" name="fit1"/>
          <p:cNvSpPr/>
          <p:nvPr/>
        </p:nvSpPr>
        <p:spPr>
          <a:xfrm>
            <a:off x="5760720" y="2286000"/>
            <a:ext cx="2926080" cy="1024128"/>
          </a:xfrm>
          <a:prstGeom prst="roundRect">
            <a:avLst>
              <a:gd name="adj" fmla="val 7143"/>
            </a:avLst>
          </a:prstGeom>
          <a:solidFill>
            <a:schemeClr val="bg2"/>
          </a:solidFill>
          <a:ln/>
        </p:spPr>
      </p:sp>
      <p:sp>
        <p:nvSpPr>
          <p:cNvPr id="7" name="Text 4"/>
          <p:cNvSpPr txBox="1"/>
          <p:nvPr/>
        </p:nvSpPr>
        <p:spPr>
          <a:xfrm>
            <a:off x="5897880" y="2359152"/>
            <a:ext cx="2697480" cy="896112"/>
          </a:xfrm>
          <a:prstGeom prst="rect">
            <a:avLst/>
          </a:prstGeom>
          <a:noFill/>
          <a:ln/>
        </p:spPr>
        <p:txBody>
          <a:bodyPr wrap="square" lIns="0" tIns="0" rIns="0" bIns="0" rtlCol="0" anchor="t"/>
          <a:lstStyle/>
          <a:p>
            <a:pPr indent="0" marL="0">
              <a:buNone/>
            </a:pPr>
            <a:r>
              <a:rPr lang="en-US" sz="1150" b="1" dirty="0">
                <a:solidFill>
                  <a:schemeClr val="accent3"/>
                </a:solidFill>
                <a:latin typeface="Calibri" pitchFamily="34" charset="0"/>
                <a:ea typeface="Calibri" pitchFamily="34" charset="-122"/>
                <a:cs typeface="Calibri" pitchFamily="34" charset="-120"/>
              </a:rPr>
              <a:t>Nepal rise: mild gap</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0.74 in sample, 0.64 to 0.67 out of sample, and it holds on unseen data.</a:t>
            </a:r>
            <a:endParaRPr lang="en-US" sz="1150" dirty="0"/>
          </a:p>
        </p:txBody>
      </p:sp>
      <p:sp>
        <p:nvSpPr>
          <p:cNvPr id="8" name="fit2"/>
          <p:cNvSpPr/>
          <p:nvPr/>
        </p:nvSpPr>
        <p:spPr>
          <a:xfrm>
            <a:off x="5760720" y="3429000"/>
            <a:ext cx="2926080" cy="1024128"/>
          </a:xfrm>
          <a:prstGeom prst="roundRect">
            <a:avLst>
              <a:gd name="adj" fmla="val 7143"/>
            </a:avLst>
          </a:prstGeom>
          <a:solidFill>
            <a:schemeClr val="bg2"/>
          </a:solidFill>
          <a:ln/>
        </p:spPr>
      </p:sp>
      <p:sp>
        <p:nvSpPr>
          <p:cNvPr id="9" name="Text 6"/>
          <p:cNvSpPr txBox="1"/>
          <p:nvPr/>
        </p:nvSpPr>
        <p:spPr>
          <a:xfrm>
            <a:off x="5897880" y="3502152"/>
            <a:ext cx="2697480" cy="896112"/>
          </a:xfrm>
          <a:prstGeom prst="rect">
            <a:avLst/>
          </a:prstGeom>
          <a:noFill/>
          <a:ln/>
        </p:spPr>
        <p:txBody>
          <a:bodyPr wrap="square" lIns="0" tIns="0" rIns="0" bIns="0" rtlCol="0" anchor="t"/>
          <a:lstStyle/>
          <a:p>
            <a:pPr indent="0" marL="0">
              <a:buNone/>
            </a:pPr>
            <a:r>
              <a:rPr lang="en-US" sz="1150" b="1" dirty="0">
                <a:solidFill>
                  <a:schemeClr val="accent5"/>
                </a:solidFill>
                <a:latin typeface="Calibri" pitchFamily="34" charset="0"/>
                <a:ea typeface="Calibri" pitchFamily="34" charset="-122"/>
                <a:cs typeface="Calibri" pitchFamily="34" charset="-120"/>
              </a:rPr>
              <a:t>Nepal fall: regime change</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Holds in training, fails after 2021 when the rate sat on the NRB floor and could not fall.</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Will the new cycle continue? A second hike is likely</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194560"/>
                <a:gridCol w="914400"/>
                <a:gridCol w="1280160"/>
                <a:gridCol w="1280160"/>
                <a:gridCol w="1280160"/>
                <a:gridCol w="1280160"/>
              </a:tblGrid>
              <a:tr h="329184">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Scenario</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Brent, $</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P(hike) Dec</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P(hike) Feb</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P(hike) Apr</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Expected repo, Apr</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Premium persists</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0.57</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5.71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Escalation in the Gulf</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135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0.26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5.81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Easing tensions</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92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0.57</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0.19</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5.63</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AI bust, world slowdown</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5.57</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Stagflation</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5.74</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out0"/>
          <p:cNvSpPr/>
          <p:nvPr/>
        </p:nvSpPr>
        <p:spPr>
          <a:xfrm>
            <a:off x="457200" y="3246120"/>
            <a:ext cx="2615184" cy="1417320"/>
          </a:xfrm>
          <a:prstGeom prst="roundRect">
            <a:avLst>
              <a:gd name="adj" fmla="val 5161"/>
            </a:avLst>
          </a:prstGeom>
          <a:solidFill>
            <a:schemeClr val="bg2"/>
          </a:solidFill>
          <a:ln/>
        </p:spPr>
      </p:sp>
      <p:sp>
        <p:nvSpPr>
          <p:cNvPr id="5" name="Text 2"/>
          <p:cNvSpPr txBox="1"/>
          <p:nvPr/>
        </p:nvSpPr>
        <p:spPr>
          <a:xfrm>
            <a:off x="594360" y="3319272"/>
            <a:ext cx="2377440" cy="129844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December: decided already</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Inflation 5.5 percent and rising, a recent hike, strong industry: about 0.56 in every scenario.</a:t>
            </a:r>
            <a:endParaRPr lang="en-US" sz="1100" dirty="0"/>
          </a:p>
        </p:txBody>
      </p:sp>
      <p:sp>
        <p:nvSpPr>
          <p:cNvPr id="6" name="out1"/>
          <p:cNvSpPr/>
          <p:nvPr/>
        </p:nvSpPr>
        <p:spPr>
          <a:xfrm>
            <a:off x="3264408" y="3246120"/>
            <a:ext cx="2615184" cy="1417320"/>
          </a:xfrm>
          <a:prstGeom prst="roundRect">
            <a:avLst>
              <a:gd name="adj" fmla="val 5161"/>
            </a:avLst>
          </a:prstGeom>
          <a:solidFill>
            <a:schemeClr val="bg2"/>
          </a:solidFill>
          <a:ln/>
        </p:spPr>
      </p:sp>
      <p:sp>
        <p:nvSpPr>
          <p:cNvPr id="7" name="Text 4"/>
          <p:cNvSpPr txBox="1"/>
          <p:nvPr/>
        </p:nvSpPr>
        <p:spPr>
          <a:xfrm>
            <a:off x="3401568" y="3319272"/>
            <a:ext cx="2377440" cy="129844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February: oil decides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Dear oil or a Gulf war keeps hiking; cheaper oil or a world slowdown ends the cycle.</a:t>
            </a:r>
            <a:endParaRPr lang="en-US" sz="1100" dirty="0"/>
          </a:p>
        </p:txBody>
      </p:sp>
      <p:sp>
        <p:nvSpPr>
          <p:cNvPr id="8" name="out2"/>
          <p:cNvSpPr/>
          <p:nvPr/>
        </p:nvSpPr>
        <p:spPr>
          <a:xfrm>
            <a:off x="6071616" y="3246120"/>
            <a:ext cx="2615184" cy="1417320"/>
          </a:xfrm>
          <a:prstGeom prst="roundRect">
            <a:avLst>
              <a:gd name="adj" fmla="val 5161"/>
            </a:avLst>
          </a:prstGeom>
          <a:solidFill>
            <a:schemeClr val="bg2"/>
          </a:solidFill>
          <a:ln/>
        </p:spPr>
      </p:sp>
      <p:sp>
        <p:nvSpPr>
          <p:cNvPr id="9" name="Text 6"/>
          <p:cNvSpPr txBox="1"/>
          <p:nvPr/>
        </p:nvSpPr>
        <p:spPr>
          <a:xfrm>
            <a:off x="6208776" y="3319272"/>
            <a:ext cx="2377440" cy="1298448"/>
          </a:xfrm>
          <a:prstGeom prst="rect">
            <a:avLst/>
          </a:prstGeom>
          <a:noFill/>
          <a:ln/>
        </p:spPr>
        <p:txBody>
          <a:bodyPr wrap="square" lIns="0" tIns="0" rIns="0" bIns="0" rtlCol="0" anchor="t"/>
          <a:lstStyle/>
          <a:p>
            <a:pPr indent="0" marL="0">
              <a:buNone/>
            </a:pPr>
            <a:r>
              <a:rPr lang="en-US" sz="1100" b="1" dirty="0">
                <a:solidFill>
                  <a:schemeClr val="accent4"/>
                </a:solidFill>
                <a:latin typeface="Calibri" pitchFamily="34" charset="0"/>
                <a:ea typeface="Calibri" pitchFamily="34" charset="-122"/>
                <a:cs typeface="Calibri" pitchFamily="34" charset="-120"/>
              </a:rPr>
              <a:t>Read with care</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Scenarios are our assumptions fed into the model's inputs. The model calls cycle ends early.</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Where the cycle ends: repo rate after April 2027</a:t>
            </a:r>
            <a:endParaRPr lang="en-US" sz="2600" dirty="0"/>
          </a:p>
        </p:txBody>
      </p:sp>
      <p:graphicFrame>
        <p:nvGraphicFramePr>
          <p:cNvPr id="3" name="Chart 0" descr=""/>
          <p:cNvGraphicFramePr/>
          <p:nvPr/>
        </p:nvGraphicFramePr>
        <p:xfrm>
          <a:off x="365760" y="1005840"/>
          <a:ext cx="5486400" cy="3611880"/>
        </p:xfrm>
        <a:graphic xmlns:a="http://schemas.openxmlformats.org/drawingml/2006/main">
          <a:graphicData uri="http://schemas.openxmlformats.org/drawingml/2006/chart">
            <c:chart xmlns:c="http://schemas.openxmlformats.org/drawingml/2006/chart" r:id="rId1"/>
          </a:graphicData>
        </a:graphic>
      </p:graphicFrame>
      <p:sp>
        <p:nvSpPr>
          <p:cNvPr id="4" name="end-read"/>
          <p:cNvSpPr/>
          <p:nvPr/>
        </p:nvSpPr>
        <p:spPr>
          <a:xfrm>
            <a:off x="6126480" y="1097280"/>
            <a:ext cx="2560320" cy="3474720"/>
          </a:xfrm>
          <a:prstGeom prst="roundRect">
            <a:avLst>
              <a:gd name="adj" fmla="val 2857"/>
            </a:avLst>
          </a:prstGeom>
          <a:solidFill>
            <a:schemeClr val="bg2"/>
          </a:solidFill>
          <a:ln/>
        </p:spPr>
      </p:sp>
      <p:sp>
        <p:nvSpPr>
          <p:cNvPr id="5" name="Text 2"/>
          <p:cNvSpPr txBox="1"/>
          <p:nvPr/>
        </p:nvSpPr>
        <p:spPr>
          <a:xfrm>
            <a:off x="6263640" y="1234440"/>
            <a:ext cx="2286000" cy="32461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Most likely</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One more hike, to 5.75, in December or February.</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1"/>
                </a:solidFill>
                <a:latin typeface="Calibri" pitchFamily="34" charset="0"/>
                <a:ea typeface="Calibri" pitchFamily="34" charset="-122"/>
                <a:cs typeface="Calibri" pitchFamily="34" charset="-120"/>
              </a:rPr>
              <a:t>6.00 or higher</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0.48 if the Gulf escalates, 0.33 if oil stays near 112, 0.21 if tensions ease.</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2"/>
                </a:solidFill>
                <a:latin typeface="Calibri" pitchFamily="34" charset="0"/>
                <a:ea typeface="Calibri" pitchFamily="34" charset="-122"/>
                <a:cs typeface="Calibri" pitchFamily="34" charset="-120"/>
              </a:rPr>
              <a:t>Below today</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Only an AI driven world slowdown makes it plausible (0.26).</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Nepal through India's cycles: a coin flip</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5669280" cy="914400"/>
        </p:xfrm>
        <a:graphic>
          <a:graphicData uri="http://schemas.openxmlformats.org/drawingml/2006/table">
            <a:tbl>
              <a:tblPr/>
              <a:tblGrid>
                <a:gridCol w="1325880"/>
                <a:gridCol w="868680"/>
                <a:gridCol w="1051560"/>
                <a:gridCol w="777240"/>
                <a:gridCol w="914400"/>
                <a:gridCol w="731520"/>
              </a:tblGrid>
              <a:tr h="265176">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RBI cycle</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RBI change</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Nepal interbank</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Followed?</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NRB bank rate</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Followed?</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2001</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2001 to 2004</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3.00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3.30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2.00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2005 to 2008</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1.29</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2008 to 2009</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4.25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1.33</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0.25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2010 to 2011</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10.74</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2012 to 2013</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1.25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0.39</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2013 to 2014</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0.75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0.11</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2015 to 2017</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2.00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2.53</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1.00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2018</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2.85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0.50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2019 to 2020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2.50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2.82</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1.50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2022 to 2023</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0.02</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2025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1.25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0.30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0.75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nc-read"/>
          <p:cNvSpPr/>
          <p:nvPr/>
        </p:nvSpPr>
        <p:spPr>
          <a:xfrm>
            <a:off x="6355080" y="1005840"/>
            <a:ext cx="2331720" cy="3566160"/>
          </a:xfrm>
          <a:prstGeom prst="roundRect">
            <a:avLst>
              <a:gd name="adj" fmla="val 3137"/>
            </a:avLst>
          </a:prstGeom>
          <a:solidFill>
            <a:schemeClr val="bg2"/>
          </a:solidFill>
          <a:ln/>
        </p:spPr>
      </p:sp>
      <p:sp>
        <p:nvSpPr>
          <p:cNvPr id="5" name="Text 2"/>
          <p:cNvSpPr txBox="1"/>
          <p:nvPr/>
        </p:nvSpPr>
        <p:spPr>
          <a:xfrm>
            <a:off x="6492240" y="1143000"/>
            <a:ext cx="2103120" cy="3337560"/>
          </a:xfrm>
          <a:prstGeom prst="rect">
            <a:avLst/>
          </a:prstGeom>
          <a:noFill/>
          <a:ln/>
        </p:spPr>
        <p:txBody>
          <a:bodyPr wrap="square" lIns="0" tIns="0" rIns="0" bIns="0" rtlCol="0" anchor="t"/>
          <a:lstStyle/>
          <a:p>
            <a:pPr indent="0" marL="0">
              <a:buNone/>
            </a:pPr>
            <a:r>
              <a:rPr lang="en-US" sz="1150" b="1" dirty="0">
                <a:solidFill>
                  <a:schemeClr val="accent2"/>
                </a:solidFill>
                <a:latin typeface="Calibri" pitchFamily="34" charset="0"/>
                <a:ea typeface="Calibri" pitchFamily="34" charset="-122"/>
                <a:cs typeface="Calibri" pitchFamily="34" charset="-120"/>
              </a:rPr>
              <a:t>Market rate: 6 of 12</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The interbank rate moved the RBI's way only half the time, in 2010 falling 10.7 points while India hiked.</a:t>
            </a:r>
            <a:endParaRPr lang="en-US" sz="115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chemeClr val="accent2"/>
                </a:solidFill>
                <a:latin typeface="Calibri" pitchFamily="34" charset="0"/>
                <a:ea typeface="Calibri" pitchFamily="34" charset="-122"/>
                <a:cs typeface="Calibri" pitchFamily="34" charset="-120"/>
              </a:rPr>
              <a:t>NRB policy rate: 7 of 12</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The NRB often leans the same way, by less: plus 1.50 when India hiked 2.50 in 2022.</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What the peg carries: India's prices, not its policy rate</a:t>
            </a:r>
            <a:endParaRPr lang="en-US" sz="2600" dirty="0"/>
          </a:p>
        </p:txBody>
      </p:sp>
      <p:pic>
        <p:nvPicPr>
          <p:cNvPr id="3" name="Image 0" descr="Inflation in India and Nepal, and the RBI repo rate against Nepal's interbank and treasury bill rates, 2001 to 2026">    </p:cNvPr>
          <p:cNvPicPr>
            <a:picLocks noChangeAspect="1"/>
          </p:cNvPicPr>
          <p:nvPr/>
        </p:nvPicPr>
        <p:blipFill>
          <a:blip r:embed="rId1"/>
          <a:stretch>
            <a:fillRect/>
          </a:stretch>
        </p:blipFill>
        <p:spPr>
          <a:xfrm>
            <a:off x="365760" y="1005840"/>
            <a:ext cx="5212080" cy="364845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806440" y="1097280"/>
          <a:ext cx="2880360" cy="914400"/>
        </p:xfrm>
        <a:graphic>
          <a:graphicData uri="http://schemas.openxmlformats.org/drawingml/2006/table">
            <a:tbl>
              <a:tblPr/>
              <a:tblGrid>
                <a:gridCol w="1234440"/>
                <a:gridCol w="731520"/>
                <a:gridCol w="914400"/>
              </a:tblGrid>
              <a:tr h="27432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Correlation</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Prices</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Rates</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27432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2001 to 2026</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0.46</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minus 0.07</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Before corridor</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0.32</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minus 0.20</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2016 to 2021</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0.29</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0.45</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2021 to 2026</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0.18</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5" name="Text 1"/>
          <p:cNvSpPr txBox="1"/>
          <p:nvPr/>
        </p:nvSpPr>
        <p:spPr>
          <a:xfrm>
            <a:off x="5806440" y="2651760"/>
            <a:ext cx="2880360" cy="196596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Prices: inflation in the same month. Rates: 12 month changes in the RBI repo and Nepal's interbank rate. Nepal's rate averages 3.2 points below the repo. The impossible trinity is resolved by capital controls: the peg imports India's price level, while the NRB keeps its own short rate.</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An RBI move leaves no significant trace on Nepal</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2103120"/>
                <a:gridCol w="2103120"/>
                <a:gridCol w="2103120"/>
              </a:tblGrid>
              <a:tr h="329184">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Months after the RBI move</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Interbank rate</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91 day T bill</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CPI inflation</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32918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0.39 (p 0.28)</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0.21 (p 0.48)</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0.12 (p 0.59)</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0.59 (p 0.41)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0.38 (p 0.50)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0.15 (p 0.81)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0.72 (p 0.33)</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0.70 (p 0.32)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0.10 (p 0.88)</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b="1" dirty="0">
                          <a:solidFill>
                            <a:schemeClr val="tx1"/>
                          </a:solidFill>
                          <a:latin typeface="Calibri" pitchFamily="34" charset="0"/>
                          <a:ea typeface="Calibri" pitchFamily="34" charset="-122"/>
                          <a:cs typeface="Calibri" pitchFamily="34" charset="-120"/>
                        </a:rPr>
                        <a:t>minus 1.57 (p 0.05)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0.43 (p 0.44)</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0.04 (p 0.95)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0.88 (p 0.22)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minus 0.25 (p 0.70)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0.87 (p 0.23)</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lp0"/>
          <p:cNvSpPr/>
          <p:nvPr/>
        </p:nvSpPr>
        <p:spPr>
          <a:xfrm>
            <a:off x="457200" y="3246120"/>
            <a:ext cx="2615184" cy="1417320"/>
          </a:xfrm>
          <a:prstGeom prst="roundRect">
            <a:avLst>
              <a:gd name="adj" fmla="val 5161"/>
            </a:avLst>
          </a:prstGeom>
          <a:solidFill>
            <a:schemeClr val="bg2"/>
          </a:solidFill>
          <a:ln/>
        </p:spPr>
      </p:sp>
      <p:sp>
        <p:nvSpPr>
          <p:cNvPr id="5" name="Text 2"/>
          <p:cNvSpPr txBox="1"/>
          <p:nvPr/>
        </p:nvSpPr>
        <p:spPr>
          <a:xfrm>
            <a:off x="594360" y="3319272"/>
            <a:ext cx="2377440" cy="1298448"/>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No pass through</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If the peg carried India's policy rate, the interbank response would approach plus 1. At 12 months plus 1 is outside the band (minus 3.14 to 0.01).</a:t>
            </a:r>
            <a:endParaRPr lang="en-US" sz="1100" dirty="0"/>
          </a:p>
        </p:txBody>
      </p:sp>
      <p:sp>
        <p:nvSpPr>
          <p:cNvPr id="6" name="lp1"/>
          <p:cNvSpPr/>
          <p:nvPr/>
        </p:nvSpPr>
        <p:spPr>
          <a:xfrm>
            <a:off x="3264408" y="3246120"/>
            <a:ext cx="2615184" cy="1417320"/>
          </a:xfrm>
          <a:prstGeom prst="roundRect">
            <a:avLst>
              <a:gd name="adj" fmla="val 5161"/>
            </a:avLst>
          </a:prstGeom>
          <a:solidFill>
            <a:schemeClr val="bg2"/>
          </a:solidFill>
          <a:ln/>
        </p:spPr>
      </p:sp>
      <p:sp>
        <p:nvSpPr>
          <p:cNvPr id="7" name="Text 4"/>
          <p:cNvSpPr txBox="1"/>
          <p:nvPr/>
        </p:nvSpPr>
        <p:spPr>
          <a:xfrm>
            <a:off x="3401568" y="3319272"/>
            <a:ext cx="2377440" cy="1298448"/>
          </a:xfrm>
          <a:prstGeom prst="rect">
            <a:avLst/>
          </a:prstGeom>
          <a:noFill/>
          <a:ln/>
        </p:spPr>
        <p:txBody>
          <a:bodyPr wrap="square" lIns="0" tIns="0" rIns="0" bIns="0" rtlCol="0" anchor="t"/>
          <a:lstStyle/>
          <a:p>
            <a:pPr indent="0" marL="0">
              <a:buNone/>
            </a:pPr>
            <a:r>
              <a:rPr lang="en-US" sz="1100" b="1" dirty="0">
                <a:solidFill>
                  <a:schemeClr val="accent4"/>
                </a:solidFill>
                <a:latin typeface="Calibri" pitchFamily="34" charset="0"/>
                <a:ea typeface="Calibri" pitchFamily="34" charset="-122"/>
                <a:cs typeface="Calibri" pitchFamily="34" charset="-120"/>
              </a:rPr>
              <a:t>Wrong sign is timing</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Few RBI cycles, and they happened to meet Nepali liquidity cycles running the other way, as in 2010 and 2011.</a:t>
            </a:r>
            <a:endParaRPr lang="en-US" sz="1100" dirty="0"/>
          </a:p>
        </p:txBody>
      </p:sp>
      <p:sp>
        <p:nvSpPr>
          <p:cNvPr id="8" name="lp2"/>
          <p:cNvSpPr/>
          <p:nvPr/>
        </p:nvSpPr>
        <p:spPr>
          <a:xfrm>
            <a:off x="6071616" y="3246120"/>
            <a:ext cx="2615184" cy="1417320"/>
          </a:xfrm>
          <a:prstGeom prst="roundRect">
            <a:avLst>
              <a:gd name="adj" fmla="val 5161"/>
            </a:avLst>
          </a:prstGeom>
          <a:solidFill>
            <a:schemeClr val="bg2"/>
          </a:solidFill>
          <a:ln/>
        </p:spPr>
      </p:sp>
      <p:sp>
        <p:nvSpPr>
          <p:cNvPr id="9" name="Text 6"/>
          <p:cNvSpPr txBox="1"/>
          <p:nvPr/>
        </p:nvSpPr>
        <p:spPr>
          <a:xfrm>
            <a:off x="6208776" y="3319272"/>
            <a:ext cx="2377440" cy="1298448"/>
          </a:xfrm>
          <a:prstGeom prst="rect">
            <a:avLst/>
          </a:prstGeom>
          <a:noFill/>
          <a:ln/>
        </p:spPr>
        <p:txBody>
          <a:bodyPr wrap="square" lIns="0" tIns="0" rIns="0" bIns="0" rtlCol="0" anchor="t"/>
          <a:lstStyle/>
          <a:p>
            <a:pPr indent="0" marL="0">
              <a:buNone/>
            </a:pPr>
            <a:r>
              <a:rPr lang="en-US" sz="1100" b="1" dirty="0">
                <a:solidFill>
                  <a:schemeClr val="accent5"/>
                </a:solidFill>
                <a:latin typeface="Calibri" pitchFamily="34" charset="0"/>
                <a:ea typeface="Calibri" pitchFamily="34" charset="-122"/>
                <a:cs typeface="Calibri" pitchFamily="34" charset="-120"/>
              </a:rPr>
              <a:t>Inflation: not measurable</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The two year CPI effect (0.87) is not significant once a data error is removed; an earlier 1.5 (p 0.04) was withdrawn.</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What sets Nepal's rate: liquidity in the corridor</a:t>
            </a:r>
            <a:endParaRPr lang="en-US" sz="2600" dirty="0"/>
          </a:p>
        </p:txBody>
      </p:sp>
      <p:pic>
        <p:nvPicPr>
          <p:cNvPr id="3" name="Image 0" descr="Nepal interbank rate inside the NRB corridor with FX purchases, remittances, fiscal flows, credit and deposit growth, 2019 to 2026">    </p:cNvPr>
          <p:cNvPicPr>
            <a:picLocks noChangeAspect="1"/>
          </p:cNvPicPr>
          <p:nvPr/>
        </p:nvPicPr>
        <p:blipFill>
          <a:blip r:embed="rId1"/>
          <a:stretch>
            <a:fillRect/>
          </a:stretch>
        </p:blipFill>
        <p:spPr>
          <a:xfrm>
            <a:off x="365760" y="960120"/>
            <a:ext cx="4023360" cy="3621024"/>
          </a:xfrm>
          <a:prstGeom prst="rect">
            <a:avLst/>
          </a:prstGeom>
        </p:spPr>
      </p:pic>
      <p:sp>
        <p:nvSpPr>
          <p:cNvPr id="4" name="ep0"/>
          <p:cNvSpPr/>
          <p:nvPr/>
        </p:nvSpPr>
        <p:spPr>
          <a:xfrm>
            <a:off x="4617720" y="1005840"/>
            <a:ext cx="4069080" cy="1078992"/>
          </a:xfrm>
          <a:prstGeom prst="roundRect">
            <a:avLst>
              <a:gd name="adj" fmla="val 6780"/>
            </a:avLst>
          </a:prstGeom>
          <a:solidFill>
            <a:schemeClr val="bg2"/>
          </a:solidFill>
          <a:ln/>
        </p:spPr>
      </p:sp>
      <p:sp>
        <p:nvSpPr>
          <p:cNvPr id="5" name="Text 2"/>
          <p:cNvSpPr txBox="1"/>
          <p:nvPr/>
        </p:nvSpPr>
        <p:spPr>
          <a:xfrm>
            <a:off x="4754880" y="1069848"/>
            <a:ext cx="3840480" cy="960120"/>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Floor, 2020 to 2021, 9 months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Interbank 0.3 percent. Deposits grew 21 percent, credit 14; excess reserves 3.6 percent of deposits.</a:t>
            </a:r>
            <a:endParaRPr lang="en-US" sz="1100" dirty="0"/>
          </a:p>
        </p:txBody>
      </p:sp>
      <p:sp>
        <p:nvSpPr>
          <p:cNvPr id="6" name="ep1"/>
          <p:cNvSpPr/>
          <p:nvPr/>
        </p:nvSpPr>
        <p:spPr>
          <a:xfrm>
            <a:off x="4617720" y="2194560"/>
            <a:ext cx="4069080" cy="1078992"/>
          </a:xfrm>
          <a:prstGeom prst="roundRect">
            <a:avLst>
              <a:gd name="adj" fmla="val 6780"/>
            </a:avLst>
          </a:prstGeom>
          <a:solidFill>
            <a:schemeClr val="bg2"/>
          </a:solidFill>
          <a:ln/>
        </p:spPr>
      </p:sp>
      <p:sp>
        <p:nvSpPr>
          <p:cNvPr id="7" name="Text 4"/>
          <p:cNvSpPr txBox="1"/>
          <p:nvPr/>
        </p:nvSpPr>
        <p:spPr>
          <a:xfrm>
            <a:off x="4754880" y="2258568"/>
            <a:ext cx="3840480" cy="960120"/>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Ceiling, 2021 to 2022, 15 months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Interbank 6.5 percent. Credit grew 20 percent, deposits 13; excess reserves fell to 0.35; NRB never net absorbing.</a:t>
            </a:r>
            <a:endParaRPr lang="en-US" sz="1100" dirty="0"/>
          </a:p>
        </p:txBody>
      </p:sp>
      <p:sp>
        <p:nvSpPr>
          <p:cNvPr id="8" name="ep2"/>
          <p:cNvSpPr/>
          <p:nvPr/>
        </p:nvSpPr>
        <p:spPr>
          <a:xfrm>
            <a:off x="4617720" y="3383280"/>
            <a:ext cx="4069080" cy="1078992"/>
          </a:xfrm>
          <a:prstGeom prst="roundRect">
            <a:avLst>
              <a:gd name="adj" fmla="val 6780"/>
            </a:avLst>
          </a:prstGeom>
          <a:solidFill>
            <a:schemeClr val="bg2"/>
          </a:solidFill>
          <a:ln/>
        </p:spPr>
      </p:sp>
      <p:sp>
        <p:nvSpPr>
          <p:cNvPr id="9" name="Text 6"/>
          <p:cNvSpPr txBox="1"/>
          <p:nvPr/>
        </p:nvSpPr>
        <p:spPr>
          <a:xfrm>
            <a:off x="4754880" y="3447288"/>
            <a:ext cx="3840480" cy="960120"/>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Floor, 2023 to 2026, 34 months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Interbank 2.9 percent. Credit 6.5, deposits 13; remittances 29 percent of broad money a year; NRB absorbing in 94 percent of months.</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What India's new cycle means for Nepal</a:t>
            </a:r>
            <a:endParaRPr lang="en-US" sz="2600" dirty="0"/>
          </a:p>
        </p:txBody>
      </p:sp>
      <p:sp>
        <p:nvSpPr>
          <p:cNvPr id="3" name="mean0"/>
          <p:cNvSpPr/>
          <p:nvPr/>
        </p:nvSpPr>
        <p:spPr>
          <a:xfrm>
            <a:off x="457200" y="1097280"/>
            <a:ext cx="4023360" cy="1645920"/>
          </a:xfrm>
          <a:prstGeom prst="roundRect">
            <a:avLst>
              <a:gd name="adj" fmla="val 4444"/>
            </a:avLst>
          </a:prstGeom>
          <a:solidFill>
            <a:schemeClr val="bg2"/>
          </a:solidFill>
          <a:ln/>
        </p:spPr>
      </p:sp>
      <p:sp>
        <p:nvSpPr>
          <p:cNvPr id="4" name="Text 2"/>
          <p:cNvSpPr txBox="1"/>
          <p:nvPr/>
        </p:nvSpPr>
        <p:spPr>
          <a:xfrm>
            <a:off x="640080" y="1216152"/>
            <a:ext cx="3657600" cy="1463040"/>
          </a:xfrm>
          <a:prstGeom prst="rect">
            <a:avLst/>
          </a:prstGeom>
          <a:noFill/>
          <a:ln/>
        </p:spPr>
        <p:txBody>
          <a:bodyPr wrap="square" lIns="0" tIns="0" rIns="0" bIns="0" rtlCol="0" anchor="t"/>
          <a:lstStyle/>
          <a:p>
            <a:pPr indent="0" marL="0">
              <a:buNone/>
            </a:pPr>
            <a:r>
              <a:rPr lang="en-US" sz="1400" b="1" dirty="0">
                <a:solidFill>
                  <a:schemeClr val="accent2"/>
                </a:solidFill>
                <a:latin typeface="Calibri" pitchFamily="34" charset="0"/>
                <a:ea typeface="Calibri" pitchFamily="34" charset="-122"/>
                <a:cs typeface="Calibri" pitchFamily="34" charset="-120"/>
              </a:rPr>
              <a:t>Interest rates: little</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Nepal's interbank rate has sat on the NRB floor of 2.75 percent for 34 months. It moves when the NRB moves the floor or liquidity dries up, not when the RBI hikes.</a:t>
            </a:r>
            <a:endParaRPr lang="en-US" sz="1200" dirty="0"/>
          </a:p>
        </p:txBody>
      </p:sp>
      <p:sp>
        <p:nvSpPr>
          <p:cNvPr id="5" name="mean1"/>
          <p:cNvSpPr/>
          <p:nvPr/>
        </p:nvSpPr>
        <p:spPr>
          <a:xfrm>
            <a:off x="4663440" y="1097280"/>
            <a:ext cx="4023360" cy="1645920"/>
          </a:xfrm>
          <a:prstGeom prst="roundRect">
            <a:avLst>
              <a:gd name="adj" fmla="val 4444"/>
            </a:avLst>
          </a:prstGeom>
          <a:solidFill>
            <a:schemeClr val="bg2"/>
          </a:solidFill>
          <a:ln/>
        </p:spPr>
      </p:sp>
      <p:sp>
        <p:nvSpPr>
          <p:cNvPr id="6" name="Text 4"/>
          <p:cNvSpPr txBox="1"/>
          <p:nvPr/>
        </p:nvSpPr>
        <p:spPr>
          <a:xfrm>
            <a:off x="4846320" y="1216152"/>
            <a:ext cx="3657600" cy="1463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Prices: yes</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Every fall of the Indian rupee against the dollar is a fall of the Nepali rupee. Inflation in the two countries has moved together closely since 2021 (0.88).</a:t>
            </a:r>
            <a:endParaRPr lang="en-US" sz="1200" dirty="0"/>
          </a:p>
        </p:txBody>
      </p:sp>
      <p:sp>
        <p:nvSpPr>
          <p:cNvPr id="7" name="mean2"/>
          <p:cNvSpPr/>
          <p:nvPr/>
        </p:nvSpPr>
        <p:spPr>
          <a:xfrm>
            <a:off x="457200" y="2880360"/>
            <a:ext cx="4023360" cy="1645920"/>
          </a:xfrm>
          <a:prstGeom prst="roundRect">
            <a:avLst>
              <a:gd name="adj" fmla="val 4444"/>
            </a:avLst>
          </a:prstGeom>
          <a:solidFill>
            <a:schemeClr val="bg2"/>
          </a:solidFill>
          <a:ln/>
        </p:spPr>
      </p:sp>
      <p:sp>
        <p:nvSpPr>
          <p:cNvPr id="8" name="Text 6"/>
          <p:cNvSpPr txBox="1"/>
          <p:nvPr/>
        </p:nvSpPr>
        <p:spPr>
          <a:xfrm>
            <a:off x="640080" y="2999232"/>
            <a:ext cx="3657600" cy="1463040"/>
          </a:xfrm>
          <a:prstGeom prst="rect">
            <a:avLst/>
          </a:prstGeom>
          <a:noFill/>
          <a:ln/>
        </p:spPr>
        <p:txBody>
          <a:bodyPr wrap="square" lIns="0" tIns="0" rIns="0" bIns="0" rtlCol="0" anchor="t"/>
          <a:lstStyle/>
          <a:p>
            <a:pPr indent="0" marL="0">
              <a:buNone/>
            </a:pPr>
            <a:r>
              <a:rPr lang="en-US" sz="1400" b="1" dirty="0">
                <a:solidFill>
                  <a:schemeClr val="accent5"/>
                </a:solidFill>
                <a:latin typeface="Calibri" pitchFamily="34" charset="0"/>
                <a:ea typeface="Calibri" pitchFamily="34" charset="-122"/>
                <a:cs typeface="Calibri" pitchFamily="34" charset="-120"/>
              </a:rPr>
              <a:t>Remittances: the risk</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Remittances reach 29 percent of broad money a year, largely from the Gulf. A Gulf war could cut them and lift Nepal off the floor.</a:t>
            </a:r>
            <a:endParaRPr lang="en-US" sz="1200" dirty="0"/>
          </a:p>
        </p:txBody>
      </p:sp>
      <p:sp>
        <p:nvSpPr>
          <p:cNvPr id="9" name="mean3"/>
          <p:cNvSpPr/>
          <p:nvPr/>
        </p:nvSpPr>
        <p:spPr>
          <a:xfrm>
            <a:off x="4663440" y="2880360"/>
            <a:ext cx="4023360" cy="1645920"/>
          </a:xfrm>
          <a:prstGeom prst="roundRect">
            <a:avLst>
              <a:gd name="adj" fmla="val 4444"/>
            </a:avLst>
          </a:prstGeom>
          <a:solidFill>
            <a:schemeClr val="bg2"/>
          </a:solidFill>
          <a:ln/>
        </p:spPr>
      </p:sp>
      <p:sp>
        <p:nvSpPr>
          <p:cNvPr id="10" name="Text 8"/>
          <p:cNvSpPr txBox="1"/>
          <p:nvPr/>
        </p:nvSpPr>
        <p:spPr>
          <a:xfrm>
            <a:off x="4846320" y="2999232"/>
            <a:ext cx="3657600" cy="1463040"/>
          </a:xfrm>
          <a:prstGeom prst="rect">
            <a:avLst/>
          </a:prstGeom>
          <a:noFill/>
          <a:ln/>
        </p:spPr>
        <p:txBody>
          <a:bodyPr wrap="square" lIns="0" tIns="0" rIns="0" bIns="0" rtlCol="0" anchor="t"/>
          <a:lstStyle/>
          <a:p>
            <a:pPr indent="0" marL="0">
              <a:buNone/>
            </a:pPr>
            <a:r>
              <a:rPr lang="en-US" sz="1400" b="1" dirty="0">
                <a:solidFill>
                  <a:schemeClr val="accent3"/>
                </a:solidFill>
                <a:latin typeface="Calibri" pitchFamily="34" charset="0"/>
                <a:ea typeface="Calibri" pitchFamily="34" charset="-122"/>
                <a:cs typeface="Calibri" pitchFamily="34" charset="-120"/>
              </a:rPr>
              <a:t>Watch the NRB</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The NRB's policy rate leaned with the RBI in 7 of 12 cycles. Our sealed Nepal forecast: rise 0.29, fall 0.24 by October.</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Limits and what is still open</a:t>
            </a:r>
            <a:endParaRPr lang="en-US" sz="2600" dirty="0"/>
          </a:p>
        </p:txBody>
      </p:sp>
      <p:sp>
        <p:nvSpPr>
          <p:cNvPr id="3" name="lim0"/>
          <p:cNvSpPr/>
          <p:nvPr/>
        </p:nvSpPr>
        <p:spPr>
          <a:xfrm>
            <a:off x="457200" y="1097280"/>
            <a:ext cx="2615184" cy="3520440"/>
          </a:xfrm>
          <a:prstGeom prst="roundRect">
            <a:avLst>
              <a:gd name="adj" fmla="val 2797"/>
            </a:avLst>
          </a:prstGeom>
          <a:solidFill>
            <a:schemeClr val="bg2"/>
          </a:solidFill>
          <a:ln/>
        </p:spPr>
      </p:sp>
      <p:sp>
        <p:nvSpPr>
          <p:cNvPr id="4" name="Text 2"/>
          <p:cNvSpPr txBox="1"/>
          <p:nvPr/>
        </p:nvSpPr>
        <p:spPr>
          <a:xfrm>
            <a:off x="621792" y="1216152"/>
            <a:ext cx="2286000" cy="365760"/>
          </a:xfrm>
          <a:prstGeom prst="rect">
            <a:avLst/>
          </a:prstGeom>
          <a:noFill/>
          <a:ln/>
        </p:spPr>
        <p:txBody>
          <a:bodyPr wrap="square" lIns="0" tIns="0" rIns="0" bIns="0" rtlCol="0" anchor="ctr"/>
          <a:lstStyle/>
          <a:p>
            <a:pPr indent="0" marL="0">
              <a:buNone/>
            </a:pPr>
            <a:r>
              <a:rPr lang="en-US" sz="1500" b="1" dirty="0">
                <a:solidFill>
                  <a:schemeClr val="accent5"/>
                </a:solidFill>
                <a:latin typeface="Calibri" pitchFamily="34" charset="0"/>
                <a:ea typeface="Calibri" pitchFamily="34" charset="-122"/>
                <a:cs typeface="Calibri" pitchFamily="34" charset="-120"/>
              </a:rPr>
              <a:t>Not yet done</a:t>
            </a:r>
            <a:endParaRPr lang="en-US" sz="1500" dirty="0"/>
          </a:p>
        </p:txBody>
      </p:sp>
      <p:sp>
        <p:nvSpPr>
          <p:cNvPr id="5" name="Text 3"/>
          <p:cNvSpPr txBox="1"/>
          <p:nvPr/>
        </p:nvSpPr>
        <p:spPr>
          <a:xfrm>
            <a:off x="621792" y="1645920"/>
            <a:ext cx="2331720" cy="288036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Robustness checks: other cutoffs, the 2015 inflation measure switch, Nepal deadbands, a VAR</a:t>
            </a:r>
            <a:endParaRPr lang="en-US" sz="1150" dirty="0"/>
          </a:p>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Citations to verify: neutral real rate, Patel committee date, 2016 corridor start</a:t>
            </a:r>
            <a:endParaRPr lang="en-US" sz="1150" dirty="0"/>
          </a:p>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Nepal comparisons are descriptive; a causal test is next</a:t>
            </a:r>
            <a:endParaRPr lang="en-US" sz="1150" dirty="0"/>
          </a:p>
        </p:txBody>
      </p:sp>
      <p:sp>
        <p:nvSpPr>
          <p:cNvPr id="6" name="lim1"/>
          <p:cNvSpPr/>
          <p:nvPr/>
        </p:nvSpPr>
        <p:spPr>
          <a:xfrm>
            <a:off x="3264408" y="1097280"/>
            <a:ext cx="2615184" cy="3520440"/>
          </a:xfrm>
          <a:prstGeom prst="roundRect">
            <a:avLst>
              <a:gd name="adj" fmla="val 2797"/>
            </a:avLst>
          </a:prstGeom>
          <a:solidFill>
            <a:schemeClr val="bg2"/>
          </a:solidFill>
          <a:ln/>
        </p:spPr>
      </p:sp>
      <p:sp>
        <p:nvSpPr>
          <p:cNvPr id="7" name="Text 5"/>
          <p:cNvSpPr txBox="1"/>
          <p:nvPr/>
        </p:nvSpPr>
        <p:spPr>
          <a:xfrm>
            <a:off x="3429000" y="1216152"/>
            <a:ext cx="2286000" cy="36576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Waiting for data</a:t>
            </a:r>
            <a:endParaRPr lang="en-US" sz="1500" dirty="0"/>
          </a:p>
        </p:txBody>
      </p:sp>
      <p:sp>
        <p:nvSpPr>
          <p:cNvPr id="8" name="Text 6"/>
          <p:cNvSpPr txBox="1"/>
          <p:nvPr/>
        </p:nvSpPr>
        <p:spPr>
          <a:xfrm>
            <a:off x="3429000" y="1645920"/>
            <a:ext cx="2331720" cy="288036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The December 2026 RBI decision, against our recorded 0.56</a:t>
            </a:r>
            <a:endParaRPr lang="en-US" sz="1150" dirty="0"/>
          </a:p>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Three sealed Nepal forecasts, August to October 2026: NRB data end at mid July</a:t>
            </a:r>
            <a:endParaRPr lang="en-US" sz="1150" dirty="0"/>
          </a:p>
        </p:txBody>
      </p:sp>
      <p:sp>
        <p:nvSpPr>
          <p:cNvPr id="9" name="lim2"/>
          <p:cNvSpPr/>
          <p:nvPr/>
        </p:nvSpPr>
        <p:spPr>
          <a:xfrm>
            <a:off x="6071616" y="1097280"/>
            <a:ext cx="2615184" cy="3520440"/>
          </a:xfrm>
          <a:prstGeom prst="roundRect">
            <a:avLst>
              <a:gd name="adj" fmla="val 2797"/>
            </a:avLst>
          </a:prstGeom>
          <a:solidFill>
            <a:schemeClr val="bg2"/>
          </a:solidFill>
          <a:ln/>
        </p:spPr>
      </p:sp>
      <p:sp>
        <p:nvSpPr>
          <p:cNvPr id="10" name="Text 8"/>
          <p:cNvSpPr txBox="1"/>
          <p:nvPr/>
        </p:nvSpPr>
        <p:spPr>
          <a:xfrm>
            <a:off x="6236208" y="1216152"/>
            <a:ext cx="2286000" cy="365760"/>
          </a:xfrm>
          <a:prstGeom prst="rect">
            <a:avLst/>
          </a:prstGeom>
          <a:noFill/>
          <a:ln/>
        </p:spPr>
        <p:txBody>
          <a:bodyPr wrap="square" lIns="0" tIns="0" rIns="0" bIns="0" rtlCol="0" anchor="ctr"/>
          <a:lstStyle/>
          <a:p>
            <a:pPr indent="0" marL="0">
              <a:buNone/>
            </a:pPr>
            <a:r>
              <a:rPr lang="en-US" sz="1500" b="1" dirty="0">
                <a:solidFill>
                  <a:schemeClr val="accent4"/>
                </a:solidFill>
                <a:latin typeface="Calibri" pitchFamily="34" charset="0"/>
                <a:ea typeface="Calibri" pitchFamily="34" charset="-122"/>
                <a:cs typeface="Calibri" pitchFamily="34" charset="-120"/>
              </a:rPr>
              <a:t>Design limits</a:t>
            </a:r>
            <a:endParaRPr lang="en-US" sz="1500" dirty="0"/>
          </a:p>
        </p:txBody>
      </p:sp>
      <p:sp>
        <p:nvSpPr>
          <p:cNvPr id="11" name="Text 9"/>
          <p:cNvSpPr txBox="1"/>
          <p:nvPr/>
        </p:nvSpPr>
        <p:spPr>
          <a:xfrm>
            <a:off x="6236208" y="1645920"/>
            <a:ext cx="2331720" cy="288036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No market data (bond yields, swaps), the main signal at the start of a cycle</a:t>
            </a:r>
            <a:endParaRPr lang="en-US" sz="1150" dirty="0"/>
          </a:p>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Latest vintage series for some inputs</a:t>
            </a:r>
            <a:endParaRPr lang="en-US" sz="1150" dirty="0"/>
          </a:p>
          <a:p>
            <a:pPr marL="177800" indent="-1778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Only 12 complete RBI cycles: wide confidence bands</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Conclusion</a:t>
            </a:r>
            <a:endParaRPr lang="en-US" sz="4000" dirty="0"/>
          </a:p>
        </p:txBody>
      </p:sp>
      <p:sp>
        <p:nvSpPr>
          <p:cNvPr id="3" name="Text 0"/>
          <p:cNvSpPr/>
          <p:nvPr>
            <p:ph idx="101" type="body" hasCustomPrompt="1"/>
          </p:nvPr>
        </p:nvSpPr>
        <p:spPr>
          <a:xfrm>
            <a:off x="548640" y="2606040"/>
            <a:ext cx="8046720" cy="14630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CADCFC"/>
                </a:solidFill>
              </a:rPr>
              <a:t>India has entered a new hiking cycle. A second hike is more likely than not; the cycle most likely ends at 5.75 to 6.00, and oil decides which.</a:t>
            </a:r>
            <a:endParaRPr lang="en-US" sz="1800" dirty="0"/>
          </a:p>
          <a:p>
            <a:pPr marL="228600" indent="-228600">
              <a:spcAft>
                <a:spcPts val="800"/>
              </a:spcAft>
              <a:buSzPct val="100000"/>
              <a:buChar char="•"/>
            </a:pPr>
            <a:r>
              <a:rPr lang="en-US" sz="1800" dirty="0">
                <a:solidFill>
                  <a:srgbClr val="CADCFC"/>
                </a:solidFill>
              </a:rPr>
              <a:t>The peg carries India's prices into Nepal, not India's interest rates: Nepal's market rate followed the RBI in only 6 of 12 cycles.</a:t>
            </a:r>
            <a:endParaRPr lang="en-US" sz="1800" dirty="0"/>
          </a:p>
          <a:p>
            <a:pPr marL="228600" indent="-228600">
              <a:buSzPct val="100000"/>
              <a:buChar char="•"/>
            </a:pPr>
            <a:r>
              <a:rPr lang="en-US" sz="1800" dirty="0">
                <a:solidFill>
                  <a:srgbClr val="CADCFC"/>
                </a:solidFill>
              </a:rPr>
              <a:t>Capital controls keep the NRB's rate its own. Remittances bought at the peg hold it on the NRB floor, so watch the NRB and the Gulf, not the RBI.</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Appendix: forecasting Nepal's rate direction</a:t>
            </a:r>
            <a:endParaRPr lang="en-US" sz="2600" dirty="0"/>
          </a:p>
        </p:txBody>
      </p:sp>
      <p:graphicFrame>
        <p:nvGraphicFramePr>
          <p:cNvPr id="3" name="Chart 0" descr=""/>
          <p:cNvGraphicFramePr/>
          <p:nvPr/>
        </p:nvGraphicFramePr>
        <p:xfrm>
          <a:off x="365760" y="1051560"/>
          <a:ext cx="4480560" cy="3566160"/>
        </p:xfrm>
        <a:graphic xmlns:a="http://schemas.openxmlformats.org/drawingml/2006/main">
          <a:graphicData uri="http://schemas.openxmlformats.org/drawingml/2006/chart">
            <c:chart xmlns:c="http://schemas.openxmlformats.org/drawingml/2006/chart" r:id="rId1"/>
          </a:graphicData>
        </a:graphic>
      </p:graphicFrame>
      <p:sp>
        <p:nvSpPr>
          <p:cNvPr id="4" name="nepal-read"/>
          <p:cNvSpPr/>
          <p:nvPr/>
        </p:nvSpPr>
        <p:spPr>
          <a:xfrm>
            <a:off x="5120640" y="1143000"/>
            <a:ext cx="3566160" cy="3383280"/>
          </a:xfrm>
          <a:prstGeom prst="roundRect">
            <a:avLst>
              <a:gd name="adj" fmla="val 2162"/>
            </a:avLst>
          </a:prstGeom>
          <a:solidFill>
            <a:schemeClr val="bg2"/>
          </a:solidFill>
          <a:ln/>
        </p:spPr>
      </p:sp>
      <p:sp>
        <p:nvSpPr>
          <p:cNvPr id="5" name="Text 2"/>
          <p:cNvSpPr txBox="1"/>
          <p:nvPr/>
        </p:nvSpPr>
        <p:spPr>
          <a:xfrm>
            <a:off x="5303520" y="1280160"/>
            <a:ext cx="3246120" cy="3154680"/>
          </a:xfrm>
          <a:prstGeom prst="rect">
            <a:avLst/>
          </a:prstGeom>
          <a:noFill/>
          <a:ln/>
        </p:spPr>
        <p:txBody>
          <a:bodyPr wrap="square" lIns="0" tIns="0" rIns="0" bIns="0" rtlCol="0" anchor="t"/>
          <a:lstStyle/>
          <a:p>
            <a:pPr indent="0" marL="0">
              <a:buNone/>
            </a:pPr>
            <a:r>
              <a:rPr lang="en-US" sz="1150" b="1" dirty="0">
                <a:solidFill>
                  <a:schemeClr val="accent2"/>
                </a:solidFill>
                <a:latin typeface="Calibri" pitchFamily="34" charset="0"/>
                <a:ea typeface="Calibri" pitchFamily="34" charset="-122"/>
                <a:cs typeface="Calibri" pitchFamily="34" charset="-120"/>
              </a:rPr>
              <a:t>Target</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Will the interbank rate rise, or fall, by more than half a point in three months? Two yes or no questions, after the declared three way model failed (0.47 against persistence 0.43).</a:t>
            </a:r>
            <a:endParaRPr lang="en-US" sz="115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chemeClr val="accent3"/>
                </a:solidFill>
                <a:latin typeface="Calibri" pitchFamily="34" charset="0"/>
                <a:ea typeface="Calibri" pitchFamily="34" charset="-122"/>
                <a:cs typeface="Calibri" pitchFamily="34" charset="-120"/>
              </a:rPr>
              <a:t>Rises: forecastable</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Liquidity tightening shows up in reserves and credit before the rate moves.</a:t>
            </a:r>
            <a:endParaRPr lang="en-US" sz="115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chemeClr val="accent5"/>
                </a:solidFill>
                <a:latin typeface="Calibri" pitchFamily="34" charset="0"/>
                <a:ea typeface="Calibri" pitchFamily="34" charset="-122"/>
                <a:cs typeface="Calibri" pitchFamily="34" charset="-120"/>
              </a:rPr>
              <a:t>Falls: not after 2021</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At the floor the rate can only fall if the NRB cuts the floor. Results labelled post hoc; three sealed forecasts await data.</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RateCycle">
  <a:themeElements>
    <a:clrScheme name="RateCycle">
      <a:dk1>
        <a:srgbClr val="1B1F2A"/>
      </a:dk1>
      <a:lt1>
        <a:srgbClr val="FFFFFF"/>
      </a:lt1>
      <a:dk2>
        <a:srgbClr val="1F2D4A"/>
      </a:dk2>
      <a:lt2>
        <a:srgbClr val="F4F5F7"/>
      </a:lt2>
      <a:accent1>
        <a:srgbClr val="EB6834"/>
      </a:accent1>
      <a:accent2>
        <a:srgbClr val="2A78D6"/>
      </a:accent2>
      <a:accent3>
        <a:srgbClr val="1BAF7A"/>
      </a:accent3>
      <a:accent4>
        <a:srgbClr val="8A8F98"/>
      </a:accent4>
      <a:accent5>
        <a:srgbClr val="C8432B"/>
      </a:accent5>
      <a:accent6>
        <a:srgbClr val="F2B134"/>
      </a:accent6>
      <a:hlink>
        <a:srgbClr val="2A78D6"/>
      </a:hlink>
      <a:folHlink>
        <a:srgbClr val="1F2D4A"/>
      </a:folHlink>
    </a:clrScheme>
    <a:fontScheme name="RateCyc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Will India enter a new rate cycle, and does Nepal follow?</dc:title>
  <dc:subject>PptxGenJS Presentation</dc:subject>
  <dc:creator>sakrit204-byte</dc:creator>
  <cp:lastModifiedBy>sakrit204-byte</cp:lastModifiedBy>
  <cp:revision>1</cp:revision>
  <dcterms:created xsi:type="dcterms:W3CDTF">2026-10-29T03:15:20Z</dcterms:created>
  <dcterms:modified xsi:type="dcterms:W3CDTF">2026-10-29T03:15:20Z</dcterms:modified>
</cp:coreProperties>
</file>