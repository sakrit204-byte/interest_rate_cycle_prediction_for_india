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8.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9.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0.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44cb3db-b6e6-1f68-f652-b311aac392c4}">
          <p14:sldIdLst>
            <p14:sldId id="256"/>
            <p14:sldId id="257"/>
          </p14:sldIdLst>
        </p14:section>
        <p14:section name="How the models were trained" id="{5d328c6b-351e-21b4-2e27-1d602bf88454}">
          <p14:sldIdLst>
            <p14:sldId id="258"/>
            <p14:sldId id="259"/>
            <p14:sldId id="260"/>
            <p14:sldId id="261"/>
            <p14:sldId id="262"/>
            <p14:sldId id="263"/>
            <p14:sldId id="264"/>
          </p14:sldIdLst>
        </p14:section>
        <p14:section name="India" id="{aa5290dd-e676-ea87-593e-20170da3a2b7}">
          <p14:sldIdLst>
            <p14:sldId id="265"/>
            <p14:sldId id="266"/>
            <p14:sldId id="267"/>
            <p14:sldId id="268"/>
            <p14:sldId id="269"/>
            <p14:sldId id="270"/>
            <p14:sldId id="271"/>
          </p14:sldIdLst>
        </p14:section>
        <p14:section name="Next two years" id="{1df60a50-2251-3d1e-ecaa-8d74ea01585a}">
          <p14:sldIdLst>
            <p14:sldId id="272"/>
          </p14:sldIdLst>
        </p14:section>
        <p14:section name="Nepal, derived from India's cycle" id="{96205027-01d6-57fc-c1dc-06a632bcdac6}">
          <p14:sldIdLst>
            <p14:sldId id="273"/>
            <p14:sldId id="274"/>
            <p14:sldId id="275"/>
            <p14:sldId id="276"/>
            <p14:sldId id="277"/>
            <p14:sldId id="278"/>
            <p14:sldId id="279"/>
          </p14:sldIdLst>
        </p14:section>
        <p14:section name="Close" id="{878e3cae-e948-2e13-ad46-e58f9990bb18}">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The variable ledger, 64 variables</a:t>
            </a:r>
          </a:p>
        </c:rich>
      </c:tx>
      <c:layout/>
      <c:overlay val="0"/>
    </c:title>
    <c:autoTitleDeleted val="0"/>
    <c:plotArea>
      <c:layout/>
      <c:barChart>
        <c:barDir val="bar"/>
        <c:grouping val="clustered"/>
        <c:varyColors val="0"/>
        <c:ser>
          <c:idx val="0"/>
          <c:order val="0"/>
          <c:tx>
            <c:strRef>
              <c:f>Sheet1!$B$1</c:f>
              <c:strCache>
                <c:ptCount val="1"/>
                <c:pt idx="0">
                  <c:v>Variables</c:v>
                </c:pt>
              </c:strCache>
            </c:strRef>
          </c:tx>
          <c:spPr>
            <a:solidFill>
              <a:srgbClr val="2A78D6"/>
            </a:solidFill>
            <a:effectLst/>
          </c:spPr>
          <c:invertIfNegative val="0"/>
          <c:dLbls>
            <c:numFmt formatCode="0" sourceLinked="0"/>
            <c:txPr>
              <a:bodyPr/>
              <a:lstStyle/>
              <a:p>
                <a:pPr>
                  <a:defRPr b="0" i="0" strike="noStrike" sz="1100" u="none">
                    <a:solidFill>
                      <a:srgbClr val="1B1F2A"/>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8A8F98"/>
              </a:solidFill>
              <a:effectLst/>
            </c:spPr>
          </c:dPt>
          <c:dPt>
            <c:idx val="2"/>
            <c:invertIfNegative val="0"/>
            <c:bubble3D val="0"/>
            <c:spPr>
              <a:solidFill>
                <a:srgbClr val="8A8F98"/>
              </a:solidFill>
              <a:effectLst/>
            </c:spPr>
          </c:dPt>
          <c:dPt>
            <c:idx val="3"/>
            <c:invertIfNegative val="0"/>
            <c:bubble3D val="0"/>
            <c:spPr>
              <a:solidFill>
                <a:srgbClr val="8A8F98"/>
              </a:solidFill>
              <a:effectLst/>
            </c:spPr>
          </c:dPt>
          <c:dPt>
            <c:idx val="4"/>
            <c:invertIfNegative val="0"/>
            <c:bubble3D val="0"/>
            <c:spPr>
              <a:solidFill>
                <a:srgbClr val="8A8F98"/>
              </a:solidFill>
              <a:effectLst/>
            </c:spPr>
          </c:dPt>
          <c:cat>
            <c:multiLvlStrRef>
              <c:f>Sheet1!$A$2:$A$6</c:f>
              <c:multiLvlStrCache>
                <c:ptCount val="5"/>
                <c:lvl>
                  <c:pt idx="0">
                    <c:v>Used in the models</c:v>
                  </c:pt>
                  <c:pt idx="1">
                    <c:v>Candidate, not used</c:v>
                  </c:pt>
                  <c:pt idx="2">
                    <c:v>Robustness only</c:v>
                  </c:pt>
                  <c:pt idx="3">
                    <c:v>Pending data</c:v>
                  </c:pt>
                  <c:pt idx="4">
                    <c:v>Excluded</c:v>
                  </c:pt>
                </c:lvl>
              </c:multiLvlStrCache>
            </c:multiLvlStrRef>
          </c:cat>
          <c:val>
            <c:numRef>
              <c:f>Sheet1!$B$2:$B$6</c:f>
              <c:numCache>
                <c:formatCode>General</c:formatCode>
                <c:ptCount val="5"/>
                <c:pt idx="0">
                  <c:v>25</c:v>
                </c:pt>
                <c:pt idx="1">
                  <c:v>22</c:v>
                </c:pt>
                <c:pt idx="2">
                  <c:v>8</c:v>
                </c:pt>
                <c:pt idx="3">
                  <c:v>4</c:v>
                </c:pt>
                <c:pt idx="4">
                  <c:v>5</c:v>
                </c:pt>
              </c:numCache>
            </c:numRef>
          </c:val>
        </c:ser>
        <c:dLbls>
          <c:numFmt formatCode="0" sourceLinked="0"/>
          <c:txPr>
            <a:bodyPr/>
            <a:lstStyle/>
            <a:p>
              <a:pPr>
                <a:defRPr b="0" i="0" strike="noStrike" sz="1100" u="none">
                  <a:solidFill>
                    <a:srgbClr val="1B1F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30"/>
        </c:scaling>
        <c:delete val="1"/>
        <c:axPos val="b"/>
        <c:majorGridlines>
          <c:spPr>
            <a:ln w="6350" cap="flat">
              <a:solidFill>
                <a:srgbClr val="D9DCE1"/>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8A8F9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Walk forward balanced accuracy, training years</a:t>
            </a:r>
          </a:p>
        </c:rich>
      </c:tx>
      <c:layout/>
      <c:overlay val="0"/>
    </c:title>
    <c:autoTitleDeleted val="0"/>
    <c:plotArea>
      <c:layout/>
      <c:barChart>
        <c:barDir val="bar"/>
        <c:grouping val="clustered"/>
        <c:varyColors val="0"/>
        <c:ser>
          <c:idx val="0"/>
          <c:order val="0"/>
          <c:tx>
            <c:strRef>
              <c:f>Sheet1!$B$1</c:f>
              <c:strCache>
                <c:ptCount val="1"/>
                <c:pt idx="0">
                  <c:v>Balanced accuracy</c:v>
                </c:pt>
              </c:strCache>
            </c:strRef>
          </c:tx>
          <c:spPr>
            <a:solidFill>
              <a:srgbClr val="8A8F98"/>
            </a:solidFill>
            <a:effectLst/>
          </c:spPr>
          <c:invertIfNegative val="0"/>
          <c:dLbls>
            <c:numFmt formatCode="0.00" sourceLinked="0"/>
            <c:txPr>
              <a:bodyPr/>
              <a:lstStyle/>
              <a:p>
                <a:pPr>
                  <a:defRPr b="0" i="0" strike="noStrike" sz="1100" u="none">
                    <a:solidFill>
                      <a:srgbClr val="1B1F2A"/>
                    </a:solidFill>
                    <a:latin typeface="+mn-lt"/>
                  </a:defRPr>
                </a:pPr>
              </a:p>
            </c:txPr>
            <c:showLegendKey val="0"/>
            <c:showVal val="1"/>
            <c:showCatName val="0"/>
            <c:showSerName val="0"/>
            <c:showPercent val="0"/>
            <c:showBubbleSize val="0"/>
            <c:showLeaderLines val="0"/>
          </c:dLbls>
          <c:dPt>
            <c:idx val="0"/>
            <c:invertIfNegative val="0"/>
            <c:bubble3D val="0"/>
            <c:spPr>
              <a:solidFill>
                <a:srgbClr val="8A8F98"/>
              </a:solidFill>
              <a:effectLst/>
            </c:spPr>
          </c:dPt>
          <c:dPt>
            <c:idx val="1"/>
            <c:invertIfNegative val="0"/>
            <c:bubble3D val="0"/>
            <c:spPr>
              <a:solidFill>
                <a:srgbClr val="8A8F98"/>
              </a:solidFill>
              <a:effectLst/>
            </c:spPr>
          </c:dPt>
          <c:dPt>
            <c:idx val="2"/>
            <c:invertIfNegative val="0"/>
            <c:bubble3D val="0"/>
            <c:spPr>
              <a:solidFill>
                <a:srgbClr val="BFC4CC"/>
              </a:solidFill>
              <a:effectLst/>
            </c:spPr>
          </c:dPt>
          <c:dPt>
            <c:idx val="3"/>
            <c:invertIfNegative val="0"/>
            <c:bubble3D val="0"/>
            <c:spPr>
              <a:solidFill>
                <a:srgbClr val="BFC4CC"/>
              </a:solidFill>
              <a:effectLst/>
            </c:spPr>
          </c:dPt>
          <c:dPt>
            <c:idx val="4"/>
            <c:invertIfNegative val="0"/>
            <c:bubble3D val="0"/>
            <c:spPr>
              <a:solidFill>
                <a:srgbClr val="BFC4CC"/>
              </a:solidFill>
              <a:effectLst/>
            </c:spPr>
          </c:dPt>
          <c:dPt>
            <c:idx val="5"/>
            <c:invertIfNegative val="0"/>
            <c:bubble3D val="0"/>
            <c:spPr>
              <a:solidFill>
                <a:srgbClr val="F4B08E"/>
              </a:solidFill>
              <a:effectLst/>
            </c:spPr>
          </c:dPt>
          <c:dPt>
            <c:idx val="6"/>
            <c:invertIfNegative val="0"/>
            <c:bubble3D val="0"/>
            <c:spPr>
              <a:solidFill>
                <a:srgbClr val="EB6834"/>
              </a:solidFill>
              <a:effectLst/>
            </c:spPr>
          </c:dPt>
          <c:cat>
            <c:multiLvlStrRef>
              <c:f>Sheet1!$A$2:$A$8</c:f>
              <c:multiLvlStrCache>
                <c:ptCount val="7"/>
                <c:lvl>
                  <c:pt idx="0">
                    <c:v>Majority class</c:v>
                  </c:pt>
                  <c:pt idx="1">
                    <c:v>Persistence</c:v>
                  </c:pt>
                  <c:pt idx="2">
                    <c:v>Gen 1: probit, 10 inputs</c:v>
                  </c:pt>
                  <c:pt idx="3">
                    <c:v>Gen 1: Taylor rule probit</c:v>
                  </c:pt>
                  <c:pt idx="4">
                    <c:v>Gen 1: random forest</c:v>
                  </c:pt>
                  <c:pt idx="5">
                    <c:v>Gen 2: with RBI projections</c:v>
                  </c:pt>
                  <c:pt idx="6">
                    <c:v>Gen 3: gaps from the anchor</c:v>
                  </c:pt>
                </c:lvl>
              </c:multiLvlStrCache>
            </c:multiLvlStrRef>
          </c:cat>
          <c:val>
            <c:numRef>
              <c:f>Sheet1!$B$2:$B$8</c:f>
              <c:numCache>
                <c:formatCode>General</c:formatCode>
                <c:ptCount val="7"/>
                <c:pt idx="0">
                  <c:v>0.359</c:v>
                </c:pt>
                <c:pt idx="1">
                  <c:v>0.532</c:v>
                </c:pt>
                <c:pt idx="2">
                  <c:v>0.442</c:v>
                </c:pt>
                <c:pt idx="3">
                  <c:v>0.52</c:v>
                </c:pt>
                <c:pt idx="4">
                  <c:v>0.551</c:v>
                </c:pt>
                <c:pt idx="5">
                  <c:v>0.588</c:v>
                </c:pt>
                <c:pt idx="6">
                  <c:v>0.639</c:v>
                </c:pt>
              </c:numCache>
            </c:numRef>
          </c:val>
        </c:ser>
        <c:dLbls>
          <c:numFmt formatCode="0.00" sourceLinked="0"/>
          <c:txPr>
            <a:bodyPr/>
            <a:lstStyle/>
            <a:p>
              <a:pPr>
                <a:defRPr b="0" i="0" strike="noStrike" sz="1100" u="none">
                  <a:solidFill>
                    <a:srgbClr val="1B1F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0.8"/>
          <c:min val="0"/>
        </c:scaling>
        <c:delete val="1"/>
        <c:axPos val="b"/>
        <c:majorGridlines>
          <c:spPr>
            <a:ln w="6350" cap="flat">
              <a:solidFill>
                <a:srgbClr val="D9DCE1"/>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8A8F9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RBI repo rate, percent, month end, 2001 to October 2026</a:t>
            </a:r>
          </a:p>
        </c:rich>
      </c:tx>
      <c:layout/>
      <c:overlay val="0"/>
    </c:title>
    <c:autoTitleDeleted val="0"/>
    <c:plotArea>
      <c:layout/>
      <c:lineChart>
        <c:varyColors val="0"/>
        <c:ser>
          <c:idx val="0"/>
          <c:order val="0"/>
          <c:tx>
            <c:strRef>
              <c:f>Sheet1!$B$1</c:f>
              <c:strCache>
                <c:ptCount val="1"/>
                <c:pt idx="0">
                  <c:v>RBI repo rate, percent</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Sheet1!$A$2:$A$311</c:f>
              <c:multiLvlStrCache>
                <c:ptCount val="310"/>
                <c:lvl>
                  <c:pt idx="0">
                    <c:v>2001</c:v>
                  </c:pt>
                  <c:pt idx="1">
                    <c:v>2001</c:v>
                  </c:pt>
                  <c:pt idx="2">
                    <c:v>2001</c:v>
                  </c:pt>
                  <c:pt idx="3">
                    <c:v>2001</c:v>
                  </c:pt>
                  <c:pt idx="4">
                    <c:v>2001</c:v>
                  </c:pt>
                  <c:pt idx="5">
                    <c:v>2001</c:v>
                  </c:pt>
                  <c:pt idx="6">
                    <c:v>2001</c:v>
                  </c:pt>
                  <c:pt idx="7">
                    <c:v>2001</c:v>
                  </c:pt>
                  <c:pt idx="8">
                    <c:v>2001</c:v>
                  </c:pt>
                  <c:pt idx="9">
                    <c:v>2001</c:v>
                  </c:pt>
                  <c:pt idx="10">
                    <c:v>2001</c:v>
                  </c:pt>
                  <c:pt idx="11">
                    <c:v>2001</c:v>
                  </c:pt>
                  <c:pt idx="12">
                    <c:v>2002</c:v>
                  </c:pt>
                  <c:pt idx="13">
                    <c:v>2002</c:v>
                  </c:pt>
                  <c:pt idx="14">
                    <c:v>2002</c:v>
                  </c:pt>
                  <c:pt idx="15">
                    <c:v>2002</c:v>
                  </c:pt>
                  <c:pt idx="16">
                    <c:v>2002</c:v>
                  </c:pt>
                  <c:pt idx="17">
                    <c:v>2002</c:v>
                  </c:pt>
                  <c:pt idx="18">
                    <c:v>2002</c:v>
                  </c:pt>
                  <c:pt idx="19">
                    <c:v>2002</c:v>
                  </c:pt>
                  <c:pt idx="20">
                    <c:v>2002</c:v>
                  </c:pt>
                  <c:pt idx="21">
                    <c:v>2002</c:v>
                  </c:pt>
                  <c:pt idx="22">
                    <c:v>2002</c:v>
                  </c:pt>
                  <c:pt idx="23">
                    <c:v>2002</c:v>
                  </c:pt>
                  <c:pt idx="24">
                    <c:v>2003</c:v>
                  </c:pt>
                  <c:pt idx="25">
                    <c:v>2003</c:v>
                  </c:pt>
                  <c:pt idx="26">
                    <c:v>2003</c:v>
                  </c:pt>
                  <c:pt idx="27">
                    <c:v>2003</c:v>
                  </c:pt>
                  <c:pt idx="28">
                    <c:v>2003</c:v>
                  </c:pt>
                  <c:pt idx="29">
                    <c:v>2003</c:v>
                  </c:pt>
                  <c:pt idx="30">
                    <c:v>2003</c:v>
                  </c:pt>
                  <c:pt idx="31">
                    <c:v>2003</c:v>
                  </c:pt>
                  <c:pt idx="32">
                    <c:v>2003</c:v>
                  </c:pt>
                  <c:pt idx="33">
                    <c:v>2003</c:v>
                  </c:pt>
                  <c:pt idx="34">
                    <c:v>2003</c:v>
                  </c:pt>
                  <c:pt idx="35">
                    <c:v>2003</c:v>
                  </c:pt>
                  <c:pt idx="36">
                    <c:v>2004</c:v>
                  </c:pt>
                  <c:pt idx="37">
                    <c:v>2004</c:v>
                  </c:pt>
                  <c:pt idx="38">
                    <c:v>2004</c:v>
                  </c:pt>
                  <c:pt idx="39">
                    <c:v>2004</c:v>
                  </c:pt>
                  <c:pt idx="40">
                    <c:v>2004</c:v>
                  </c:pt>
                  <c:pt idx="41">
                    <c:v>2004</c:v>
                  </c:pt>
                  <c:pt idx="42">
                    <c:v>2004</c:v>
                  </c:pt>
                  <c:pt idx="43">
                    <c:v>2004</c:v>
                  </c:pt>
                  <c:pt idx="44">
                    <c:v>2004</c:v>
                  </c:pt>
                  <c:pt idx="45">
                    <c:v>2004</c:v>
                  </c:pt>
                  <c:pt idx="46">
                    <c:v>2004</c:v>
                  </c:pt>
                  <c:pt idx="47">
                    <c:v>2004</c:v>
                  </c:pt>
                  <c:pt idx="48">
                    <c:v>2005</c:v>
                  </c:pt>
                  <c:pt idx="49">
                    <c:v>2005</c:v>
                  </c:pt>
                  <c:pt idx="50">
                    <c:v>2005</c:v>
                  </c:pt>
                  <c:pt idx="51">
                    <c:v>2005</c:v>
                  </c:pt>
                  <c:pt idx="52">
                    <c:v>2005</c:v>
                  </c:pt>
                  <c:pt idx="53">
                    <c:v>2005</c:v>
                  </c:pt>
                  <c:pt idx="54">
                    <c:v>2005</c:v>
                  </c:pt>
                  <c:pt idx="55">
                    <c:v>2005</c:v>
                  </c:pt>
                  <c:pt idx="56">
                    <c:v>2005</c:v>
                  </c:pt>
                  <c:pt idx="57">
                    <c:v>2005</c:v>
                  </c:pt>
                  <c:pt idx="58">
                    <c:v>2005</c:v>
                  </c:pt>
                  <c:pt idx="59">
                    <c:v>2005</c:v>
                  </c:pt>
                  <c:pt idx="60">
                    <c:v>2006</c:v>
                  </c:pt>
                  <c:pt idx="61">
                    <c:v>2006</c:v>
                  </c:pt>
                  <c:pt idx="62">
                    <c:v>2006</c:v>
                  </c:pt>
                  <c:pt idx="63">
                    <c:v>2006</c:v>
                  </c:pt>
                  <c:pt idx="64">
                    <c:v>2006</c:v>
                  </c:pt>
                  <c:pt idx="65">
                    <c:v>2006</c:v>
                  </c:pt>
                  <c:pt idx="66">
                    <c:v>2006</c:v>
                  </c:pt>
                  <c:pt idx="67">
                    <c:v>2006</c:v>
                  </c:pt>
                  <c:pt idx="68">
                    <c:v>2006</c:v>
                  </c:pt>
                  <c:pt idx="69">
                    <c:v>2006</c:v>
                  </c:pt>
                  <c:pt idx="70">
                    <c:v>2006</c:v>
                  </c:pt>
                  <c:pt idx="71">
                    <c:v>2006</c:v>
                  </c:pt>
                  <c:pt idx="72">
                    <c:v>2007</c:v>
                  </c:pt>
                  <c:pt idx="73">
                    <c:v>2007</c:v>
                  </c:pt>
                  <c:pt idx="74">
                    <c:v>2007</c:v>
                  </c:pt>
                  <c:pt idx="75">
                    <c:v>2007</c:v>
                  </c:pt>
                  <c:pt idx="76">
                    <c:v>2007</c:v>
                  </c:pt>
                  <c:pt idx="77">
                    <c:v>2007</c:v>
                  </c:pt>
                  <c:pt idx="78">
                    <c:v>2007</c:v>
                  </c:pt>
                  <c:pt idx="79">
                    <c:v>2007</c:v>
                  </c:pt>
                  <c:pt idx="80">
                    <c:v>2007</c:v>
                  </c:pt>
                  <c:pt idx="81">
                    <c:v>2007</c:v>
                  </c:pt>
                  <c:pt idx="82">
                    <c:v>2007</c:v>
                  </c:pt>
                  <c:pt idx="83">
                    <c:v>2007</c:v>
                  </c:pt>
                  <c:pt idx="84">
                    <c:v>2008</c:v>
                  </c:pt>
                  <c:pt idx="85">
                    <c:v>2008</c:v>
                  </c:pt>
                  <c:pt idx="86">
                    <c:v>2008</c:v>
                  </c:pt>
                  <c:pt idx="87">
                    <c:v>2008</c:v>
                  </c:pt>
                  <c:pt idx="88">
                    <c:v>2008</c:v>
                  </c:pt>
                  <c:pt idx="89">
                    <c:v>2008</c:v>
                  </c:pt>
                  <c:pt idx="90">
                    <c:v>2008</c:v>
                  </c:pt>
                  <c:pt idx="91">
                    <c:v>2008</c:v>
                  </c:pt>
                  <c:pt idx="92">
                    <c:v>2008</c:v>
                  </c:pt>
                  <c:pt idx="93">
                    <c:v>2008</c:v>
                  </c:pt>
                  <c:pt idx="94">
                    <c:v>2008</c:v>
                  </c:pt>
                  <c:pt idx="95">
                    <c:v>2008</c:v>
                  </c:pt>
                  <c:pt idx="96">
                    <c:v>2009</c:v>
                  </c:pt>
                  <c:pt idx="97">
                    <c:v>2009</c:v>
                  </c:pt>
                  <c:pt idx="98">
                    <c:v>2009</c:v>
                  </c:pt>
                  <c:pt idx="99">
                    <c:v>2009</c:v>
                  </c:pt>
                  <c:pt idx="100">
                    <c:v>2009</c:v>
                  </c:pt>
                  <c:pt idx="101">
                    <c:v>2009</c:v>
                  </c:pt>
                  <c:pt idx="102">
                    <c:v>2009</c:v>
                  </c:pt>
                  <c:pt idx="103">
                    <c:v>2009</c:v>
                  </c:pt>
                  <c:pt idx="104">
                    <c:v>2009</c:v>
                  </c:pt>
                  <c:pt idx="105">
                    <c:v>2009</c:v>
                  </c:pt>
                  <c:pt idx="106">
                    <c:v>2009</c:v>
                  </c:pt>
                  <c:pt idx="107">
                    <c:v>2009</c:v>
                  </c:pt>
                  <c:pt idx="108">
                    <c:v>2010</c:v>
                  </c:pt>
                  <c:pt idx="109">
                    <c:v>2010</c:v>
                  </c:pt>
                  <c:pt idx="110">
                    <c:v>2010</c:v>
                  </c:pt>
                  <c:pt idx="111">
                    <c:v>2010</c:v>
                  </c:pt>
                  <c:pt idx="112">
                    <c:v>2010</c:v>
                  </c:pt>
                  <c:pt idx="113">
                    <c:v>2010</c:v>
                  </c:pt>
                  <c:pt idx="114">
                    <c:v>2010</c:v>
                  </c:pt>
                  <c:pt idx="115">
                    <c:v>2010</c:v>
                  </c:pt>
                  <c:pt idx="116">
                    <c:v>2010</c:v>
                  </c:pt>
                  <c:pt idx="117">
                    <c:v>2010</c:v>
                  </c:pt>
                  <c:pt idx="118">
                    <c:v>2010</c:v>
                  </c:pt>
                  <c:pt idx="119">
                    <c:v>2010</c:v>
                  </c:pt>
                  <c:pt idx="120">
                    <c:v>2011</c:v>
                  </c:pt>
                  <c:pt idx="121">
                    <c:v>2011</c:v>
                  </c:pt>
                  <c:pt idx="122">
                    <c:v>2011</c:v>
                  </c:pt>
                  <c:pt idx="123">
                    <c:v>2011</c:v>
                  </c:pt>
                  <c:pt idx="124">
                    <c:v>2011</c:v>
                  </c:pt>
                  <c:pt idx="125">
                    <c:v>2011</c:v>
                  </c:pt>
                  <c:pt idx="126">
                    <c:v>2011</c:v>
                  </c:pt>
                  <c:pt idx="127">
                    <c:v>2011</c:v>
                  </c:pt>
                  <c:pt idx="128">
                    <c:v>2011</c:v>
                  </c:pt>
                  <c:pt idx="129">
                    <c:v>2011</c:v>
                  </c:pt>
                  <c:pt idx="130">
                    <c:v>2011</c:v>
                  </c:pt>
                  <c:pt idx="131">
                    <c:v>2011</c:v>
                  </c:pt>
                  <c:pt idx="132">
                    <c:v>2012</c:v>
                  </c:pt>
                  <c:pt idx="133">
                    <c:v>2012</c:v>
                  </c:pt>
                  <c:pt idx="134">
                    <c:v>2012</c:v>
                  </c:pt>
                  <c:pt idx="135">
                    <c:v>2012</c:v>
                  </c:pt>
                  <c:pt idx="136">
                    <c:v>2012</c:v>
                  </c:pt>
                  <c:pt idx="137">
                    <c:v>2012</c:v>
                  </c:pt>
                  <c:pt idx="138">
                    <c:v>2012</c:v>
                  </c:pt>
                  <c:pt idx="139">
                    <c:v>2012</c:v>
                  </c:pt>
                  <c:pt idx="140">
                    <c:v>2012</c:v>
                  </c:pt>
                  <c:pt idx="141">
                    <c:v>2012</c:v>
                  </c:pt>
                  <c:pt idx="142">
                    <c:v>2012</c:v>
                  </c:pt>
                  <c:pt idx="143">
                    <c:v>2012</c:v>
                  </c:pt>
                  <c:pt idx="144">
                    <c:v>2013</c:v>
                  </c:pt>
                  <c:pt idx="145">
                    <c:v>2013</c:v>
                  </c:pt>
                  <c:pt idx="146">
                    <c:v>2013</c:v>
                  </c:pt>
                  <c:pt idx="147">
                    <c:v>2013</c:v>
                  </c:pt>
                  <c:pt idx="148">
                    <c:v>2013</c:v>
                  </c:pt>
                  <c:pt idx="149">
                    <c:v>2013</c:v>
                  </c:pt>
                  <c:pt idx="150">
                    <c:v>2013</c:v>
                  </c:pt>
                  <c:pt idx="151">
                    <c:v>2013</c:v>
                  </c:pt>
                  <c:pt idx="152">
                    <c:v>2013</c:v>
                  </c:pt>
                  <c:pt idx="153">
                    <c:v>2013</c:v>
                  </c:pt>
                  <c:pt idx="154">
                    <c:v>2013</c:v>
                  </c:pt>
                  <c:pt idx="155">
                    <c:v>2013</c:v>
                  </c:pt>
                  <c:pt idx="156">
                    <c:v>2014</c:v>
                  </c:pt>
                  <c:pt idx="157">
                    <c:v>2014</c:v>
                  </c:pt>
                  <c:pt idx="158">
                    <c:v>2014</c:v>
                  </c:pt>
                  <c:pt idx="159">
                    <c:v>2014</c:v>
                  </c:pt>
                  <c:pt idx="160">
                    <c:v>2014</c:v>
                  </c:pt>
                  <c:pt idx="161">
                    <c:v>2014</c:v>
                  </c:pt>
                  <c:pt idx="162">
                    <c:v>2014</c:v>
                  </c:pt>
                  <c:pt idx="163">
                    <c:v>2014</c:v>
                  </c:pt>
                  <c:pt idx="164">
                    <c:v>2014</c:v>
                  </c:pt>
                  <c:pt idx="165">
                    <c:v>2014</c:v>
                  </c:pt>
                  <c:pt idx="166">
                    <c:v>2014</c:v>
                  </c:pt>
                  <c:pt idx="167">
                    <c:v>2014</c:v>
                  </c:pt>
                  <c:pt idx="168">
                    <c:v>2015</c:v>
                  </c:pt>
                  <c:pt idx="169">
                    <c:v>2015</c:v>
                  </c:pt>
                  <c:pt idx="170">
                    <c:v>2015</c:v>
                  </c:pt>
                  <c:pt idx="171">
                    <c:v>2015</c:v>
                  </c:pt>
                  <c:pt idx="172">
                    <c:v>2015</c:v>
                  </c:pt>
                  <c:pt idx="173">
                    <c:v>2015</c:v>
                  </c:pt>
                  <c:pt idx="174">
                    <c:v>2015</c:v>
                  </c:pt>
                  <c:pt idx="175">
                    <c:v>2015</c:v>
                  </c:pt>
                  <c:pt idx="176">
                    <c:v>2015</c:v>
                  </c:pt>
                  <c:pt idx="177">
                    <c:v>2015</c:v>
                  </c:pt>
                  <c:pt idx="178">
                    <c:v>2015</c:v>
                  </c:pt>
                  <c:pt idx="179">
                    <c:v>2015</c:v>
                  </c:pt>
                  <c:pt idx="180">
                    <c:v>2016</c:v>
                  </c:pt>
                  <c:pt idx="181">
                    <c:v>2016</c:v>
                  </c:pt>
                  <c:pt idx="182">
                    <c:v>2016</c:v>
                  </c:pt>
                  <c:pt idx="183">
                    <c:v>2016</c:v>
                  </c:pt>
                  <c:pt idx="184">
                    <c:v>2016</c:v>
                  </c:pt>
                  <c:pt idx="185">
                    <c:v>2016</c:v>
                  </c:pt>
                  <c:pt idx="186">
                    <c:v>2016</c:v>
                  </c:pt>
                  <c:pt idx="187">
                    <c:v>2016</c:v>
                  </c:pt>
                  <c:pt idx="188">
                    <c:v>2016</c:v>
                  </c:pt>
                  <c:pt idx="189">
                    <c:v>2016</c:v>
                  </c:pt>
                  <c:pt idx="190">
                    <c:v>2016</c:v>
                  </c:pt>
                  <c:pt idx="191">
                    <c:v>2016</c:v>
                  </c:pt>
                  <c:pt idx="192">
                    <c:v>2017</c:v>
                  </c:pt>
                  <c:pt idx="193">
                    <c:v>2017</c:v>
                  </c:pt>
                  <c:pt idx="194">
                    <c:v>2017</c:v>
                  </c:pt>
                  <c:pt idx="195">
                    <c:v>2017</c:v>
                  </c:pt>
                  <c:pt idx="196">
                    <c:v>2017</c:v>
                  </c:pt>
                  <c:pt idx="197">
                    <c:v>2017</c:v>
                  </c:pt>
                  <c:pt idx="198">
                    <c:v>2017</c:v>
                  </c:pt>
                  <c:pt idx="199">
                    <c:v>2017</c:v>
                  </c:pt>
                  <c:pt idx="200">
                    <c:v>2017</c:v>
                  </c:pt>
                  <c:pt idx="201">
                    <c:v>2017</c:v>
                  </c:pt>
                  <c:pt idx="202">
                    <c:v>2017</c:v>
                  </c:pt>
                  <c:pt idx="203">
                    <c:v>2017</c:v>
                  </c:pt>
                  <c:pt idx="204">
                    <c:v>2018</c:v>
                  </c:pt>
                  <c:pt idx="205">
                    <c:v>2018</c:v>
                  </c:pt>
                  <c:pt idx="206">
                    <c:v>2018</c:v>
                  </c:pt>
                  <c:pt idx="207">
                    <c:v>2018</c:v>
                  </c:pt>
                  <c:pt idx="208">
                    <c:v>2018</c:v>
                  </c:pt>
                  <c:pt idx="209">
                    <c:v>2018</c:v>
                  </c:pt>
                  <c:pt idx="210">
                    <c:v>2018</c:v>
                  </c:pt>
                  <c:pt idx="211">
                    <c:v>2018</c:v>
                  </c:pt>
                  <c:pt idx="212">
                    <c:v>2018</c:v>
                  </c:pt>
                  <c:pt idx="213">
                    <c:v>2018</c:v>
                  </c:pt>
                  <c:pt idx="214">
                    <c:v>2018</c:v>
                  </c:pt>
                  <c:pt idx="215">
                    <c:v>2018</c:v>
                  </c:pt>
                  <c:pt idx="216">
                    <c:v>2019</c:v>
                  </c:pt>
                  <c:pt idx="217">
                    <c:v>2019</c:v>
                  </c:pt>
                  <c:pt idx="218">
                    <c:v>2019</c:v>
                  </c:pt>
                  <c:pt idx="219">
                    <c:v>2019</c:v>
                  </c:pt>
                  <c:pt idx="220">
                    <c:v>2019</c:v>
                  </c:pt>
                  <c:pt idx="221">
                    <c:v>2019</c:v>
                  </c:pt>
                  <c:pt idx="222">
                    <c:v>2019</c:v>
                  </c:pt>
                  <c:pt idx="223">
                    <c:v>2019</c:v>
                  </c:pt>
                  <c:pt idx="224">
                    <c:v>2019</c:v>
                  </c:pt>
                  <c:pt idx="225">
                    <c:v>2019</c:v>
                  </c:pt>
                  <c:pt idx="226">
                    <c:v>2019</c:v>
                  </c:pt>
                  <c:pt idx="227">
                    <c:v>2019</c:v>
                  </c:pt>
                  <c:pt idx="228">
                    <c:v>2020</c:v>
                  </c:pt>
                  <c:pt idx="229">
                    <c:v>2020</c:v>
                  </c:pt>
                  <c:pt idx="230">
                    <c:v>2020</c:v>
                  </c:pt>
                  <c:pt idx="231">
                    <c:v>2020</c:v>
                  </c:pt>
                  <c:pt idx="232">
                    <c:v>2020</c:v>
                  </c:pt>
                  <c:pt idx="233">
                    <c:v>2020</c:v>
                  </c:pt>
                  <c:pt idx="234">
                    <c:v>2020</c:v>
                  </c:pt>
                  <c:pt idx="235">
                    <c:v>2020</c:v>
                  </c:pt>
                  <c:pt idx="236">
                    <c:v>2020</c:v>
                  </c:pt>
                  <c:pt idx="237">
                    <c:v>2020</c:v>
                  </c:pt>
                  <c:pt idx="238">
                    <c:v>2020</c:v>
                  </c:pt>
                  <c:pt idx="239">
                    <c:v>2020</c:v>
                  </c:pt>
                  <c:pt idx="240">
                    <c:v>2021</c:v>
                  </c:pt>
                  <c:pt idx="241">
                    <c:v>2021</c:v>
                  </c:pt>
                  <c:pt idx="242">
                    <c:v>2021</c:v>
                  </c:pt>
                  <c:pt idx="243">
                    <c:v>2021</c:v>
                  </c:pt>
                  <c:pt idx="244">
                    <c:v>2021</c:v>
                  </c:pt>
                  <c:pt idx="245">
                    <c:v>2021</c:v>
                  </c:pt>
                  <c:pt idx="246">
                    <c:v>2021</c:v>
                  </c:pt>
                  <c:pt idx="247">
                    <c:v>2021</c:v>
                  </c:pt>
                  <c:pt idx="248">
                    <c:v>2021</c:v>
                  </c:pt>
                  <c:pt idx="249">
                    <c:v>2021</c:v>
                  </c:pt>
                  <c:pt idx="250">
                    <c:v>2021</c:v>
                  </c:pt>
                  <c:pt idx="251">
                    <c:v>2021</c:v>
                  </c:pt>
                  <c:pt idx="252">
                    <c:v>2022</c:v>
                  </c:pt>
                  <c:pt idx="253">
                    <c:v>2022</c:v>
                  </c:pt>
                  <c:pt idx="254">
                    <c:v>2022</c:v>
                  </c:pt>
                  <c:pt idx="255">
                    <c:v>2022</c:v>
                  </c:pt>
                  <c:pt idx="256">
                    <c:v>2022</c:v>
                  </c:pt>
                  <c:pt idx="257">
                    <c:v>2022</c:v>
                  </c:pt>
                  <c:pt idx="258">
                    <c:v>2022</c:v>
                  </c:pt>
                  <c:pt idx="259">
                    <c:v>2022</c:v>
                  </c:pt>
                  <c:pt idx="260">
                    <c:v>2022</c:v>
                  </c:pt>
                  <c:pt idx="261">
                    <c:v>2022</c:v>
                  </c:pt>
                  <c:pt idx="262">
                    <c:v>2022</c:v>
                  </c:pt>
                  <c:pt idx="263">
                    <c:v>2022</c:v>
                  </c:pt>
                  <c:pt idx="264">
                    <c:v>2023</c:v>
                  </c:pt>
                  <c:pt idx="265">
                    <c:v>2023</c:v>
                  </c:pt>
                  <c:pt idx="266">
                    <c:v>2023</c:v>
                  </c:pt>
                  <c:pt idx="267">
                    <c:v>2023</c:v>
                  </c:pt>
                  <c:pt idx="268">
                    <c:v>2023</c:v>
                  </c:pt>
                  <c:pt idx="269">
                    <c:v>2023</c:v>
                  </c:pt>
                  <c:pt idx="270">
                    <c:v>2023</c:v>
                  </c:pt>
                  <c:pt idx="271">
                    <c:v>2023</c:v>
                  </c:pt>
                  <c:pt idx="272">
                    <c:v>2023</c:v>
                  </c:pt>
                  <c:pt idx="273">
                    <c:v>2023</c:v>
                  </c:pt>
                  <c:pt idx="274">
                    <c:v>2023</c:v>
                  </c:pt>
                  <c:pt idx="275">
                    <c:v>2023</c:v>
                  </c:pt>
                  <c:pt idx="276">
                    <c:v>2024</c:v>
                  </c:pt>
                  <c:pt idx="277">
                    <c:v>2024</c:v>
                  </c:pt>
                  <c:pt idx="278">
                    <c:v>2024</c:v>
                  </c:pt>
                  <c:pt idx="279">
                    <c:v>2024</c:v>
                  </c:pt>
                  <c:pt idx="280">
                    <c:v>2024</c:v>
                  </c:pt>
                  <c:pt idx="281">
                    <c:v>2024</c:v>
                  </c:pt>
                  <c:pt idx="282">
                    <c:v>2024</c:v>
                  </c:pt>
                  <c:pt idx="283">
                    <c:v>2024</c:v>
                  </c:pt>
                  <c:pt idx="284">
                    <c:v>2024</c:v>
                  </c:pt>
                  <c:pt idx="285">
                    <c:v>2024</c:v>
                  </c:pt>
                  <c:pt idx="286">
                    <c:v>2024</c:v>
                  </c:pt>
                  <c:pt idx="287">
                    <c:v>2024</c:v>
                  </c:pt>
                  <c:pt idx="288">
                    <c:v>2025</c:v>
                  </c:pt>
                  <c:pt idx="289">
                    <c:v>2025</c:v>
                  </c:pt>
                  <c:pt idx="290">
                    <c:v>2025</c:v>
                  </c:pt>
                  <c:pt idx="291">
                    <c:v>2025</c:v>
                  </c:pt>
                  <c:pt idx="292">
                    <c:v>2025</c:v>
                  </c:pt>
                  <c:pt idx="293">
                    <c:v>2025</c:v>
                  </c:pt>
                  <c:pt idx="294">
                    <c:v>2025</c:v>
                  </c:pt>
                  <c:pt idx="295">
                    <c:v>2025</c:v>
                  </c:pt>
                  <c:pt idx="296">
                    <c:v>2025</c:v>
                  </c:pt>
                  <c:pt idx="297">
                    <c:v>2025</c:v>
                  </c:pt>
                  <c:pt idx="298">
                    <c:v>2025</c:v>
                  </c:pt>
                  <c:pt idx="299">
                    <c:v>2025</c:v>
                  </c:pt>
                  <c:pt idx="300">
                    <c:v>2026</c:v>
                  </c:pt>
                  <c:pt idx="301">
                    <c:v>2026</c:v>
                  </c:pt>
                  <c:pt idx="302">
                    <c:v>2026</c:v>
                  </c:pt>
                  <c:pt idx="303">
                    <c:v>2026</c:v>
                  </c:pt>
                  <c:pt idx="304">
                    <c:v>2026</c:v>
                  </c:pt>
                  <c:pt idx="305">
                    <c:v>2026</c:v>
                  </c:pt>
                  <c:pt idx="306">
                    <c:v>2026</c:v>
                  </c:pt>
                  <c:pt idx="307">
                    <c:v>2026</c:v>
                  </c:pt>
                  <c:pt idx="308">
                    <c:v>2026</c:v>
                  </c:pt>
                  <c:pt idx="309">
                    <c:v>2026</c:v>
                  </c:pt>
                </c:lvl>
              </c:multiLvlStrCache>
            </c:multiLvlStrRef>
          </c:cat>
          <c:val>
            <c:numRef>
              <c:f>Sheet1!$B$2:$B$311</c:f>
              <c:numCache>
                <c:formatCode>General</c:formatCode>
                <c:ptCount val="310"/>
                <c:pt idx="0">
                  <c:v>8</c:v>
                </c:pt>
                <c:pt idx="1">
                  <c:v>7.5</c:v>
                </c:pt>
                <c:pt idx="2">
                  <c:v>7</c:v>
                </c:pt>
                <c:pt idx="3">
                  <c:v>8.75</c:v>
                </c:pt>
                <c:pt idx="4">
                  <c:v>8.75</c:v>
                </c:pt>
                <c:pt idx="5">
                  <c:v>8.5</c:v>
                </c:pt>
                <c:pt idx="6">
                  <c:v>8.5</c:v>
                </c:pt>
                <c:pt idx="7">
                  <c:v>8.5</c:v>
                </c:pt>
                <c:pt idx="8">
                  <c:v>8.5</c:v>
                </c:pt>
                <c:pt idx="9">
                  <c:v>8.5</c:v>
                </c:pt>
                <c:pt idx="10">
                  <c:v>8.5</c:v>
                </c:pt>
                <c:pt idx="11">
                  <c:v>8.5</c:v>
                </c:pt>
                <c:pt idx="12">
                  <c:v>8.5</c:v>
                </c:pt>
                <c:pt idx="13">
                  <c:v>8.5</c:v>
                </c:pt>
                <c:pt idx="14">
                  <c:v>8</c:v>
                </c:pt>
                <c:pt idx="15">
                  <c:v>8</c:v>
                </c:pt>
                <c:pt idx="16">
                  <c:v>8</c:v>
                </c:pt>
                <c:pt idx="17">
                  <c:v>8</c:v>
                </c:pt>
                <c:pt idx="18">
                  <c:v>8</c:v>
                </c:pt>
                <c:pt idx="19">
                  <c:v>8</c:v>
                </c:pt>
                <c:pt idx="20">
                  <c:v>8</c:v>
                </c:pt>
                <c:pt idx="21">
                  <c:v>8</c:v>
                </c:pt>
                <c:pt idx="22">
                  <c:v>7.5</c:v>
                </c:pt>
                <c:pt idx="23">
                  <c:v>7.5</c:v>
                </c:pt>
                <c:pt idx="24">
                  <c:v>7.5</c:v>
                </c:pt>
                <c:pt idx="25">
                  <c:v>7.5</c:v>
                </c:pt>
                <c:pt idx="26">
                  <c:v>7</c:v>
                </c:pt>
                <c:pt idx="27">
                  <c:v>7</c:v>
                </c:pt>
                <c:pt idx="28">
                  <c:v>7</c:v>
                </c:pt>
                <c:pt idx="29">
                  <c:v>7</c:v>
                </c:pt>
                <c:pt idx="30">
                  <c:v>7</c:v>
                </c:pt>
                <c:pt idx="31">
                  <c:v>7</c:v>
                </c:pt>
                <c:pt idx="32">
                  <c:v>7</c:v>
                </c:pt>
                <c:pt idx="33">
                  <c:v>7</c:v>
                </c:pt>
                <c:pt idx="34">
                  <c:v>7</c:v>
                </c:pt>
                <c:pt idx="35">
                  <c:v>7</c:v>
                </c:pt>
                <c:pt idx="36">
                  <c:v>7</c:v>
                </c:pt>
                <c:pt idx="37">
                  <c:v>7</c:v>
                </c:pt>
                <c:pt idx="38">
                  <c:v>6</c:v>
                </c:pt>
                <c:pt idx="39">
                  <c:v>6</c:v>
                </c:pt>
                <c:pt idx="40">
                  <c:v>6</c:v>
                </c:pt>
                <c:pt idx="41">
                  <c:v>6</c:v>
                </c:pt>
                <c:pt idx="42">
                  <c:v>6</c:v>
                </c:pt>
                <c:pt idx="43">
                  <c:v>6</c:v>
                </c:pt>
                <c:pt idx="44">
                  <c:v>6</c:v>
                </c:pt>
                <c:pt idx="45">
                  <c:v>6</c:v>
                </c:pt>
                <c:pt idx="46">
                  <c:v>6</c:v>
                </c:pt>
                <c:pt idx="47">
                  <c:v>6</c:v>
                </c:pt>
                <c:pt idx="48">
                  <c:v>6</c:v>
                </c:pt>
                <c:pt idx="49">
                  <c:v>6</c:v>
                </c:pt>
                <c:pt idx="50">
                  <c:v>6</c:v>
                </c:pt>
                <c:pt idx="51">
                  <c:v>6</c:v>
                </c:pt>
                <c:pt idx="52">
                  <c:v>6</c:v>
                </c:pt>
                <c:pt idx="53">
                  <c:v>6</c:v>
                </c:pt>
                <c:pt idx="54">
                  <c:v>6</c:v>
                </c:pt>
                <c:pt idx="55">
                  <c:v>6</c:v>
                </c:pt>
                <c:pt idx="56">
                  <c:v>6</c:v>
                </c:pt>
                <c:pt idx="57">
                  <c:v>6.25</c:v>
                </c:pt>
                <c:pt idx="58">
                  <c:v>6.25</c:v>
                </c:pt>
                <c:pt idx="59">
                  <c:v>6.25</c:v>
                </c:pt>
                <c:pt idx="60">
                  <c:v>6.5</c:v>
                </c:pt>
                <c:pt idx="61">
                  <c:v>6.5</c:v>
                </c:pt>
                <c:pt idx="62">
                  <c:v>6.5</c:v>
                </c:pt>
                <c:pt idx="63">
                  <c:v>6.5</c:v>
                </c:pt>
                <c:pt idx="64">
                  <c:v>6.5</c:v>
                </c:pt>
                <c:pt idx="65">
                  <c:v>6.75</c:v>
                </c:pt>
                <c:pt idx="66">
                  <c:v>7</c:v>
                </c:pt>
                <c:pt idx="67">
                  <c:v>7</c:v>
                </c:pt>
                <c:pt idx="68">
                  <c:v>7</c:v>
                </c:pt>
                <c:pt idx="69">
                  <c:v>7.25</c:v>
                </c:pt>
                <c:pt idx="70">
                  <c:v>7.25</c:v>
                </c:pt>
                <c:pt idx="71">
                  <c:v>7.25</c:v>
                </c:pt>
                <c:pt idx="72">
                  <c:v>7.5</c:v>
                </c:pt>
                <c:pt idx="73">
                  <c:v>7.5</c:v>
                </c:pt>
                <c:pt idx="74">
                  <c:v>7.75</c:v>
                </c:pt>
                <c:pt idx="75">
                  <c:v>7.75</c:v>
                </c:pt>
                <c:pt idx="76">
                  <c:v>7.75</c:v>
                </c:pt>
                <c:pt idx="77">
                  <c:v>7.75</c:v>
                </c:pt>
                <c:pt idx="78">
                  <c:v>7.75</c:v>
                </c:pt>
                <c:pt idx="79">
                  <c:v>7.75</c:v>
                </c:pt>
                <c:pt idx="80">
                  <c:v>7.75</c:v>
                </c:pt>
                <c:pt idx="81">
                  <c:v>7.75</c:v>
                </c:pt>
                <c:pt idx="82">
                  <c:v>7.75</c:v>
                </c:pt>
                <c:pt idx="83">
                  <c:v>7.75</c:v>
                </c:pt>
                <c:pt idx="84">
                  <c:v>7.75</c:v>
                </c:pt>
                <c:pt idx="85">
                  <c:v>7.75</c:v>
                </c:pt>
                <c:pt idx="86">
                  <c:v>7.75</c:v>
                </c:pt>
                <c:pt idx="87">
                  <c:v>7.75</c:v>
                </c:pt>
                <c:pt idx="88">
                  <c:v>7.75</c:v>
                </c:pt>
                <c:pt idx="89">
                  <c:v>8.5</c:v>
                </c:pt>
                <c:pt idx="90">
                  <c:v>9</c:v>
                </c:pt>
                <c:pt idx="91">
                  <c:v>9</c:v>
                </c:pt>
                <c:pt idx="92">
                  <c:v>9</c:v>
                </c:pt>
                <c:pt idx="93">
                  <c:v>8</c:v>
                </c:pt>
                <c:pt idx="94">
                  <c:v>7.5</c:v>
                </c:pt>
                <c:pt idx="95">
                  <c:v>6.5</c:v>
                </c:pt>
                <c:pt idx="96">
                  <c:v>5.5</c:v>
                </c:pt>
                <c:pt idx="97">
                  <c:v>5.5</c:v>
                </c:pt>
                <c:pt idx="98">
                  <c:v>5</c:v>
                </c:pt>
                <c:pt idx="99">
                  <c:v>4.75</c:v>
                </c:pt>
                <c:pt idx="100">
                  <c:v>4.75</c:v>
                </c:pt>
                <c:pt idx="101">
                  <c:v>4.75</c:v>
                </c:pt>
                <c:pt idx="102">
                  <c:v>4.75</c:v>
                </c:pt>
                <c:pt idx="103">
                  <c:v>4.75</c:v>
                </c:pt>
                <c:pt idx="104">
                  <c:v>4.75</c:v>
                </c:pt>
                <c:pt idx="105">
                  <c:v>4.75</c:v>
                </c:pt>
                <c:pt idx="106">
                  <c:v>4.75</c:v>
                </c:pt>
                <c:pt idx="107">
                  <c:v>4.75</c:v>
                </c:pt>
                <c:pt idx="108">
                  <c:v>4.75</c:v>
                </c:pt>
                <c:pt idx="109">
                  <c:v>4.75</c:v>
                </c:pt>
                <c:pt idx="110">
                  <c:v>5</c:v>
                </c:pt>
                <c:pt idx="111">
                  <c:v>5.25</c:v>
                </c:pt>
                <c:pt idx="112">
                  <c:v>5.25</c:v>
                </c:pt>
                <c:pt idx="113">
                  <c:v>5.25</c:v>
                </c:pt>
                <c:pt idx="114">
                  <c:v>5.75</c:v>
                </c:pt>
                <c:pt idx="115">
                  <c:v>5.75</c:v>
                </c:pt>
                <c:pt idx="116">
                  <c:v>6</c:v>
                </c:pt>
                <c:pt idx="117">
                  <c:v>6</c:v>
                </c:pt>
                <c:pt idx="118">
                  <c:v>6.25</c:v>
                </c:pt>
                <c:pt idx="119">
                  <c:v>6.25</c:v>
                </c:pt>
                <c:pt idx="120">
                  <c:v>6.5</c:v>
                </c:pt>
                <c:pt idx="121">
                  <c:v>6.5</c:v>
                </c:pt>
                <c:pt idx="122">
                  <c:v>6.75</c:v>
                </c:pt>
                <c:pt idx="123">
                  <c:v>6.75</c:v>
                </c:pt>
                <c:pt idx="124">
                  <c:v>7.25</c:v>
                </c:pt>
                <c:pt idx="125">
                  <c:v>7.5</c:v>
                </c:pt>
                <c:pt idx="126">
                  <c:v>8</c:v>
                </c:pt>
                <c:pt idx="127">
                  <c:v>8</c:v>
                </c:pt>
                <c:pt idx="128">
                  <c:v>8.25</c:v>
                </c:pt>
                <c:pt idx="129">
                  <c:v>8.5</c:v>
                </c:pt>
                <c:pt idx="130">
                  <c:v>8.5</c:v>
                </c:pt>
                <c:pt idx="131">
                  <c:v>8.5</c:v>
                </c:pt>
                <c:pt idx="132">
                  <c:v>8.5</c:v>
                </c:pt>
                <c:pt idx="133">
                  <c:v>8.5</c:v>
                </c:pt>
                <c:pt idx="134">
                  <c:v>8.5</c:v>
                </c:pt>
                <c:pt idx="135">
                  <c:v>8</c:v>
                </c:pt>
                <c:pt idx="136">
                  <c:v>8</c:v>
                </c:pt>
                <c:pt idx="137">
                  <c:v>8</c:v>
                </c:pt>
                <c:pt idx="138">
                  <c:v>8</c:v>
                </c:pt>
                <c:pt idx="139">
                  <c:v>8</c:v>
                </c:pt>
                <c:pt idx="140">
                  <c:v>8</c:v>
                </c:pt>
                <c:pt idx="141">
                  <c:v>8</c:v>
                </c:pt>
                <c:pt idx="142">
                  <c:v>8</c:v>
                </c:pt>
                <c:pt idx="143">
                  <c:v>8</c:v>
                </c:pt>
                <c:pt idx="144">
                  <c:v>7.75</c:v>
                </c:pt>
                <c:pt idx="145">
                  <c:v>7.75</c:v>
                </c:pt>
                <c:pt idx="146">
                  <c:v>7.5</c:v>
                </c:pt>
                <c:pt idx="147">
                  <c:v>7.5</c:v>
                </c:pt>
                <c:pt idx="148">
                  <c:v>7.25</c:v>
                </c:pt>
                <c:pt idx="149">
                  <c:v>7.25</c:v>
                </c:pt>
                <c:pt idx="150">
                  <c:v>7.25</c:v>
                </c:pt>
                <c:pt idx="151">
                  <c:v>7.25</c:v>
                </c:pt>
                <c:pt idx="152">
                  <c:v>7.5</c:v>
                </c:pt>
                <c:pt idx="153">
                  <c:v>7.75</c:v>
                </c:pt>
                <c:pt idx="154">
                  <c:v>7.75</c:v>
                </c:pt>
                <c:pt idx="155">
                  <c:v>7.75</c:v>
                </c:pt>
                <c:pt idx="156">
                  <c:v>8</c:v>
                </c:pt>
                <c:pt idx="157">
                  <c:v>8</c:v>
                </c:pt>
                <c:pt idx="158">
                  <c:v>8</c:v>
                </c:pt>
                <c:pt idx="159">
                  <c:v>8</c:v>
                </c:pt>
                <c:pt idx="160">
                  <c:v>8</c:v>
                </c:pt>
                <c:pt idx="161">
                  <c:v>8</c:v>
                </c:pt>
                <c:pt idx="162">
                  <c:v>8</c:v>
                </c:pt>
                <c:pt idx="163">
                  <c:v>8</c:v>
                </c:pt>
                <c:pt idx="164">
                  <c:v>8</c:v>
                </c:pt>
                <c:pt idx="165">
                  <c:v>8</c:v>
                </c:pt>
                <c:pt idx="166">
                  <c:v>8</c:v>
                </c:pt>
                <c:pt idx="167">
                  <c:v>8</c:v>
                </c:pt>
                <c:pt idx="168">
                  <c:v>7.75</c:v>
                </c:pt>
                <c:pt idx="169">
                  <c:v>7.75</c:v>
                </c:pt>
                <c:pt idx="170">
                  <c:v>7.5</c:v>
                </c:pt>
                <c:pt idx="171">
                  <c:v>7.5</c:v>
                </c:pt>
                <c:pt idx="172">
                  <c:v>7.5</c:v>
                </c:pt>
                <c:pt idx="173">
                  <c:v>7.25</c:v>
                </c:pt>
                <c:pt idx="174">
                  <c:v>7.25</c:v>
                </c:pt>
                <c:pt idx="175">
                  <c:v>7.25</c:v>
                </c:pt>
                <c:pt idx="176">
                  <c:v>6.75</c:v>
                </c:pt>
                <c:pt idx="177">
                  <c:v>6.75</c:v>
                </c:pt>
                <c:pt idx="178">
                  <c:v>6.75</c:v>
                </c:pt>
                <c:pt idx="179">
                  <c:v>6.75</c:v>
                </c:pt>
                <c:pt idx="180">
                  <c:v>6.75</c:v>
                </c:pt>
                <c:pt idx="181">
                  <c:v>6.75</c:v>
                </c:pt>
                <c:pt idx="182">
                  <c:v>6.75</c:v>
                </c:pt>
                <c:pt idx="183">
                  <c:v>6.5</c:v>
                </c:pt>
                <c:pt idx="184">
                  <c:v>6.5</c:v>
                </c:pt>
                <c:pt idx="185">
                  <c:v>6.5</c:v>
                </c:pt>
                <c:pt idx="186">
                  <c:v>6.5</c:v>
                </c:pt>
                <c:pt idx="187">
                  <c:v>6.5</c:v>
                </c:pt>
                <c:pt idx="188">
                  <c:v>6.5</c:v>
                </c:pt>
                <c:pt idx="189">
                  <c:v>6.25</c:v>
                </c:pt>
                <c:pt idx="190">
                  <c:v>6.25</c:v>
                </c:pt>
                <c:pt idx="191">
                  <c:v>6.25</c:v>
                </c:pt>
                <c:pt idx="192">
                  <c:v>6.25</c:v>
                </c:pt>
                <c:pt idx="193">
                  <c:v>6.25</c:v>
                </c:pt>
                <c:pt idx="194">
                  <c:v>6.25</c:v>
                </c:pt>
                <c:pt idx="195">
                  <c:v>6.25</c:v>
                </c:pt>
                <c:pt idx="196">
                  <c:v>6.25</c:v>
                </c:pt>
                <c:pt idx="197">
                  <c:v>6.25</c:v>
                </c:pt>
                <c:pt idx="198">
                  <c:v>6.25</c:v>
                </c:pt>
                <c:pt idx="199">
                  <c:v>6</c:v>
                </c:pt>
                <c:pt idx="200">
                  <c:v>6</c:v>
                </c:pt>
                <c:pt idx="201">
                  <c:v>6</c:v>
                </c:pt>
                <c:pt idx="202">
                  <c:v>6</c:v>
                </c:pt>
                <c:pt idx="203">
                  <c:v>6</c:v>
                </c:pt>
                <c:pt idx="204">
                  <c:v>6</c:v>
                </c:pt>
                <c:pt idx="205">
                  <c:v>6</c:v>
                </c:pt>
                <c:pt idx="206">
                  <c:v>6</c:v>
                </c:pt>
                <c:pt idx="207">
                  <c:v>6</c:v>
                </c:pt>
                <c:pt idx="208">
                  <c:v>6</c:v>
                </c:pt>
                <c:pt idx="209">
                  <c:v>6.25</c:v>
                </c:pt>
                <c:pt idx="210">
                  <c:v>6.25</c:v>
                </c:pt>
                <c:pt idx="211">
                  <c:v>6.5</c:v>
                </c:pt>
                <c:pt idx="212">
                  <c:v>6.5</c:v>
                </c:pt>
                <c:pt idx="213">
                  <c:v>6.5</c:v>
                </c:pt>
                <c:pt idx="214">
                  <c:v>6.5</c:v>
                </c:pt>
                <c:pt idx="215">
                  <c:v>6.5</c:v>
                </c:pt>
                <c:pt idx="216">
                  <c:v>6.5</c:v>
                </c:pt>
                <c:pt idx="217">
                  <c:v>6.25</c:v>
                </c:pt>
                <c:pt idx="218">
                  <c:v>6.25</c:v>
                </c:pt>
                <c:pt idx="219">
                  <c:v>6</c:v>
                </c:pt>
                <c:pt idx="220">
                  <c:v>6</c:v>
                </c:pt>
                <c:pt idx="221">
                  <c:v>5.75</c:v>
                </c:pt>
                <c:pt idx="222">
                  <c:v>5.75</c:v>
                </c:pt>
                <c:pt idx="223">
                  <c:v>5.4</c:v>
                </c:pt>
                <c:pt idx="224">
                  <c:v>5.4</c:v>
                </c:pt>
                <c:pt idx="225">
                  <c:v>5.15</c:v>
                </c:pt>
                <c:pt idx="226">
                  <c:v>5.15</c:v>
                </c:pt>
                <c:pt idx="227">
                  <c:v>5.15</c:v>
                </c:pt>
                <c:pt idx="228">
                  <c:v>5.15</c:v>
                </c:pt>
                <c:pt idx="229">
                  <c:v>5.15</c:v>
                </c:pt>
                <c:pt idx="230">
                  <c:v>4.4</c:v>
                </c:pt>
                <c:pt idx="231">
                  <c:v>4.4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4.4</c:v>
                </c:pt>
                <c:pt idx="257">
                  <c:v>4.9</c:v>
                </c:pt>
                <c:pt idx="258">
                  <c:v>4.9</c:v>
                </c:pt>
                <c:pt idx="259">
                  <c:v>5.4</c:v>
                </c:pt>
                <c:pt idx="260">
                  <c:v>5.9</c:v>
                </c:pt>
                <c:pt idx="261">
                  <c:v>5.9</c:v>
                </c:pt>
                <c:pt idx="262">
                  <c:v>5.9</c:v>
                </c:pt>
                <c:pt idx="263">
                  <c:v>6.25</c:v>
                </c:pt>
                <c:pt idx="264">
                  <c:v>6.25</c:v>
                </c:pt>
                <c:pt idx="265">
                  <c:v>6.5</c:v>
                </c:pt>
                <c:pt idx="266">
                  <c:v>6.5</c:v>
                </c:pt>
                <c:pt idx="267">
                  <c:v>6.5</c:v>
                </c:pt>
                <c:pt idx="268">
                  <c:v>6.5</c:v>
                </c:pt>
                <c:pt idx="269">
                  <c:v>6.5</c:v>
                </c:pt>
                <c:pt idx="270">
                  <c:v>6.5</c:v>
                </c:pt>
                <c:pt idx="271">
                  <c:v>6.5</c:v>
                </c:pt>
                <c:pt idx="272">
                  <c:v>6.5</c:v>
                </c:pt>
                <c:pt idx="273">
                  <c:v>6.5</c:v>
                </c:pt>
                <c:pt idx="274">
                  <c:v>6.5</c:v>
                </c:pt>
                <c:pt idx="275">
                  <c:v>6.5</c:v>
                </c:pt>
                <c:pt idx="276">
                  <c:v>6.5</c:v>
                </c:pt>
                <c:pt idx="277">
                  <c:v>6.5</c:v>
                </c:pt>
                <c:pt idx="278">
                  <c:v>6.5</c:v>
                </c:pt>
                <c:pt idx="279">
                  <c:v>6.5</c:v>
                </c:pt>
                <c:pt idx="280">
                  <c:v>6.5</c:v>
                </c:pt>
                <c:pt idx="281">
                  <c:v>6.5</c:v>
                </c:pt>
                <c:pt idx="282">
                  <c:v>6.5</c:v>
                </c:pt>
                <c:pt idx="283">
                  <c:v>6.5</c:v>
                </c:pt>
                <c:pt idx="284">
                  <c:v>6.5</c:v>
                </c:pt>
                <c:pt idx="285">
                  <c:v>6.5</c:v>
                </c:pt>
                <c:pt idx="286">
                  <c:v>6.5</c:v>
                </c:pt>
                <c:pt idx="287">
                  <c:v>6.5</c:v>
                </c:pt>
                <c:pt idx="288">
                  <c:v>6.5</c:v>
                </c:pt>
                <c:pt idx="289">
                  <c:v>6.25</c:v>
                </c:pt>
                <c:pt idx="290">
                  <c:v>6.25</c:v>
                </c:pt>
                <c:pt idx="291">
                  <c:v>6</c:v>
                </c:pt>
                <c:pt idx="292">
                  <c:v>6</c:v>
                </c:pt>
                <c:pt idx="293">
                  <c:v>5.5</c:v>
                </c:pt>
                <c:pt idx="294">
                  <c:v>5.5</c:v>
                </c:pt>
                <c:pt idx="295">
                  <c:v>5.5</c:v>
                </c:pt>
                <c:pt idx="296">
                  <c:v>5.5</c:v>
                </c:pt>
                <c:pt idx="297">
                  <c:v>5.5</c:v>
                </c:pt>
                <c:pt idx="298">
                  <c:v>5.5</c:v>
                </c:pt>
                <c:pt idx="299">
                  <c:v>5.25</c:v>
                </c:pt>
                <c:pt idx="300">
                  <c:v>5.25</c:v>
                </c:pt>
                <c:pt idx="301">
                  <c:v>5.25</c:v>
                </c:pt>
                <c:pt idx="302">
                  <c:v>5.25</c:v>
                </c:pt>
                <c:pt idx="303">
                  <c:v>5.25</c:v>
                </c:pt>
                <c:pt idx="304">
                  <c:v>5.25</c:v>
                </c:pt>
                <c:pt idx="305">
                  <c:v>5.25</c:v>
                </c:pt>
                <c:pt idx="306">
                  <c:v>5.25</c:v>
                </c:pt>
                <c:pt idx="307">
                  <c:v>5.25</c:v>
                </c:pt>
                <c:pt idx="308">
                  <c:v>5.25</c:v>
                </c:pt>
                <c:pt idx="309">
                  <c:v>5.5</c:v>
                </c:pt>
              </c:numCache>
            </c:numRef>
          </c:val>
          <c:smooth val="0"/>
        </c:ser>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1B1F2A"/>
                </a:solidFill>
                <a:latin typeface="+mn-lt"/>
              </a:defRPr>
            </a:pPr>
            <a:endParaRPr lang="en-US"/>
          </a:p>
        </c:txPr>
        <c:crossAx val="2094734552"/>
        <c:crosses val="autoZero"/>
        <c:auto val="1"/>
        <c:lblAlgn val="ctr"/>
        <c:noMultiLvlLbl val="1"/>
        <c:tickLblSkip val="48"/>
      </c:catAx>
      <c:valAx>
        <c:axId val="2094734552"/>
        <c:scaling>
          <c:orientation val="minMax"/>
          <c:max val="10"/>
          <c:min val="3"/>
        </c:scaling>
        <c:delete val="0"/>
        <c:axPos val="l"/>
        <c:majorGridlines>
          <c:spPr>
            <a:ln w="6350" cap="flat">
              <a:solidFill>
                <a:srgbClr val="D9DCE1"/>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8F98"/>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Average change in the probability of a hike, points</a:t>
            </a:r>
          </a:p>
        </c:rich>
      </c:tx>
      <c:layout/>
      <c:overlay val="0"/>
    </c:title>
    <c:autoTitleDeleted val="0"/>
    <c:plotArea>
      <c:layout/>
      <c:barChart>
        <c:barDir val="bar"/>
        <c:grouping val="clustered"/>
        <c:varyColors val="0"/>
        <c:ser>
          <c:idx val="0"/>
          <c:order val="0"/>
          <c:tx>
            <c:strRef>
              <c:f>Sheet1!$B$1</c:f>
              <c:strCache>
                <c:ptCount val="1"/>
                <c:pt idx="0">
                  <c:v>Change in P(hike), points</c:v>
                </c:pt>
              </c:strCache>
            </c:strRef>
          </c:tx>
          <c:spPr>
            <a:solidFill>
              <a:srgbClr val="EB6834"/>
            </a:solidFill>
            <a:effectLst/>
          </c:spPr>
          <c:invertIfNegative val="0"/>
          <c:dLbls>
            <c:numFmt formatCode="0.0;&quot;minus &quot;0.0" sourceLinked="0"/>
            <c:txPr>
              <a:bodyPr/>
              <a:lstStyle/>
              <a:p>
                <a:pPr>
                  <a:defRPr b="0" i="0" strike="noStrike" sz="1100" u="none">
                    <a:solidFill>
                      <a:srgbClr val="1B1F2A"/>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EB6834"/>
              </a:solidFill>
              <a:effectLst/>
            </c:spPr>
          </c:dPt>
          <c:dPt>
            <c:idx val="2"/>
            <c:invertIfNegative val="0"/>
            <c:bubble3D val="0"/>
            <c:spPr>
              <a:solidFill>
                <a:srgbClr val="8A8F98"/>
              </a:solidFill>
              <a:effectLst/>
            </c:spPr>
          </c:dPt>
          <c:dPt>
            <c:idx val="3"/>
            <c:invertIfNegative val="0"/>
            <c:bubble3D val="0"/>
            <c:spPr>
              <a:solidFill>
                <a:srgbClr val="8A8F98"/>
              </a:solidFill>
              <a:effectLst/>
            </c:spPr>
          </c:dPt>
          <c:dPt>
            <c:idx val="4"/>
            <c:invertIfNegative val="0"/>
            <c:bubble3D val="0"/>
            <c:spPr>
              <a:solidFill>
                <a:srgbClr val="8A8F98"/>
              </a:solidFill>
              <a:effectLst/>
            </c:spPr>
          </c:dPt>
          <c:dPt>
            <c:idx val="5"/>
            <c:invertIfNegative val="0"/>
            <c:bubble3D val="0"/>
            <c:spPr>
              <a:solidFill>
                <a:srgbClr val="8A8F98"/>
              </a:solidFill>
              <a:effectLst/>
            </c:spPr>
          </c:dPt>
          <c:cat>
            <c:multiLvlStrRef>
              <c:f>Sheet1!$A$2:$A$7</c:f>
              <c:multiLvlStrCache>
                <c:ptCount val="6"/>
                <c:lvl>
                  <c:pt idx="0">
                    <c:v>Previous decision was a hike</c:v>
                  </c:pt>
                  <c:pt idx="1">
                    <c:v>RBI raised its inflation projection by 1 point</c:v>
                  </c:pt>
                  <c:pt idx="2">
                    <c:v>Realized inflation 1 point above anchor</c:v>
                  </c:pt>
                  <c:pt idx="3">
                    <c:v>Projected inflation 1 point above anchor</c:v>
                  </c:pt>
                  <c:pt idx="4">
                    <c:v>Growth gap 1 point higher</c:v>
                  </c:pt>
                  <c:pt idx="5">
                    <c:v>Rupee 1 percent weaker</c:v>
                  </c:pt>
                </c:lvl>
              </c:multiLvlStrCache>
            </c:multiLvlStrRef>
          </c:cat>
          <c:val>
            <c:numRef>
              <c:f>Sheet1!$B$2:$B$7</c:f>
              <c:numCache>
                <c:formatCode>General</c:formatCode>
                <c:ptCount val="6"/>
                <c:pt idx="0">
                  <c:v>24.5</c:v>
                </c:pt>
                <c:pt idx="1">
                  <c:v>27.6</c:v>
                </c:pt>
                <c:pt idx="2">
                  <c:v>2.5</c:v>
                </c:pt>
                <c:pt idx="3">
                  <c:v>-4.7</c:v>
                </c:pt>
                <c:pt idx="4">
                  <c:v>0.2</c:v>
                </c:pt>
                <c:pt idx="5">
                  <c:v>-0.3</c:v>
                </c:pt>
              </c:numCache>
            </c:numRef>
          </c:val>
        </c:ser>
        <c:dLbls>
          <c:numFmt formatCode="0.0;&quot;minus &quot;0.0" sourceLinked="0"/>
          <c:txPr>
            <a:bodyPr/>
            <a:lstStyle/>
            <a:p>
              <a:pPr>
                <a:defRPr b="0" i="0" strike="noStrike" sz="1100" u="none">
                  <a:solidFill>
                    <a:srgbClr val="1B1F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0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35"/>
          <c:min val="-15"/>
        </c:scaling>
        <c:delete val="1"/>
        <c:axPos val="b"/>
        <c:majorGridlines>
          <c:spPr>
            <a:ln w="6350" cap="flat">
              <a:solidFill>
                <a:srgbClr val="D9DCE1"/>
              </a:solidFill>
              <a:prstDash val="solid"/>
              <a:round/>
            </a:ln>
          </c:spPr>
        </c:majorGridlines>
        <c:numFmt formatCode="0;&quot;minus &quot;0" sourceLinked="0"/>
        <c:majorTickMark val="out"/>
        <c:minorTickMark val="none"/>
        <c:tickLblPos val="low"/>
        <c:spPr>
          <a:ln w="12700" cap="flat">
            <a:noFill/>
            <a:prstDash val="solid"/>
            <a:round/>
          </a:ln>
        </c:spPr>
        <c:txPr>
          <a:bodyPr/>
          <a:lstStyle/>
          <a:p>
            <a:pPr>
              <a:defRPr sz="1000" b="0" i="0" u="none" strike="noStrike">
                <a:solidFill>
                  <a:srgbClr val="8A8F9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RBI repo rate at each of 106 decisions, 2010 to October 2026, percent</a:t>
            </a:r>
          </a:p>
        </c:rich>
      </c:tx>
      <c:layout/>
      <c:overlay val="0"/>
    </c:title>
    <c:autoTitleDeleted val="0"/>
    <c:plotArea>
      <c:layout/>
      <c:lineChart>
        <c:varyColors val="0"/>
        <c:ser>
          <c:idx val="0"/>
          <c:order val="0"/>
          <c:tx>
            <c:strRef>
              <c:f>Sheet1!$B$1</c:f>
              <c:strCache>
                <c:ptCount val="1"/>
                <c:pt idx="0">
                  <c:v>Actual repo after the decision</c:v>
                </c:pt>
              </c:strCache>
            </c:strRef>
          </c:tx>
          <c:spPr>
            <a:solidFill>
              <a:srgbClr val="1B1F2A"/>
            </a:solidFill>
            <a:ln w="25400" cap="flat">
              <a:solidFill>
                <a:srgbClr val="1B1F2A"/>
              </a:solidFill>
              <a:prstDash val="solid"/>
              <a:round/>
            </a:ln>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c:symbol val="circle"/>
            <c:size val="4"/>
            <c:spPr>
              <a:solidFill>
                <a:srgbClr val="1B1F2A"/>
              </a:solidFill>
              <a:ln w="9525" cap="flat">
                <a:solidFill>
                  <a:srgbClr val="1B1F2A"/>
                </a:solidFill>
                <a:prstDash val="solid"/>
                <a:round/>
              </a:ln>
              <a:effectLst/>
            </c:spPr>
          </c:marker>
          <c:cat>
            <c:multiLvlStrRef>
              <c:f>Sheet1!$A$2:$A$107</c:f>
              <c:multiLvlStrCache>
                <c:ptCount val="106"/>
                <c:lvl>
                  <c:pt idx="0">
                    <c:v>2010</c:v>
                  </c:pt>
                  <c:pt idx="1">
                    <c:v>2010</c:v>
                  </c:pt>
                  <c:pt idx="2">
                    <c:v>2010</c:v>
                  </c:pt>
                  <c:pt idx="3">
                    <c:v>2011</c:v>
                  </c:pt>
                  <c:pt idx="4">
                    <c:v>2011</c:v>
                  </c:pt>
                  <c:pt idx="5">
                    <c:v>2011</c:v>
                  </c:pt>
                  <c:pt idx="6">
                    <c:v>2011</c:v>
                  </c:pt>
                  <c:pt idx="7">
                    <c:v>2011</c:v>
                  </c:pt>
                  <c:pt idx="8">
                    <c:v>2011</c:v>
                  </c:pt>
                  <c:pt idx="9">
                    <c:v>2011</c:v>
                  </c:pt>
                  <c:pt idx="10">
                    <c:v>2011</c:v>
                  </c:pt>
                  <c:pt idx="11">
                    <c:v>2012</c:v>
                  </c:pt>
                  <c:pt idx="12">
                    <c:v>2012</c:v>
                  </c:pt>
                  <c:pt idx="13">
                    <c:v>2012</c:v>
                  </c:pt>
                  <c:pt idx="14">
                    <c:v>2012</c:v>
                  </c:pt>
                  <c:pt idx="15">
                    <c:v>2012</c:v>
                  </c:pt>
                  <c:pt idx="16">
                    <c:v>2012</c:v>
                  </c:pt>
                  <c:pt idx="17">
                    <c:v>2012</c:v>
                  </c:pt>
                  <c:pt idx="18">
                    <c:v>2012</c:v>
                  </c:pt>
                  <c:pt idx="19">
                    <c:v>2013</c:v>
                  </c:pt>
                  <c:pt idx="20">
                    <c:v>2013</c:v>
                  </c:pt>
                  <c:pt idx="21">
                    <c:v>2013</c:v>
                  </c:pt>
                  <c:pt idx="22">
                    <c:v>2013</c:v>
                  </c:pt>
                  <c:pt idx="23">
                    <c:v>2013</c:v>
                  </c:pt>
                  <c:pt idx="24">
                    <c:v>2013</c:v>
                  </c:pt>
                  <c:pt idx="25">
                    <c:v>2013</c:v>
                  </c:pt>
                  <c:pt idx="26">
                    <c:v>2013</c:v>
                  </c:pt>
                  <c:pt idx="27">
                    <c:v>2014</c:v>
                  </c:pt>
                  <c:pt idx="28">
                    <c:v>2014</c:v>
                  </c:pt>
                  <c:pt idx="29">
                    <c:v>2014</c:v>
                  </c:pt>
                  <c:pt idx="30">
                    <c:v>2014</c:v>
                  </c:pt>
                  <c:pt idx="31">
                    <c:v>2014</c:v>
                  </c:pt>
                  <c:pt idx="32">
                    <c:v>2015</c:v>
                  </c:pt>
                  <c:pt idx="33">
                    <c:v>2015</c:v>
                  </c:pt>
                  <c:pt idx="34">
                    <c:v>2015</c:v>
                  </c:pt>
                  <c:pt idx="35">
                    <c:v>2015</c:v>
                  </c:pt>
                  <c:pt idx="36">
                    <c:v>2015</c:v>
                  </c:pt>
                  <c:pt idx="37">
                    <c:v>2015</c:v>
                  </c:pt>
                  <c:pt idx="38">
                    <c:v>2015</c:v>
                  </c:pt>
                  <c:pt idx="39">
                    <c:v>2015</c:v>
                  </c:pt>
                  <c:pt idx="40">
                    <c:v>2016</c:v>
                  </c:pt>
                  <c:pt idx="41">
                    <c:v>2016</c:v>
                  </c:pt>
                  <c:pt idx="42">
                    <c:v>2016</c:v>
                  </c:pt>
                  <c:pt idx="43">
                    <c:v>2016</c:v>
                  </c:pt>
                  <c:pt idx="44">
                    <c:v>2016</c:v>
                  </c:pt>
                  <c:pt idx="45">
                    <c:v>2016</c:v>
                  </c:pt>
                  <c:pt idx="46">
                    <c:v>2017</c:v>
                  </c:pt>
                  <c:pt idx="47">
                    <c:v>2017</c:v>
                  </c:pt>
                  <c:pt idx="48">
                    <c:v>2017</c:v>
                  </c:pt>
                  <c:pt idx="49">
                    <c:v>2017</c:v>
                  </c:pt>
                  <c:pt idx="50">
                    <c:v>2017</c:v>
                  </c:pt>
                  <c:pt idx="51">
                    <c:v>2017</c:v>
                  </c:pt>
                  <c:pt idx="52">
                    <c:v>2018</c:v>
                  </c:pt>
                  <c:pt idx="53">
                    <c:v>2018</c:v>
                  </c:pt>
                  <c:pt idx="54">
                    <c:v>2018</c:v>
                  </c:pt>
                  <c:pt idx="55">
                    <c:v>2018</c:v>
                  </c:pt>
                  <c:pt idx="56">
                    <c:v>2018</c:v>
                  </c:pt>
                  <c:pt idx="57">
                    <c:v>2018</c:v>
                  </c:pt>
                  <c:pt idx="58">
                    <c:v>2019</c:v>
                  </c:pt>
                  <c:pt idx="59">
                    <c:v>2019</c:v>
                  </c:pt>
                  <c:pt idx="60">
                    <c:v>2019</c:v>
                  </c:pt>
                  <c:pt idx="61">
                    <c:v>2019</c:v>
                  </c:pt>
                  <c:pt idx="62">
                    <c:v>2019</c:v>
                  </c:pt>
                  <c:pt idx="63">
                    <c:v>2019</c:v>
                  </c:pt>
                  <c:pt idx="64">
                    <c:v>2020</c:v>
                  </c:pt>
                  <c:pt idx="65">
                    <c:v>2020</c:v>
                  </c:pt>
                  <c:pt idx="66">
                    <c:v>2020</c:v>
                  </c:pt>
                  <c:pt idx="67">
                    <c:v>2020</c:v>
                  </c:pt>
                  <c:pt idx="68">
                    <c:v>2020</c:v>
                  </c:pt>
                  <c:pt idx="69">
                    <c:v>2020</c:v>
                  </c:pt>
                  <c:pt idx="70">
                    <c:v>2021</c:v>
                  </c:pt>
                  <c:pt idx="71">
                    <c:v>2021</c:v>
                  </c:pt>
                  <c:pt idx="72">
                    <c:v>2021</c:v>
                  </c:pt>
                  <c:pt idx="73">
                    <c:v>2021</c:v>
                  </c:pt>
                  <c:pt idx="74">
                    <c:v>2021</c:v>
                  </c:pt>
                  <c:pt idx="75">
                    <c:v>2021</c:v>
                  </c:pt>
                  <c:pt idx="76">
                    <c:v>2022</c:v>
                  </c:pt>
                  <c:pt idx="77">
                    <c:v>2022</c:v>
                  </c:pt>
                  <c:pt idx="78">
                    <c:v>2022</c:v>
                  </c:pt>
                  <c:pt idx="79">
                    <c:v>2022</c:v>
                  </c:pt>
                  <c:pt idx="80">
                    <c:v>2022</c:v>
                  </c:pt>
                  <c:pt idx="81">
                    <c:v>2022</c:v>
                  </c:pt>
                  <c:pt idx="82">
                    <c:v>2022</c:v>
                  </c:pt>
                  <c:pt idx="83">
                    <c:v>2023</c:v>
                  </c:pt>
                  <c:pt idx="84">
                    <c:v>2023</c:v>
                  </c:pt>
                  <c:pt idx="85">
                    <c:v>2023</c:v>
                  </c:pt>
                  <c:pt idx="86">
                    <c:v>2023</c:v>
                  </c:pt>
                  <c:pt idx="87">
                    <c:v>2023</c:v>
                  </c:pt>
                  <c:pt idx="88">
                    <c:v>2023</c:v>
                  </c:pt>
                  <c:pt idx="89">
                    <c:v>2024</c:v>
                  </c:pt>
                  <c:pt idx="90">
                    <c:v>2024</c:v>
                  </c:pt>
                  <c:pt idx="91">
                    <c:v>2024</c:v>
                  </c:pt>
                  <c:pt idx="92">
                    <c:v>2024</c:v>
                  </c:pt>
                  <c:pt idx="93">
                    <c:v>2024</c:v>
                  </c:pt>
                  <c:pt idx="94">
                    <c:v>2024</c:v>
                  </c:pt>
                  <c:pt idx="95">
                    <c:v>2025</c:v>
                  </c:pt>
                  <c:pt idx="96">
                    <c:v>2025</c:v>
                  </c:pt>
                  <c:pt idx="97">
                    <c:v>2025</c:v>
                  </c:pt>
                  <c:pt idx="98">
                    <c:v>2025</c:v>
                  </c:pt>
                  <c:pt idx="99">
                    <c:v>2025</c:v>
                  </c:pt>
                  <c:pt idx="100">
                    <c:v>2025</c:v>
                  </c:pt>
                  <c:pt idx="101">
                    <c:v>2026</c:v>
                  </c:pt>
                  <c:pt idx="102">
                    <c:v>2026</c:v>
                  </c:pt>
                  <c:pt idx="103">
                    <c:v>2026</c:v>
                  </c:pt>
                  <c:pt idx="104">
                    <c:v>2026</c:v>
                  </c:pt>
                  <c:pt idx="105">
                    <c:v>2026</c:v>
                  </c:pt>
                </c:lvl>
              </c:multiLvlStrCache>
            </c:multiLvlStrRef>
          </c:cat>
          <c:val>
            <c:numRef>
              <c:f>Sheet1!$B$2:$B$107</c:f>
              <c:numCache>
                <c:formatCode>General</c:formatCode>
                <c:ptCount val="106"/>
                <c:pt idx="0">
                  <c:v>6</c:v>
                </c:pt>
                <c:pt idx="1">
                  <c:v>6.25</c:v>
                </c:pt>
                <c:pt idx="2">
                  <c:v>6.25</c:v>
                </c:pt>
                <c:pt idx="3">
                  <c:v>6.5</c:v>
                </c:pt>
                <c:pt idx="4">
                  <c:v>6.75</c:v>
                </c:pt>
                <c:pt idx="5">
                  <c:v>7.25</c:v>
                </c:pt>
                <c:pt idx="6">
                  <c:v>7.5</c:v>
                </c:pt>
                <c:pt idx="7">
                  <c:v>8</c:v>
                </c:pt>
                <c:pt idx="8">
                  <c:v>8.25</c:v>
                </c:pt>
                <c:pt idx="9">
                  <c:v>8.5</c:v>
                </c:pt>
                <c:pt idx="10">
                  <c:v>8.5</c:v>
                </c:pt>
                <c:pt idx="11">
                  <c:v>8.5</c:v>
                </c:pt>
                <c:pt idx="12">
                  <c:v>8.5</c:v>
                </c:pt>
                <c:pt idx="13">
                  <c:v>8</c:v>
                </c:pt>
                <c:pt idx="14">
                  <c:v>8</c:v>
                </c:pt>
                <c:pt idx="15">
                  <c:v>8</c:v>
                </c:pt>
                <c:pt idx="16">
                  <c:v>8</c:v>
                </c:pt>
                <c:pt idx="17">
                  <c:v>8</c:v>
                </c:pt>
                <c:pt idx="18">
                  <c:v>8</c:v>
                </c:pt>
                <c:pt idx="19">
                  <c:v>7.75</c:v>
                </c:pt>
                <c:pt idx="20">
                  <c:v>7.5</c:v>
                </c:pt>
                <c:pt idx="21">
                  <c:v>7.25</c:v>
                </c:pt>
                <c:pt idx="22">
                  <c:v>7.25</c:v>
                </c:pt>
                <c:pt idx="23">
                  <c:v>7.25</c:v>
                </c:pt>
                <c:pt idx="24">
                  <c:v>7.5</c:v>
                </c:pt>
                <c:pt idx="25">
                  <c:v>7.75</c:v>
                </c:pt>
                <c:pt idx="26">
                  <c:v>7.75</c:v>
                </c:pt>
                <c:pt idx="27">
                  <c:v>8</c:v>
                </c:pt>
                <c:pt idx="28">
                  <c:v>8</c:v>
                </c:pt>
                <c:pt idx="29">
                  <c:v>8</c:v>
                </c:pt>
                <c:pt idx="30">
                  <c:v>8</c:v>
                </c:pt>
                <c:pt idx="31">
                  <c:v>8</c:v>
                </c:pt>
                <c:pt idx="32">
                  <c:v>7.75</c:v>
                </c:pt>
                <c:pt idx="33">
                  <c:v>7.75</c:v>
                </c:pt>
                <c:pt idx="34">
                  <c:v>7.5</c:v>
                </c:pt>
                <c:pt idx="35">
                  <c:v>7.5</c:v>
                </c:pt>
                <c:pt idx="36">
                  <c:v>7.25</c:v>
                </c:pt>
                <c:pt idx="37">
                  <c:v>7.25</c:v>
                </c:pt>
                <c:pt idx="38">
                  <c:v>6.75</c:v>
                </c:pt>
                <c:pt idx="39">
                  <c:v>6.75</c:v>
                </c:pt>
                <c:pt idx="40">
                  <c:v>6.75</c:v>
                </c:pt>
                <c:pt idx="41">
                  <c:v>6.5</c:v>
                </c:pt>
                <c:pt idx="42">
                  <c:v>6.5</c:v>
                </c:pt>
                <c:pt idx="43">
                  <c:v>6.5</c:v>
                </c:pt>
                <c:pt idx="44">
                  <c:v>6.25</c:v>
                </c:pt>
                <c:pt idx="45">
                  <c:v>6.25</c:v>
                </c:pt>
                <c:pt idx="46">
                  <c:v>6.25</c:v>
                </c:pt>
                <c:pt idx="47">
                  <c:v>6.25</c:v>
                </c:pt>
                <c:pt idx="48">
                  <c:v>6.25</c:v>
                </c:pt>
                <c:pt idx="49">
                  <c:v>6</c:v>
                </c:pt>
                <c:pt idx="50">
                  <c:v>6</c:v>
                </c:pt>
                <c:pt idx="51">
                  <c:v>6</c:v>
                </c:pt>
                <c:pt idx="52">
                  <c:v>6</c:v>
                </c:pt>
                <c:pt idx="53">
                  <c:v>6</c:v>
                </c:pt>
                <c:pt idx="54">
                  <c:v>6.25</c:v>
                </c:pt>
                <c:pt idx="55">
                  <c:v>6.5</c:v>
                </c:pt>
                <c:pt idx="56">
                  <c:v>6.5</c:v>
                </c:pt>
                <c:pt idx="57">
                  <c:v>6.5</c:v>
                </c:pt>
                <c:pt idx="58">
                  <c:v>6.25</c:v>
                </c:pt>
                <c:pt idx="59">
                  <c:v>6</c:v>
                </c:pt>
                <c:pt idx="60">
                  <c:v>5.75</c:v>
                </c:pt>
                <c:pt idx="61">
                  <c:v>5.4</c:v>
                </c:pt>
                <c:pt idx="62">
                  <c:v>5.15</c:v>
                </c:pt>
                <c:pt idx="63">
                  <c:v>5.15</c:v>
                </c:pt>
                <c:pt idx="64">
                  <c:v>5.15</c:v>
                </c:pt>
                <c:pt idx="65">
                  <c:v>4.4</c:v>
                </c:pt>
                <c:pt idx="66">
                  <c:v>4</c:v>
                </c:pt>
                <c:pt idx="67">
                  <c:v>4</c:v>
                </c:pt>
                <c:pt idx="68">
                  <c:v>4</c:v>
                </c:pt>
                <c:pt idx="69">
                  <c:v>4</c:v>
                </c:pt>
                <c:pt idx="70">
                  <c:v>4</c:v>
                </c:pt>
                <c:pt idx="71">
                  <c:v>4</c:v>
                </c:pt>
                <c:pt idx="72">
                  <c:v>4</c:v>
                </c:pt>
                <c:pt idx="73">
                  <c:v>4</c:v>
                </c:pt>
                <c:pt idx="74">
                  <c:v>4</c:v>
                </c:pt>
                <c:pt idx="75">
                  <c:v>4</c:v>
                </c:pt>
                <c:pt idx="76">
                  <c:v>4</c:v>
                </c:pt>
                <c:pt idx="77">
                  <c:v>4</c:v>
                </c:pt>
                <c:pt idx="78">
                  <c:v>4.4</c:v>
                </c:pt>
                <c:pt idx="79">
                  <c:v>4.9</c:v>
                </c:pt>
                <c:pt idx="80">
                  <c:v>5.4</c:v>
                </c:pt>
                <c:pt idx="81">
                  <c:v>5.9</c:v>
                </c:pt>
                <c:pt idx="82">
                  <c:v>6.25</c:v>
                </c:pt>
                <c:pt idx="83">
                  <c:v>6.5</c:v>
                </c:pt>
                <c:pt idx="84">
                  <c:v>6.5</c:v>
                </c:pt>
                <c:pt idx="85">
                  <c:v>6.5</c:v>
                </c:pt>
                <c:pt idx="86">
                  <c:v>6.5</c:v>
                </c:pt>
                <c:pt idx="87">
                  <c:v>6.5</c:v>
                </c:pt>
                <c:pt idx="88">
                  <c:v>6.5</c:v>
                </c:pt>
                <c:pt idx="89">
                  <c:v>6.5</c:v>
                </c:pt>
                <c:pt idx="90">
                  <c:v>6.5</c:v>
                </c:pt>
                <c:pt idx="91">
                  <c:v>6.5</c:v>
                </c:pt>
                <c:pt idx="92">
                  <c:v>6.5</c:v>
                </c:pt>
                <c:pt idx="93">
                  <c:v>6.5</c:v>
                </c:pt>
                <c:pt idx="94">
                  <c:v>6.5</c:v>
                </c:pt>
                <c:pt idx="95">
                  <c:v>6.25</c:v>
                </c:pt>
                <c:pt idx="96">
                  <c:v>6</c:v>
                </c:pt>
                <c:pt idx="97">
                  <c:v>5.5</c:v>
                </c:pt>
                <c:pt idx="98">
                  <c:v>5.5</c:v>
                </c:pt>
                <c:pt idx="99">
                  <c:v>5.5</c:v>
                </c:pt>
                <c:pt idx="100">
                  <c:v>5.25</c:v>
                </c:pt>
                <c:pt idx="101">
                  <c:v>5.25</c:v>
                </c:pt>
                <c:pt idx="102">
                  <c:v>5.25</c:v>
                </c:pt>
                <c:pt idx="103">
                  <c:v>5.25</c:v>
                </c:pt>
                <c:pt idx="104">
                  <c:v>5.25</c:v>
                </c:pt>
                <c:pt idx="105">
                  <c:v>5.5</c:v>
                </c:pt>
              </c:numCache>
            </c:numRef>
          </c:val>
          <c:smooth val="0"/>
        </c:ser>
        <c:ser>
          <c:idx val="1"/>
          <c:order val="1"/>
          <c:tx>
            <c:strRef>
              <c:f>Sheet1!$C$1</c:f>
              <c:strCache>
                <c:ptCount val="1"/>
                <c:pt idx="0">
                  <c:v>Rate our model prescribed before the decision</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c:symbol val="circle"/>
            <c:size val="4"/>
            <c:spPr>
              <a:solidFill>
                <a:srgbClr val="EB6834"/>
              </a:solidFill>
              <a:ln w="9525" cap="flat">
                <a:solidFill>
                  <a:srgbClr val="EB6834"/>
                </a:solidFill>
                <a:prstDash val="solid"/>
                <a:round/>
              </a:ln>
              <a:effectLst/>
            </c:spPr>
          </c:marker>
          <c:cat>
            <c:multiLvlStrRef>
              <c:f>Sheet1!$A$2:$A$107</c:f>
              <c:multiLvlStrCache>
                <c:ptCount val="106"/>
                <c:lvl>
                  <c:pt idx="0">
                    <c:v>2010</c:v>
                  </c:pt>
                  <c:pt idx="1">
                    <c:v>2010</c:v>
                  </c:pt>
                  <c:pt idx="2">
                    <c:v>2010</c:v>
                  </c:pt>
                  <c:pt idx="3">
                    <c:v>2011</c:v>
                  </c:pt>
                  <c:pt idx="4">
                    <c:v>2011</c:v>
                  </c:pt>
                  <c:pt idx="5">
                    <c:v>2011</c:v>
                  </c:pt>
                  <c:pt idx="6">
                    <c:v>2011</c:v>
                  </c:pt>
                  <c:pt idx="7">
                    <c:v>2011</c:v>
                  </c:pt>
                  <c:pt idx="8">
                    <c:v>2011</c:v>
                  </c:pt>
                  <c:pt idx="9">
                    <c:v>2011</c:v>
                  </c:pt>
                  <c:pt idx="10">
                    <c:v>2011</c:v>
                  </c:pt>
                  <c:pt idx="11">
                    <c:v>2012</c:v>
                  </c:pt>
                  <c:pt idx="12">
                    <c:v>2012</c:v>
                  </c:pt>
                  <c:pt idx="13">
                    <c:v>2012</c:v>
                  </c:pt>
                  <c:pt idx="14">
                    <c:v>2012</c:v>
                  </c:pt>
                  <c:pt idx="15">
                    <c:v>2012</c:v>
                  </c:pt>
                  <c:pt idx="16">
                    <c:v>2012</c:v>
                  </c:pt>
                  <c:pt idx="17">
                    <c:v>2012</c:v>
                  </c:pt>
                  <c:pt idx="18">
                    <c:v>2012</c:v>
                  </c:pt>
                  <c:pt idx="19">
                    <c:v>2013</c:v>
                  </c:pt>
                  <c:pt idx="20">
                    <c:v>2013</c:v>
                  </c:pt>
                  <c:pt idx="21">
                    <c:v>2013</c:v>
                  </c:pt>
                  <c:pt idx="22">
                    <c:v>2013</c:v>
                  </c:pt>
                  <c:pt idx="23">
                    <c:v>2013</c:v>
                  </c:pt>
                  <c:pt idx="24">
                    <c:v>2013</c:v>
                  </c:pt>
                  <c:pt idx="25">
                    <c:v>2013</c:v>
                  </c:pt>
                  <c:pt idx="26">
                    <c:v>2013</c:v>
                  </c:pt>
                  <c:pt idx="27">
                    <c:v>2014</c:v>
                  </c:pt>
                  <c:pt idx="28">
                    <c:v>2014</c:v>
                  </c:pt>
                  <c:pt idx="29">
                    <c:v>2014</c:v>
                  </c:pt>
                  <c:pt idx="30">
                    <c:v>2014</c:v>
                  </c:pt>
                  <c:pt idx="31">
                    <c:v>2014</c:v>
                  </c:pt>
                  <c:pt idx="32">
                    <c:v>2015</c:v>
                  </c:pt>
                  <c:pt idx="33">
                    <c:v>2015</c:v>
                  </c:pt>
                  <c:pt idx="34">
                    <c:v>2015</c:v>
                  </c:pt>
                  <c:pt idx="35">
                    <c:v>2015</c:v>
                  </c:pt>
                  <c:pt idx="36">
                    <c:v>2015</c:v>
                  </c:pt>
                  <c:pt idx="37">
                    <c:v>2015</c:v>
                  </c:pt>
                  <c:pt idx="38">
                    <c:v>2015</c:v>
                  </c:pt>
                  <c:pt idx="39">
                    <c:v>2015</c:v>
                  </c:pt>
                  <c:pt idx="40">
                    <c:v>2016</c:v>
                  </c:pt>
                  <c:pt idx="41">
                    <c:v>2016</c:v>
                  </c:pt>
                  <c:pt idx="42">
                    <c:v>2016</c:v>
                  </c:pt>
                  <c:pt idx="43">
                    <c:v>2016</c:v>
                  </c:pt>
                  <c:pt idx="44">
                    <c:v>2016</c:v>
                  </c:pt>
                  <c:pt idx="45">
                    <c:v>2016</c:v>
                  </c:pt>
                  <c:pt idx="46">
                    <c:v>2017</c:v>
                  </c:pt>
                  <c:pt idx="47">
                    <c:v>2017</c:v>
                  </c:pt>
                  <c:pt idx="48">
                    <c:v>2017</c:v>
                  </c:pt>
                  <c:pt idx="49">
                    <c:v>2017</c:v>
                  </c:pt>
                  <c:pt idx="50">
                    <c:v>2017</c:v>
                  </c:pt>
                  <c:pt idx="51">
                    <c:v>2017</c:v>
                  </c:pt>
                  <c:pt idx="52">
                    <c:v>2018</c:v>
                  </c:pt>
                  <c:pt idx="53">
                    <c:v>2018</c:v>
                  </c:pt>
                  <c:pt idx="54">
                    <c:v>2018</c:v>
                  </c:pt>
                  <c:pt idx="55">
                    <c:v>2018</c:v>
                  </c:pt>
                  <c:pt idx="56">
                    <c:v>2018</c:v>
                  </c:pt>
                  <c:pt idx="57">
                    <c:v>2018</c:v>
                  </c:pt>
                  <c:pt idx="58">
                    <c:v>2019</c:v>
                  </c:pt>
                  <c:pt idx="59">
                    <c:v>2019</c:v>
                  </c:pt>
                  <c:pt idx="60">
                    <c:v>2019</c:v>
                  </c:pt>
                  <c:pt idx="61">
                    <c:v>2019</c:v>
                  </c:pt>
                  <c:pt idx="62">
                    <c:v>2019</c:v>
                  </c:pt>
                  <c:pt idx="63">
                    <c:v>2019</c:v>
                  </c:pt>
                  <c:pt idx="64">
                    <c:v>2020</c:v>
                  </c:pt>
                  <c:pt idx="65">
                    <c:v>2020</c:v>
                  </c:pt>
                  <c:pt idx="66">
                    <c:v>2020</c:v>
                  </c:pt>
                  <c:pt idx="67">
                    <c:v>2020</c:v>
                  </c:pt>
                  <c:pt idx="68">
                    <c:v>2020</c:v>
                  </c:pt>
                  <c:pt idx="69">
                    <c:v>2020</c:v>
                  </c:pt>
                  <c:pt idx="70">
                    <c:v>2021</c:v>
                  </c:pt>
                  <c:pt idx="71">
                    <c:v>2021</c:v>
                  </c:pt>
                  <c:pt idx="72">
                    <c:v>2021</c:v>
                  </c:pt>
                  <c:pt idx="73">
                    <c:v>2021</c:v>
                  </c:pt>
                  <c:pt idx="74">
                    <c:v>2021</c:v>
                  </c:pt>
                  <c:pt idx="75">
                    <c:v>2021</c:v>
                  </c:pt>
                  <c:pt idx="76">
                    <c:v>2022</c:v>
                  </c:pt>
                  <c:pt idx="77">
                    <c:v>2022</c:v>
                  </c:pt>
                  <c:pt idx="78">
                    <c:v>2022</c:v>
                  </c:pt>
                  <c:pt idx="79">
                    <c:v>2022</c:v>
                  </c:pt>
                  <c:pt idx="80">
                    <c:v>2022</c:v>
                  </c:pt>
                  <c:pt idx="81">
                    <c:v>2022</c:v>
                  </c:pt>
                  <c:pt idx="82">
                    <c:v>2022</c:v>
                  </c:pt>
                  <c:pt idx="83">
                    <c:v>2023</c:v>
                  </c:pt>
                  <c:pt idx="84">
                    <c:v>2023</c:v>
                  </c:pt>
                  <c:pt idx="85">
                    <c:v>2023</c:v>
                  </c:pt>
                  <c:pt idx="86">
                    <c:v>2023</c:v>
                  </c:pt>
                  <c:pt idx="87">
                    <c:v>2023</c:v>
                  </c:pt>
                  <c:pt idx="88">
                    <c:v>2023</c:v>
                  </c:pt>
                  <c:pt idx="89">
                    <c:v>2024</c:v>
                  </c:pt>
                  <c:pt idx="90">
                    <c:v>2024</c:v>
                  </c:pt>
                  <c:pt idx="91">
                    <c:v>2024</c:v>
                  </c:pt>
                  <c:pt idx="92">
                    <c:v>2024</c:v>
                  </c:pt>
                  <c:pt idx="93">
                    <c:v>2024</c:v>
                  </c:pt>
                  <c:pt idx="94">
                    <c:v>2024</c:v>
                  </c:pt>
                  <c:pt idx="95">
                    <c:v>2025</c:v>
                  </c:pt>
                  <c:pt idx="96">
                    <c:v>2025</c:v>
                  </c:pt>
                  <c:pt idx="97">
                    <c:v>2025</c:v>
                  </c:pt>
                  <c:pt idx="98">
                    <c:v>2025</c:v>
                  </c:pt>
                  <c:pt idx="99">
                    <c:v>2025</c:v>
                  </c:pt>
                  <c:pt idx="100">
                    <c:v>2025</c:v>
                  </c:pt>
                  <c:pt idx="101">
                    <c:v>2026</c:v>
                  </c:pt>
                  <c:pt idx="102">
                    <c:v>2026</c:v>
                  </c:pt>
                  <c:pt idx="103">
                    <c:v>2026</c:v>
                  </c:pt>
                  <c:pt idx="104">
                    <c:v>2026</c:v>
                  </c:pt>
                  <c:pt idx="105">
                    <c:v>2026</c:v>
                  </c:pt>
                </c:lvl>
              </c:multiLvlStrCache>
            </c:multiLvlStrRef>
          </c:cat>
          <c:val>
            <c:numRef>
              <c:f>Sheet1!$C$2:$C$107</c:f>
              <c:numCache>
                <c:formatCode>General</c:formatCode>
                <c:ptCount val="106"/>
                <c:pt idx="0">
                  <c:v>5.82</c:v>
                </c:pt>
                <c:pt idx="1">
                  <c:v>5.97</c:v>
                </c:pt>
                <c:pt idx="2">
                  <c:v>6.21</c:v>
                </c:pt>
                <c:pt idx="3">
                  <c:v>6.25</c:v>
                </c:pt>
                <c:pt idx="4">
                  <c:v>6.47</c:v>
                </c:pt>
                <c:pt idx="5">
                  <c:v>6.64</c:v>
                </c:pt>
                <c:pt idx="6">
                  <c:v>7.15</c:v>
                </c:pt>
                <c:pt idx="7">
                  <c:v>7.36</c:v>
                </c:pt>
                <c:pt idx="8">
                  <c:v>7.83</c:v>
                </c:pt>
                <c:pt idx="9">
                  <c:v>8.06</c:v>
                </c:pt>
                <c:pt idx="10">
                  <c:v>8.27</c:v>
                </c:pt>
                <c:pt idx="11">
                  <c:v>8.21</c:v>
                </c:pt>
                <c:pt idx="12">
                  <c:v>8.25</c:v>
                </c:pt>
                <c:pt idx="13">
                  <c:v>8.34</c:v>
                </c:pt>
                <c:pt idx="14">
                  <c:v>7.78</c:v>
                </c:pt>
                <c:pt idx="15">
                  <c:v>7.78</c:v>
                </c:pt>
                <c:pt idx="16">
                  <c:v>7.82</c:v>
                </c:pt>
                <c:pt idx="17">
                  <c:v>7.86</c:v>
                </c:pt>
                <c:pt idx="18">
                  <c:v>7.89</c:v>
                </c:pt>
                <c:pt idx="19">
                  <c:v>7.95</c:v>
                </c:pt>
                <c:pt idx="20">
                  <c:v>7.69</c:v>
                </c:pt>
                <c:pt idx="21">
                  <c:v>7.39</c:v>
                </c:pt>
                <c:pt idx="22">
                  <c:v>7.13</c:v>
                </c:pt>
                <c:pt idx="23">
                  <c:v>7.17</c:v>
                </c:pt>
                <c:pt idx="24">
                  <c:v>7.13</c:v>
                </c:pt>
                <c:pt idx="25">
                  <c:v>7.43</c:v>
                </c:pt>
                <c:pt idx="26">
                  <c:v>7.74</c:v>
                </c:pt>
                <c:pt idx="27">
                  <c:v>8.1</c:v>
                </c:pt>
                <c:pt idx="28">
                  <c:v>8.11</c:v>
                </c:pt>
                <c:pt idx="29">
                  <c:v>8.06</c:v>
                </c:pt>
                <c:pt idx="30">
                  <c:v>8.1</c:v>
                </c:pt>
                <c:pt idx="31">
                  <c:v>8.02</c:v>
                </c:pt>
                <c:pt idx="32">
                  <c:v>7.95</c:v>
                </c:pt>
                <c:pt idx="33">
                  <c:v>7.69</c:v>
                </c:pt>
                <c:pt idx="34">
                  <c:v>7.7</c:v>
                </c:pt>
                <c:pt idx="35">
                  <c:v>7.48</c:v>
                </c:pt>
                <c:pt idx="36">
                  <c:v>7.43</c:v>
                </c:pt>
                <c:pt idx="37">
                  <c:v>7.19</c:v>
                </c:pt>
                <c:pt idx="38">
                  <c:v>7.16</c:v>
                </c:pt>
                <c:pt idx="39">
                  <c:v>6.72</c:v>
                </c:pt>
                <c:pt idx="40">
                  <c:v>6.76</c:v>
                </c:pt>
                <c:pt idx="41">
                  <c:v>6.71</c:v>
                </c:pt>
                <c:pt idx="42">
                  <c:v>6.54</c:v>
                </c:pt>
                <c:pt idx="43">
                  <c:v>6.56</c:v>
                </c:pt>
                <c:pt idx="44">
                  <c:v>6.55</c:v>
                </c:pt>
                <c:pt idx="45">
                  <c:v>6.24</c:v>
                </c:pt>
                <c:pt idx="46">
                  <c:v>6.23</c:v>
                </c:pt>
                <c:pt idx="47">
                  <c:v>6.19</c:v>
                </c:pt>
                <c:pt idx="48">
                  <c:v>6.17</c:v>
                </c:pt>
                <c:pt idx="49">
                  <c:v>6.13</c:v>
                </c:pt>
                <c:pt idx="50">
                  <c:v>5.88</c:v>
                </c:pt>
                <c:pt idx="51">
                  <c:v>5.94</c:v>
                </c:pt>
                <c:pt idx="52">
                  <c:v>6</c:v>
                </c:pt>
                <c:pt idx="53">
                  <c:v>6.05</c:v>
                </c:pt>
                <c:pt idx="54">
                  <c:v>6.02</c:v>
                </c:pt>
                <c:pt idx="55">
                  <c:v>6.23</c:v>
                </c:pt>
                <c:pt idx="56">
                  <c:v>6.48</c:v>
                </c:pt>
                <c:pt idx="57">
                  <c:v>6.46</c:v>
                </c:pt>
                <c:pt idx="58">
                  <c:v>6.39</c:v>
                </c:pt>
                <c:pt idx="59">
                  <c:v>6.09</c:v>
                </c:pt>
                <c:pt idx="60">
                  <c:v>5.86</c:v>
                </c:pt>
                <c:pt idx="61">
                  <c:v>5.67</c:v>
                </c:pt>
                <c:pt idx="62">
                  <c:v>5.34</c:v>
                </c:pt>
                <c:pt idx="63">
                  <c:v>5.04</c:v>
                </c:pt>
                <c:pt idx="64">
                  <c:v>5.05</c:v>
                </c:pt>
                <c:pt idx="65">
                  <c:v>5.13</c:v>
                </c:pt>
                <c:pt idx="66">
                  <c:v>4.24</c:v>
                </c:pt>
                <c:pt idx="67">
                  <c:v>2.99</c:v>
                </c:pt>
                <c:pt idx="68">
                  <c:v>3.78</c:v>
                </c:pt>
                <c:pt idx="69">
                  <c:v>4.04</c:v>
                </c:pt>
                <c:pt idx="70">
                  <c:v>4.07</c:v>
                </c:pt>
                <c:pt idx="71">
                  <c:v>4.05</c:v>
                </c:pt>
                <c:pt idx="72">
                  <c:v>4.12</c:v>
                </c:pt>
                <c:pt idx="73">
                  <c:v>4.75</c:v>
                </c:pt>
                <c:pt idx="74">
                  <c:v>4.1</c:v>
                </c:pt>
                <c:pt idx="75">
                  <c:v>4.04</c:v>
                </c:pt>
                <c:pt idx="76">
                  <c:v>4.03</c:v>
                </c:pt>
                <c:pt idx="77">
                  <c:v>4.02</c:v>
                </c:pt>
                <c:pt idx="78">
                  <c:v>4.04</c:v>
                </c:pt>
                <c:pt idx="79">
                  <c:v>4.46</c:v>
                </c:pt>
                <c:pt idx="80">
                  <c:v>4.98</c:v>
                </c:pt>
                <c:pt idx="81">
                  <c:v>5.47</c:v>
                </c:pt>
                <c:pt idx="82">
                  <c:v>5.9</c:v>
                </c:pt>
                <c:pt idx="83">
                  <c:v>6.22</c:v>
                </c:pt>
                <c:pt idx="84">
                  <c:v>6.51</c:v>
                </c:pt>
                <c:pt idx="85">
                  <c:v>6.45</c:v>
                </c:pt>
                <c:pt idx="86">
                  <c:v>6.45</c:v>
                </c:pt>
                <c:pt idx="87">
                  <c:v>6.51</c:v>
                </c:pt>
                <c:pt idx="88">
                  <c:v>6.47</c:v>
                </c:pt>
                <c:pt idx="89">
                  <c:v>6.48</c:v>
                </c:pt>
                <c:pt idx="90">
                  <c:v>6.45</c:v>
                </c:pt>
                <c:pt idx="91">
                  <c:v>6.45</c:v>
                </c:pt>
                <c:pt idx="92">
                  <c:v>6.46</c:v>
                </c:pt>
                <c:pt idx="93">
                  <c:v>6.43</c:v>
                </c:pt>
                <c:pt idx="94">
                  <c:v>6.47</c:v>
                </c:pt>
                <c:pt idx="95">
                  <c:v>6.45</c:v>
                </c:pt>
                <c:pt idx="96">
                  <c:v>6.18</c:v>
                </c:pt>
                <c:pt idx="97">
                  <c:v>5.92</c:v>
                </c:pt>
                <c:pt idx="98">
                  <c:v>5.4</c:v>
                </c:pt>
                <c:pt idx="99">
                  <c:v>5.4</c:v>
                </c:pt>
                <c:pt idx="100">
                  <c:v>5.36</c:v>
                </c:pt>
                <c:pt idx="101">
                  <c:v>5.13</c:v>
                </c:pt>
                <c:pt idx="102">
                  <c:v>5.19</c:v>
                </c:pt>
                <c:pt idx="103">
                  <c:v>5.19</c:v>
                </c:pt>
                <c:pt idx="104">
                  <c:v>5.24</c:v>
                </c:pt>
                <c:pt idx="105">
                  <c:v>5.26</c:v>
                </c:pt>
              </c:numCache>
            </c:numRef>
          </c:val>
          <c:smooth val="0"/>
        </c:ser>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1B1F2A"/>
                </a:solidFill>
                <a:latin typeface="+mn-lt"/>
              </a:defRPr>
            </a:pPr>
            <a:endParaRPr lang="en-US"/>
          </a:p>
        </c:txPr>
        <c:crossAx val="2094734552"/>
        <c:crosses val="autoZero"/>
        <c:auto val="1"/>
        <c:lblAlgn val="ctr"/>
        <c:noMultiLvlLbl val="1"/>
        <c:tickLblSkip val="14"/>
      </c:catAx>
      <c:valAx>
        <c:axId val="2094734552"/>
        <c:scaling>
          <c:orientation val="minMax"/>
          <c:max val="9"/>
          <c:min val="2"/>
        </c:scaling>
        <c:delete val="0"/>
        <c:axPos val="l"/>
        <c:majorGridlines>
          <c:spPr>
            <a:ln w="6350" cap="flat">
              <a:solidFill>
                <a:srgbClr val="D9DCE1"/>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8F98"/>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Model lean before each RBI decision, against the decision taken</a:t>
            </a:r>
          </a:p>
        </c:rich>
      </c:tx>
      <c:layout/>
      <c:overlay val="0"/>
    </c:title>
    <c:autoTitleDeleted val="0"/>
    <c:plotArea>
      <c:layout/>
      <c:barChart>
        <c:barDir val="col"/>
        <c:grouping val="stacked"/>
        <c:varyColors val="0"/>
        <c:ser>
          <c:idx val="0"/>
          <c:order val="0"/>
          <c:tx>
            <c:strRef>
              <c:f>Sheet1!$B$1</c:f>
              <c:strCache>
                <c:ptCount val="1"/>
                <c:pt idx="0">
                  <c:v>Actual hike</c:v>
                </c:pt>
              </c:strCache>
            </c:strRef>
          </c:tx>
          <c:spPr>
            <a:solidFill>
              <a:srgbClr val="F4B08E"/>
            </a:solidFill>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cat>
            <c:multiLvlStrRef>
              <c:f>Sheet1!$A$2:$A$107</c:f>
              <c:multiLvlStrCache>
                <c:ptCount val="106"/>
                <c:lvl>
                  <c:pt idx="0">
                    <c:v>2010</c:v>
                  </c:pt>
                  <c:pt idx="1">
                    <c:v>2010</c:v>
                  </c:pt>
                  <c:pt idx="2">
                    <c:v>2010</c:v>
                  </c:pt>
                  <c:pt idx="3">
                    <c:v>2011</c:v>
                  </c:pt>
                  <c:pt idx="4">
                    <c:v>2011</c:v>
                  </c:pt>
                  <c:pt idx="5">
                    <c:v>2011</c:v>
                  </c:pt>
                  <c:pt idx="6">
                    <c:v>2011</c:v>
                  </c:pt>
                  <c:pt idx="7">
                    <c:v>2011</c:v>
                  </c:pt>
                  <c:pt idx="8">
                    <c:v>2011</c:v>
                  </c:pt>
                  <c:pt idx="9">
                    <c:v>2011</c:v>
                  </c:pt>
                  <c:pt idx="10">
                    <c:v>2011</c:v>
                  </c:pt>
                  <c:pt idx="11">
                    <c:v>2012</c:v>
                  </c:pt>
                  <c:pt idx="12">
                    <c:v>2012</c:v>
                  </c:pt>
                  <c:pt idx="13">
                    <c:v>2012</c:v>
                  </c:pt>
                  <c:pt idx="14">
                    <c:v>2012</c:v>
                  </c:pt>
                  <c:pt idx="15">
                    <c:v>2012</c:v>
                  </c:pt>
                  <c:pt idx="16">
                    <c:v>2012</c:v>
                  </c:pt>
                  <c:pt idx="17">
                    <c:v>2012</c:v>
                  </c:pt>
                  <c:pt idx="18">
                    <c:v>2012</c:v>
                  </c:pt>
                  <c:pt idx="19">
                    <c:v>2013</c:v>
                  </c:pt>
                  <c:pt idx="20">
                    <c:v>2013</c:v>
                  </c:pt>
                  <c:pt idx="21">
                    <c:v>2013</c:v>
                  </c:pt>
                  <c:pt idx="22">
                    <c:v>2013</c:v>
                  </c:pt>
                  <c:pt idx="23">
                    <c:v>2013</c:v>
                  </c:pt>
                  <c:pt idx="24">
                    <c:v>2013</c:v>
                  </c:pt>
                  <c:pt idx="25">
                    <c:v>2013</c:v>
                  </c:pt>
                  <c:pt idx="26">
                    <c:v>2013</c:v>
                  </c:pt>
                  <c:pt idx="27">
                    <c:v>2014</c:v>
                  </c:pt>
                  <c:pt idx="28">
                    <c:v>2014</c:v>
                  </c:pt>
                  <c:pt idx="29">
                    <c:v>2014</c:v>
                  </c:pt>
                  <c:pt idx="30">
                    <c:v>2014</c:v>
                  </c:pt>
                  <c:pt idx="31">
                    <c:v>2014</c:v>
                  </c:pt>
                  <c:pt idx="32">
                    <c:v>2015</c:v>
                  </c:pt>
                  <c:pt idx="33">
                    <c:v>2015</c:v>
                  </c:pt>
                  <c:pt idx="34">
                    <c:v>2015</c:v>
                  </c:pt>
                  <c:pt idx="35">
                    <c:v>2015</c:v>
                  </c:pt>
                  <c:pt idx="36">
                    <c:v>2015</c:v>
                  </c:pt>
                  <c:pt idx="37">
                    <c:v>2015</c:v>
                  </c:pt>
                  <c:pt idx="38">
                    <c:v>2015</c:v>
                  </c:pt>
                  <c:pt idx="39">
                    <c:v>2015</c:v>
                  </c:pt>
                  <c:pt idx="40">
                    <c:v>2016</c:v>
                  </c:pt>
                  <c:pt idx="41">
                    <c:v>2016</c:v>
                  </c:pt>
                  <c:pt idx="42">
                    <c:v>2016</c:v>
                  </c:pt>
                  <c:pt idx="43">
                    <c:v>2016</c:v>
                  </c:pt>
                  <c:pt idx="44">
                    <c:v>2016</c:v>
                  </c:pt>
                  <c:pt idx="45">
                    <c:v>2016</c:v>
                  </c:pt>
                  <c:pt idx="46">
                    <c:v>2017</c:v>
                  </c:pt>
                  <c:pt idx="47">
                    <c:v>2017</c:v>
                  </c:pt>
                  <c:pt idx="48">
                    <c:v>2017</c:v>
                  </c:pt>
                  <c:pt idx="49">
                    <c:v>2017</c:v>
                  </c:pt>
                  <c:pt idx="50">
                    <c:v>2017</c:v>
                  </c:pt>
                  <c:pt idx="51">
                    <c:v>2017</c:v>
                  </c:pt>
                  <c:pt idx="52">
                    <c:v>2018</c:v>
                  </c:pt>
                  <c:pt idx="53">
                    <c:v>2018</c:v>
                  </c:pt>
                  <c:pt idx="54">
                    <c:v>2018</c:v>
                  </c:pt>
                  <c:pt idx="55">
                    <c:v>2018</c:v>
                  </c:pt>
                  <c:pt idx="56">
                    <c:v>2018</c:v>
                  </c:pt>
                  <c:pt idx="57">
                    <c:v>2018</c:v>
                  </c:pt>
                  <c:pt idx="58">
                    <c:v>2019</c:v>
                  </c:pt>
                  <c:pt idx="59">
                    <c:v>2019</c:v>
                  </c:pt>
                  <c:pt idx="60">
                    <c:v>2019</c:v>
                  </c:pt>
                  <c:pt idx="61">
                    <c:v>2019</c:v>
                  </c:pt>
                  <c:pt idx="62">
                    <c:v>2019</c:v>
                  </c:pt>
                  <c:pt idx="63">
                    <c:v>2019</c:v>
                  </c:pt>
                  <c:pt idx="64">
                    <c:v>2020</c:v>
                  </c:pt>
                  <c:pt idx="65">
                    <c:v>2020</c:v>
                  </c:pt>
                  <c:pt idx="66">
                    <c:v>2020</c:v>
                  </c:pt>
                  <c:pt idx="67">
                    <c:v>2020</c:v>
                  </c:pt>
                  <c:pt idx="68">
                    <c:v>2020</c:v>
                  </c:pt>
                  <c:pt idx="69">
                    <c:v>2020</c:v>
                  </c:pt>
                  <c:pt idx="70">
                    <c:v>2021</c:v>
                  </c:pt>
                  <c:pt idx="71">
                    <c:v>2021</c:v>
                  </c:pt>
                  <c:pt idx="72">
                    <c:v>2021</c:v>
                  </c:pt>
                  <c:pt idx="73">
                    <c:v>2021</c:v>
                  </c:pt>
                  <c:pt idx="74">
                    <c:v>2021</c:v>
                  </c:pt>
                  <c:pt idx="75">
                    <c:v>2021</c:v>
                  </c:pt>
                  <c:pt idx="76">
                    <c:v>2022</c:v>
                  </c:pt>
                  <c:pt idx="77">
                    <c:v>2022</c:v>
                  </c:pt>
                  <c:pt idx="78">
                    <c:v>2022</c:v>
                  </c:pt>
                  <c:pt idx="79">
                    <c:v>2022</c:v>
                  </c:pt>
                  <c:pt idx="80">
                    <c:v>2022</c:v>
                  </c:pt>
                  <c:pt idx="81">
                    <c:v>2022</c:v>
                  </c:pt>
                  <c:pt idx="82">
                    <c:v>2022</c:v>
                  </c:pt>
                  <c:pt idx="83">
                    <c:v>2023</c:v>
                  </c:pt>
                  <c:pt idx="84">
                    <c:v>2023</c:v>
                  </c:pt>
                  <c:pt idx="85">
                    <c:v>2023</c:v>
                  </c:pt>
                  <c:pt idx="86">
                    <c:v>2023</c:v>
                  </c:pt>
                  <c:pt idx="87">
                    <c:v>2023</c:v>
                  </c:pt>
                  <c:pt idx="88">
                    <c:v>2023</c:v>
                  </c:pt>
                  <c:pt idx="89">
                    <c:v>2024</c:v>
                  </c:pt>
                  <c:pt idx="90">
                    <c:v>2024</c:v>
                  </c:pt>
                  <c:pt idx="91">
                    <c:v>2024</c:v>
                  </c:pt>
                  <c:pt idx="92">
                    <c:v>2024</c:v>
                  </c:pt>
                  <c:pt idx="93">
                    <c:v>2024</c:v>
                  </c:pt>
                  <c:pt idx="94">
                    <c:v>2024</c:v>
                  </c:pt>
                  <c:pt idx="95">
                    <c:v>2025</c:v>
                  </c:pt>
                  <c:pt idx="96">
                    <c:v>2025</c:v>
                  </c:pt>
                  <c:pt idx="97">
                    <c:v>2025</c:v>
                  </c:pt>
                  <c:pt idx="98">
                    <c:v>2025</c:v>
                  </c:pt>
                  <c:pt idx="99">
                    <c:v>2025</c:v>
                  </c:pt>
                  <c:pt idx="100">
                    <c:v>2025</c:v>
                  </c:pt>
                  <c:pt idx="101">
                    <c:v>2026</c:v>
                  </c:pt>
                  <c:pt idx="102">
                    <c:v>2026</c:v>
                  </c:pt>
                  <c:pt idx="103">
                    <c:v>2026</c:v>
                  </c:pt>
                  <c:pt idx="104">
                    <c:v>2026</c:v>
                  </c:pt>
                  <c:pt idx="105">
                    <c:v>2026</c:v>
                  </c:pt>
                </c:lvl>
              </c:multiLvlStrCache>
            </c:multiLvlStrRef>
          </c:cat>
          <c:val>
            <c:numRef>
              <c:f>Sheet1!$B$2:$B$107</c:f>
              <c:numCache>
                <c:formatCode>General</c:formatCode>
                <c:ptCount val="106"/>
                <c:pt idx="0">
                  <c:v>1</c:v>
                </c:pt>
                <c:pt idx="1">
                  <c:v>1</c:v>
                </c:pt>
                <c:pt idx="2">
                  <c:v>0</c:v>
                </c:pt>
                <c:pt idx="3">
                  <c:v>1</c:v>
                </c:pt>
                <c:pt idx="4">
                  <c:v>1</c:v>
                </c:pt>
                <c:pt idx="5">
                  <c:v>1</c:v>
                </c:pt>
                <c:pt idx="6">
                  <c:v>1</c:v>
                </c:pt>
                <c:pt idx="7">
                  <c:v>1</c:v>
                </c:pt>
                <c:pt idx="8">
                  <c:v>1</c:v>
                </c:pt>
                <c:pt idx="9">
                  <c:v>1</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1</c:v>
                </c:pt>
                <c:pt idx="25">
                  <c:v>1</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1</c:v>
                </c:pt>
                <c:pt idx="55">
                  <c:v>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1</c:v>
                </c:pt>
                <c:pt idx="79">
                  <c:v>1</c:v>
                </c:pt>
                <c:pt idx="80">
                  <c:v>1</c:v>
                </c:pt>
                <c:pt idx="81">
                  <c:v>1</c:v>
                </c:pt>
                <c:pt idx="82">
                  <c:v>1</c:v>
                </c:pt>
                <c:pt idx="83">
                  <c:v>1</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1</c:v>
                </c:pt>
              </c:numCache>
            </c:numRef>
          </c:val>
        </c:ser>
        <c:ser>
          <c:idx val="1"/>
          <c:order val="1"/>
          <c:tx>
            <c:strRef>
              <c:f>Sheet1!$C$1</c:f>
              <c:strCache>
                <c:ptCount val="1"/>
                <c:pt idx="0">
                  <c:v>Actual cut</c:v>
                </c:pt>
              </c:strCache>
            </c:strRef>
          </c:tx>
          <c:spPr>
            <a:solidFill>
              <a:srgbClr val="9DB9DE"/>
            </a:solidFill>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cat>
            <c:multiLvlStrRef>
              <c:f>Sheet1!$A$2:$A$107</c:f>
              <c:multiLvlStrCache>
                <c:ptCount val="106"/>
                <c:lvl>
                  <c:pt idx="0">
                    <c:v>2010</c:v>
                  </c:pt>
                  <c:pt idx="1">
                    <c:v>2010</c:v>
                  </c:pt>
                  <c:pt idx="2">
                    <c:v>2010</c:v>
                  </c:pt>
                  <c:pt idx="3">
                    <c:v>2011</c:v>
                  </c:pt>
                  <c:pt idx="4">
                    <c:v>2011</c:v>
                  </c:pt>
                  <c:pt idx="5">
                    <c:v>2011</c:v>
                  </c:pt>
                  <c:pt idx="6">
                    <c:v>2011</c:v>
                  </c:pt>
                  <c:pt idx="7">
                    <c:v>2011</c:v>
                  </c:pt>
                  <c:pt idx="8">
                    <c:v>2011</c:v>
                  </c:pt>
                  <c:pt idx="9">
                    <c:v>2011</c:v>
                  </c:pt>
                  <c:pt idx="10">
                    <c:v>2011</c:v>
                  </c:pt>
                  <c:pt idx="11">
                    <c:v>2012</c:v>
                  </c:pt>
                  <c:pt idx="12">
                    <c:v>2012</c:v>
                  </c:pt>
                  <c:pt idx="13">
                    <c:v>2012</c:v>
                  </c:pt>
                  <c:pt idx="14">
                    <c:v>2012</c:v>
                  </c:pt>
                  <c:pt idx="15">
                    <c:v>2012</c:v>
                  </c:pt>
                  <c:pt idx="16">
                    <c:v>2012</c:v>
                  </c:pt>
                  <c:pt idx="17">
                    <c:v>2012</c:v>
                  </c:pt>
                  <c:pt idx="18">
                    <c:v>2012</c:v>
                  </c:pt>
                  <c:pt idx="19">
                    <c:v>2013</c:v>
                  </c:pt>
                  <c:pt idx="20">
                    <c:v>2013</c:v>
                  </c:pt>
                  <c:pt idx="21">
                    <c:v>2013</c:v>
                  </c:pt>
                  <c:pt idx="22">
                    <c:v>2013</c:v>
                  </c:pt>
                  <c:pt idx="23">
                    <c:v>2013</c:v>
                  </c:pt>
                  <c:pt idx="24">
                    <c:v>2013</c:v>
                  </c:pt>
                  <c:pt idx="25">
                    <c:v>2013</c:v>
                  </c:pt>
                  <c:pt idx="26">
                    <c:v>2013</c:v>
                  </c:pt>
                  <c:pt idx="27">
                    <c:v>2014</c:v>
                  </c:pt>
                  <c:pt idx="28">
                    <c:v>2014</c:v>
                  </c:pt>
                  <c:pt idx="29">
                    <c:v>2014</c:v>
                  </c:pt>
                  <c:pt idx="30">
                    <c:v>2014</c:v>
                  </c:pt>
                  <c:pt idx="31">
                    <c:v>2014</c:v>
                  </c:pt>
                  <c:pt idx="32">
                    <c:v>2015</c:v>
                  </c:pt>
                  <c:pt idx="33">
                    <c:v>2015</c:v>
                  </c:pt>
                  <c:pt idx="34">
                    <c:v>2015</c:v>
                  </c:pt>
                  <c:pt idx="35">
                    <c:v>2015</c:v>
                  </c:pt>
                  <c:pt idx="36">
                    <c:v>2015</c:v>
                  </c:pt>
                  <c:pt idx="37">
                    <c:v>2015</c:v>
                  </c:pt>
                  <c:pt idx="38">
                    <c:v>2015</c:v>
                  </c:pt>
                  <c:pt idx="39">
                    <c:v>2015</c:v>
                  </c:pt>
                  <c:pt idx="40">
                    <c:v>2016</c:v>
                  </c:pt>
                  <c:pt idx="41">
                    <c:v>2016</c:v>
                  </c:pt>
                  <c:pt idx="42">
                    <c:v>2016</c:v>
                  </c:pt>
                  <c:pt idx="43">
                    <c:v>2016</c:v>
                  </c:pt>
                  <c:pt idx="44">
                    <c:v>2016</c:v>
                  </c:pt>
                  <c:pt idx="45">
                    <c:v>2016</c:v>
                  </c:pt>
                  <c:pt idx="46">
                    <c:v>2017</c:v>
                  </c:pt>
                  <c:pt idx="47">
                    <c:v>2017</c:v>
                  </c:pt>
                  <c:pt idx="48">
                    <c:v>2017</c:v>
                  </c:pt>
                  <c:pt idx="49">
                    <c:v>2017</c:v>
                  </c:pt>
                  <c:pt idx="50">
                    <c:v>2017</c:v>
                  </c:pt>
                  <c:pt idx="51">
                    <c:v>2017</c:v>
                  </c:pt>
                  <c:pt idx="52">
                    <c:v>2018</c:v>
                  </c:pt>
                  <c:pt idx="53">
                    <c:v>2018</c:v>
                  </c:pt>
                  <c:pt idx="54">
                    <c:v>2018</c:v>
                  </c:pt>
                  <c:pt idx="55">
                    <c:v>2018</c:v>
                  </c:pt>
                  <c:pt idx="56">
                    <c:v>2018</c:v>
                  </c:pt>
                  <c:pt idx="57">
                    <c:v>2018</c:v>
                  </c:pt>
                  <c:pt idx="58">
                    <c:v>2019</c:v>
                  </c:pt>
                  <c:pt idx="59">
                    <c:v>2019</c:v>
                  </c:pt>
                  <c:pt idx="60">
                    <c:v>2019</c:v>
                  </c:pt>
                  <c:pt idx="61">
                    <c:v>2019</c:v>
                  </c:pt>
                  <c:pt idx="62">
                    <c:v>2019</c:v>
                  </c:pt>
                  <c:pt idx="63">
                    <c:v>2019</c:v>
                  </c:pt>
                  <c:pt idx="64">
                    <c:v>2020</c:v>
                  </c:pt>
                  <c:pt idx="65">
                    <c:v>2020</c:v>
                  </c:pt>
                  <c:pt idx="66">
                    <c:v>2020</c:v>
                  </c:pt>
                  <c:pt idx="67">
                    <c:v>2020</c:v>
                  </c:pt>
                  <c:pt idx="68">
                    <c:v>2020</c:v>
                  </c:pt>
                  <c:pt idx="69">
                    <c:v>2020</c:v>
                  </c:pt>
                  <c:pt idx="70">
                    <c:v>2021</c:v>
                  </c:pt>
                  <c:pt idx="71">
                    <c:v>2021</c:v>
                  </c:pt>
                  <c:pt idx="72">
                    <c:v>2021</c:v>
                  </c:pt>
                  <c:pt idx="73">
                    <c:v>2021</c:v>
                  </c:pt>
                  <c:pt idx="74">
                    <c:v>2021</c:v>
                  </c:pt>
                  <c:pt idx="75">
                    <c:v>2021</c:v>
                  </c:pt>
                  <c:pt idx="76">
                    <c:v>2022</c:v>
                  </c:pt>
                  <c:pt idx="77">
                    <c:v>2022</c:v>
                  </c:pt>
                  <c:pt idx="78">
                    <c:v>2022</c:v>
                  </c:pt>
                  <c:pt idx="79">
                    <c:v>2022</c:v>
                  </c:pt>
                  <c:pt idx="80">
                    <c:v>2022</c:v>
                  </c:pt>
                  <c:pt idx="81">
                    <c:v>2022</c:v>
                  </c:pt>
                  <c:pt idx="82">
                    <c:v>2022</c:v>
                  </c:pt>
                  <c:pt idx="83">
                    <c:v>2023</c:v>
                  </c:pt>
                  <c:pt idx="84">
                    <c:v>2023</c:v>
                  </c:pt>
                  <c:pt idx="85">
                    <c:v>2023</c:v>
                  </c:pt>
                  <c:pt idx="86">
                    <c:v>2023</c:v>
                  </c:pt>
                  <c:pt idx="87">
                    <c:v>2023</c:v>
                  </c:pt>
                  <c:pt idx="88">
                    <c:v>2023</c:v>
                  </c:pt>
                  <c:pt idx="89">
                    <c:v>2024</c:v>
                  </c:pt>
                  <c:pt idx="90">
                    <c:v>2024</c:v>
                  </c:pt>
                  <c:pt idx="91">
                    <c:v>2024</c:v>
                  </c:pt>
                  <c:pt idx="92">
                    <c:v>2024</c:v>
                  </c:pt>
                  <c:pt idx="93">
                    <c:v>2024</c:v>
                  </c:pt>
                  <c:pt idx="94">
                    <c:v>2024</c:v>
                  </c:pt>
                  <c:pt idx="95">
                    <c:v>2025</c:v>
                  </c:pt>
                  <c:pt idx="96">
                    <c:v>2025</c:v>
                  </c:pt>
                  <c:pt idx="97">
                    <c:v>2025</c:v>
                  </c:pt>
                  <c:pt idx="98">
                    <c:v>2025</c:v>
                  </c:pt>
                  <c:pt idx="99">
                    <c:v>2025</c:v>
                  </c:pt>
                  <c:pt idx="100">
                    <c:v>2025</c:v>
                  </c:pt>
                  <c:pt idx="101">
                    <c:v>2026</c:v>
                  </c:pt>
                  <c:pt idx="102">
                    <c:v>2026</c:v>
                  </c:pt>
                  <c:pt idx="103">
                    <c:v>2026</c:v>
                  </c:pt>
                  <c:pt idx="104">
                    <c:v>2026</c:v>
                  </c:pt>
                  <c:pt idx="105">
                    <c:v>2026</c:v>
                  </c:pt>
                </c:lvl>
              </c:multiLvlStrCache>
            </c:multiLvlStrRef>
          </c:cat>
          <c:val>
            <c:numRef>
              <c:f>Sheet1!$C$2:$C$107</c:f>
              <c:numCache>
                <c:formatCode>General</c:formatCode>
                <c:ptCount val="106"/>
                <c:pt idx="0">
                  <c:v>0</c:v>
                </c:pt>
                <c:pt idx="1">
                  <c:v>0</c:v>
                </c:pt>
                <c:pt idx="2">
                  <c:v>0</c:v>
                </c:pt>
                <c:pt idx="3">
                  <c:v>0</c:v>
                </c:pt>
                <c:pt idx="4">
                  <c:v>0</c:v>
                </c:pt>
                <c:pt idx="5">
                  <c:v>0</c:v>
                </c:pt>
                <c:pt idx="6">
                  <c:v>0</c:v>
                </c:pt>
                <c:pt idx="7">
                  <c:v>0</c:v>
                </c:pt>
                <c:pt idx="8">
                  <c:v>0</c:v>
                </c:pt>
                <c:pt idx="9">
                  <c:v>0</c:v>
                </c:pt>
                <c:pt idx="10">
                  <c:v>0</c:v>
                </c:pt>
                <c:pt idx="11">
                  <c:v>0</c:v>
                </c:pt>
                <c:pt idx="12">
                  <c:v>0</c:v>
                </c:pt>
                <c:pt idx="13">
                  <c:v>-1</c:v>
                </c:pt>
                <c:pt idx="14">
                  <c:v>0</c:v>
                </c:pt>
                <c:pt idx="15">
                  <c:v>0</c:v>
                </c:pt>
                <c:pt idx="16">
                  <c:v>0</c:v>
                </c:pt>
                <c:pt idx="17">
                  <c:v>0</c:v>
                </c:pt>
                <c:pt idx="18">
                  <c:v>0</c:v>
                </c:pt>
                <c:pt idx="19">
                  <c:v>-1</c:v>
                </c:pt>
                <c:pt idx="20">
                  <c:v>-1</c:v>
                </c:pt>
                <c:pt idx="21">
                  <c:v>-1</c:v>
                </c:pt>
                <c:pt idx="22">
                  <c:v>0</c:v>
                </c:pt>
                <c:pt idx="23">
                  <c:v>0</c:v>
                </c:pt>
                <c:pt idx="24">
                  <c:v>0</c:v>
                </c:pt>
                <c:pt idx="25">
                  <c:v>0</c:v>
                </c:pt>
                <c:pt idx="26">
                  <c:v>0</c:v>
                </c:pt>
                <c:pt idx="27">
                  <c:v>0</c:v>
                </c:pt>
                <c:pt idx="28">
                  <c:v>0</c:v>
                </c:pt>
                <c:pt idx="29">
                  <c:v>0</c:v>
                </c:pt>
                <c:pt idx="30">
                  <c:v>0</c:v>
                </c:pt>
                <c:pt idx="31">
                  <c:v>0</c:v>
                </c:pt>
                <c:pt idx="32">
                  <c:v>-1</c:v>
                </c:pt>
                <c:pt idx="33">
                  <c:v>0</c:v>
                </c:pt>
                <c:pt idx="34">
                  <c:v>-1</c:v>
                </c:pt>
                <c:pt idx="35">
                  <c:v>0</c:v>
                </c:pt>
                <c:pt idx="36">
                  <c:v>-1</c:v>
                </c:pt>
                <c:pt idx="37">
                  <c:v>0</c:v>
                </c:pt>
                <c:pt idx="38">
                  <c:v>-1</c:v>
                </c:pt>
                <c:pt idx="39">
                  <c:v>0</c:v>
                </c:pt>
                <c:pt idx="40">
                  <c:v>0</c:v>
                </c:pt>
                <c:pt idx="41">
                  <c:v>-1</c:v>
                </c:pt>
                <c:pt idx="42">
                  <c:v>0</c:v>
                </c:pt>
                <c:pt idx="43">
                  <c:v>0</c:v>
                </c:pt>
                <c:pt idx="44">
                  <c:v>-1</c:v>
                </c:pt>
                <c:pt idx="45">
                  <c:v>0</c:v>
                </c:pt>
                <c:pt idx="46">
                  <c:v>0</c:v>
                </c:pt>
                <c:pt idx="47">
                  <c:v>0</c:v>
                </c:pt>
                <c:pt idx="48">
                  <c:v>0</c:v>
                </c:pt>
                <c:pt idx="49">
                  <c:v>-1</c:v>
                </c:pt>
                <c:pt idx="50">
                  <c:v>0</c:v>
                </c:pt>
                <c:pt idx="51">
                  <c:v>0</c:v>
                </c:pt>
                <c:pt idx="52">
                  <c:v>0</c:v>
                </c:pt>
                <c:pt idx="53">
                  <c:v>0</c:v>
                </c:pt>
                <c:pt idx="54">
                  <c:v>0</c:v>
                </c:pt>
                <c:pt idx="55">
                  <c:v>0</c:v>
                </c:pt>
                <c:pt idx="56">
                  <c:v>0</c:v>
                </c:pt>
                <c:pt idx="57">
                  <c:v>0</c:v>
                </c:pt>
                <c:pt idx="58">
                  <c:v>-1</c:v>
                </c:pt>
                <c:pt idx="59">
                  <c:v>-1</c:v>
                </c:pt>
                <c:pt idx="60">
                  <c:v>-1</c:v>
                </c:pt>
                <c:pt idx="61">
                  <c:v>-1</c:v>
                </c:pt>
                <c:pt idx="62">
                  <c:v>-1</c:v>
                </c:pt>
                <c:pt idx="63">
                  <c:v>0</c:v>
                </c:pt>
                <c:pt idx="64">
                  <c:v>0</c:v>
                </c:pt>
                <c:pt idx="65">
                  <c:v>-1</c:v>
                </c:pt>
                <c:pt idx="66">
                  <c:v>-1</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-1</c:v>
                </c:pt>
                <c:pt idx="96">
                  <c:v>-1</c:v>
                </c:pt>
                <c:pt idx="97">
                  <c:v>-1</c:v>
                </c:pt>
                <c:pt idx="98">
                  <c:v>0</c:v>
                </c:pt>
                <c:pt idx="99">
                  <c:v>0</c:v>
                </c:pt>
                <c:pt idx="100">
                  <c:v>-1</c:v>
                </c:pt>
                <c:pt idx="101">
                  <c:v>0</c:v>
                </c:pt>
                <c:pt idx="102">
                  <c:v>0</c:v>
                </c:pt>
                <c:pt idx="103">
                  <c:v>0</c:v>
                </c:pt>
                <c:pt idx="104">
                  <c:v>0</c:v>
                </c:pt>
                <c:pt idx="105">
                  <c:v>0</c:v>
                </c:pt>
              </c:numCache>
            </c:numRef>
          </c:val>
        </c:ser>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gapWidth val="20"/>
        <c:overlap val="100"/>
        <c:axId val="2094734554"/>
        <c:axId val="2094734552"/>
        <c:axId val="2094734556"/>
      </c:barChart>
      <c:lineChart>
        <c:varyColors val="0"/>
        <c:ser>
          <c:idx val="2"/>
          <c:order val="2"/>
          <c:tx>
            <c:strRef>
              <c:f>Sheet1!$D$1</c:f>
              <c:strCache>
                <c:ptCount val="1"/>
                <c:pt idx="0">
                  <c:v>Model lean, P(up) minus P(down)</c:v>
                </c:pt>
              </c:strCache>
            </c:strRef>
          </c:tx>
          <c:spPr>
            <a:solidFill>
              <a:srgbClr val="1F2D4A"/>
            </a:solidFill>
            <a:ln w="25400" cap="flat">
              <a:solidFill>
                <a:srgbClr val="1F2D4A"/>
              </a:solidFill>
              <a:prstDash val="solid"/>
              <a:round/>
            </a:ln>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c:symbol val="none"/>
            <c:size val="6"/>
            <c:spPr>
              <a:solidFill>
                <a:srgbClr val="1F2D4A"/>
              </a:solidFill>
              <a:ln w="9525" cap="flat">
                <a:solidFill>
                  <a:srgbClr val="1F2D4A"/>
                </a:solidFill>
                <a:prstDash val="solid"/>
                <a:round/>
              </a:ln>
              <a:effectLst/>
            </c:spPr>
          </c:marker>
          <c:cat>
            <c:multiLvlStrRef>
              <c:f>Sheet1!$A$2:$A$107</c:f>
              <c:multiLvlStrCache>
                <c:ptCount val="106"/>
                <c:lvl>
                  <c:pt idx="0">
                    <c:v>2010</c:v>
                  </c:pt>
                  <c:pt idx="1">
                    <c:v>2010</c:v>
                  </c:pt>
                  <c:pt idx="2">
                    <c:v>2010</c:v>
                  </c:pt>
                  <c:pt idx="3">
                    <c:v>2011</c:v>
                  </c:pt>
                  <c:pt idx="4">
                    <c:v>2011</c:v>
                  </c:pt>
                  <c:pt idx="5">
                    <c:v>2011</c:v>
                  </c:pt>
                  <c:pt idx="6">
                    <c:v>2011</c:v>
                  </c:pt>
                  <c:pt idx="7">
                    <c:v>2011</c:v>
                  </c:pt>
                  <c:pt idx="8">
                    <c:v>2011</c:v>
                  </c:pt>
                  <c:pt idx="9">
                    <c:v>2011</c:v>
                  </c:pt>
                  <c:pt idx="10">
                    <c:v>2011</c:v>
                  </c:pt>
                  <c:pt idx="11">
                    <c:v>2012</c:v>
                  </c:pt>
                  <c:pt idx="12">
                    <c:v>2012</c:v>
                  </c:pt>
                  <c:pt idx="13">
                    <c:v>2012</c:v>
                  </c:pt>
                  <c:pt idx="14">
                    <c:v>2012</c:v>
                  </c:pt>
                  <c:pt idx="15">
                    <c:v>2012</c:v>
                  </c:pt>
                  <c:pt idx="16">
                    <c:v>2012</c:v>
                  </c:pt>
                  <c:pt idx="17">
                    <c:v>2012</c:v>
                  </c:pt>
                  <c:pt idx="18">
                    <c:v>2012</c:v>
                  </c:pt>
                  <c:pt idx="19">
                    <c:v>2013</c:v>
                  </c:pt>
                  <c:pt idx="20">
                    <c:v>2013</c:v>
                  </c:pt>
                  <c:pt idx="21">
                    <c:v>2013</c:v>
                  </c:pt>
                  <c:pt idx="22">
                    <c:v>2013</c:v>
                  </c:pt>
                  <c:pt idx="23">
                    <c:v>2013</c:v>
                  </c:pt>
                  <c:pt idx="24">
                    <c:v>2013</c:v>
                  </c:pt>
                  <c:pt idx="25">
                    <c:v>2013</c:v>
                  </c:pt>
                  <c:pt idx="26">
                    <c:v>2013</c:v>
                  </c:pt>
                  <c:pt idx="27">
                    <c:v>2014</c:v>
                  </c:pt>
                  <c:pt idx="28">
                    <c:v>2014</c:v>
                  </c:pt>
                  <c:pt idx="29">
                    <c:v>2014</c:v>
                  </c:pt>
                  <c:pt idx="30">
                    <c:v>2014</c:v>
                  </c:pt>
                  <c:pt idx="31">
                    <c:v>2014</c:v>
                  </c:pt>
                  <c:pt idx="32">
                    <c:v>2015</c:v>
                  </c:pt>
                  <c:pt idx="33">
                    <c:v>2015</c:v>
                  </c:pt>
                  <c:pt idx="34">
                    <c:v>2015</c:v>
                  </c:pt>
                  <c:pt idx="35">
                    <c:v>2015</c:v>
                  </c:pt>
                  <c:pt idx="36">
                    <c:v>2015</c:v>
                  </c:pt>
                  <c:pt idx="37">
                    <c:v>2015</c:v>
                  </c:pt>
                  <c:pt idx="38">
                    <c:v>2015</c:v>
                  </c:pt>
                  <c:pt idx="39">
                    <c:v>2015</c:v>
                  </c:pt>
                  <c:pt idx="40">
                    <c:v>2016</c:v>
                  </c:pt>
                  <c:pt idx="41">
                    <c:v>2016</c:v>
                  </c:pt>
                  <c:pt idx="42">
                    <c:v>2016</c:v>
                  </c:pt>
                  <c:pt idx="43">
                    <c:v>2016</c:v>
                  </c:pt>
                  <c:pt idx="44">
                    <c:v>2016</c:v>
                  </c:pt>
                  <c:pt idx="45">
                    <c:v>2016</c:v>
                  </c:pt>
                  <c:pt idx="46">
                    <c:v>2017</c:v>
                  </c:pt>
                  <c:pt idx="47">
                    <c:v>2017</c:v>
                  </c:pt>
                  <c:pt idx="48">
                    <c:v>2017</c:v>
                  </c:pt>
                  <c:pt idx="49">
                    <c:v>2017</c:v>
                  </c:pt>
                  <c:pt idx="50">
                    <c:v>2017</c:v>
                  </c:pt>
                  <c:pt idx="51">
                    <c:v>2017</c:v>
                  </c:pt>
                  <c:pt idx="52">
                    <c:v>2018</c:v>
                  </c:pt>
                  <c:pt idx="53">
                    <c:v>2018</c:v>
                  </c:pt>
                  <c:pt idx="54">
                    <c:v>2018</c:v>
                  </c:pt>
                  <c:pt idx="55">
                    <c:v>2018</c:v>
                  </c:pt>
                  <c:pt idx="56">
                    <c:v>2018</c:v>
                  </c:pt>
                  <c:pt idx="57">
                    <c:v>2018</c:v>
                  </c:pt>
                  <c:pt idx="58">
                    <c:v>2019</c:v>
                  </c:pt>
                  <c:pt idx="59">
                    <c:v>2019</c:v>
                  </c:pt>
                  <c:pt idx="60">
                    <c:v>2019</c:v>
                  </c:pt>
                  <c:pt idx="61">
                    <c:v>2019</c:v>
                  </c:pt>
                  <c:pt idx="62">
                    <c:v>2019</c:v>
                  </c:pt>
                  <c:pt idx="63">
                    <c:v>2019</c:v>
                  </c:pt>
                  <c:pt idx="64">
                    <c:v>2020</c:v>
                  </c:pt>
                  <c:pt idx="65">
                    <c:v>2020</c:v>
                  </c:pt>
                  <c:pt idx="66">
                    <c:v>2020</c:v>
                  </c:pt>
                  <c:pt idx="67">
                    <c:v>2020</c:v>
                  </c:pt>
                  <c:pt idx="68">
                    <c:v>2020</c:v>
                  </c:pt>
                  <c:pt idx="69">
                    <c:v>2020</c:v>
                  </c:pt>
                  <c:pt idx="70">
                    <c:v>2021</c:v>
                  </c:pt>
                  <c:pt idx="71">
                    <c:v>2021</c:v>
                  </c:pt>
                  <c:pt idx="72">
                    <c:v>2021</c:v>
                  </c:pt>
                  <c:pt idx="73">
                    <c:v>2021</c:v>
                  </c:pt>
                  <c:pt idx="74">
                    <c:v>2021</c:v>
                  </c:pt>
                  <c:pt idx="75">
                    <c:v>2021</c:v>
                  </c:pt>
                  <c:pt idx="76">
                    <c:v>2022</c:v>
                  </c:pt>
                  <c:pt idx="77">
                    <c:v>2022</c:v>
                  </c:pt>
                  <c:pt idx="78">
                    <c:v>2022</c:v>
                  </c:pt>
                  <c:pt idx="79">
                    <c:v>2022</c:v>
                  </c:pt>
                  <c:pt idx="80">
                    <c:v>2022</c:v>
                  </c:pt>
                  <c:pt idx="81">
                    <c:v>2022</c:v>
                  </c:pt>
                  <c:pt idx="82">
                    <c:v>2022</c:v>
                  </c:pt>
                  <c:pt idx="83">
                    <c:v>2023</c:v>
                  </c:pt>
                  <c:pt idx="84">
                    <c:v>2023</c:v>
                  </c:pt>
                  <c:pt idx="85">
                    <c:v>2023</c:v>
                  </c:pt>
                  <c:pt idx="86">
                    <c:v>2023</c:v>
                  </c:pt>
                  <c:pt idx="87">
                    <c:v>2023</c:v>
                  </c:pt>
                  <c:pt idx="88">
                    <c:v>2023</c:v>
                  </c:pt>
                  <c:pt idx="89">
                    <c:v>2024</c:v>
                  </c:pt>
                  <c:pt idx="90">
                    <c:v>2024</c:v>
                  </c:pt>
                  <c:pt idx="91">
                    <c:v>2024</c:v>
                  </c:pt>
                  <c:pt idx="92">
                    <c:v>2024</c:v>
                  </c:pt>
                  <c:pt idx="93">
                    <c:v>2024</c:v>
                  </c:pt>
                  <c:pt idx="94">
                    <c:v>2024</c:v>
                  </c:pt>
                  <c:pt idx="95">
                    <c:v>2025</c:v>
                  </c:pt>
                  <c:pt idx="96">
                    <c:v>2025</c:v>
                  </c:pt>
                  <c:pt idx="97">
                    <c:v>2025</c:v>
                  </c:pt>
                  <c:pt idx="98">
                    <c:v>2025</c:v>
                  </c:pt>
                  <c:pt idx="99">
                    <c:v>2025</c:v>
                  </c:pt>
                  <c:pt idx="100">
                    <c:v>2025</c:v>
                  </c:pt>
                  <c:pt idx="101">
                    <c:v>2026</c:v>
                  </c:pt>
                  <c:pt idx="102">
                    <c:v>2026</c:v>
                  </c:pt>
                  <c:pt idx="103">
                    <c:v>2026</c:v>
                  </c:pt>
                  <c:pt idx="104">
                    <c:v>2026</c:v>
                  </c:pt>
                  <c:pt idx="105">
                    <c:v>2026</c:v>
                  </c:pt>
                </c:lvl>
              </c:multiLvlStrCache>
            </c:multiLvlStrRef>
          </c:cat>
          <c:val>
            <c:numRef>
              <c:f>Sheet1!$D$2:$D$107</c:f>
              <c:numCache>
                <c:formatCode>General</c:formatCode>
                <c:ptCount val="106"/>
                <c:pt idx="0">
                  <c:v>0.735</c:v>
                </c:pt>
                <c:pt idx="1">
                  <c:v>0.775</c:v>
                </c:pt>
                <c:pt idx="2">
                  <c:v>0.631</c:v>
                </c:pt>
                <c:pt idx="3">
                  <c:v>-0.058</c:v>
                </c:pt>
                <c:pt idx="4">
                  <c:v>0.881</c:v>
                </c:pt>
                <c:pt idx="5">
                  <c:v>0.818</c:v>
                </c:pt>
                <c:pt idx="6">
                  <c:v>0.69</c:v>
                </c:pt>
                <c:pt idx="7">
                  <c:v>0.677</c:v>
                </c:pt>
                <c:pt idx="8">
                  <c:v>0.758</c:v>
                </c:pt>
                <c:pt idx="9">
                  <c:v>0.609</c:v>
                </c:pt>
                <c:pt idx="10">
                  <c:v>0.277</c:v>
                </c:pt>
                <c:pt idx="11">
                  <c:v>-0.225</c:v>
                </c:pt>
                <c:pt idx="12">
                  <c:v>0.005</c:v>
                </c:pt>
                <c:pt idx="13">
                  <c:v>-0.034</c:v>
                </c:pt>
                <c:pt idx="14">
                  <c:v>-0.885</c:v>
                </c:pt>
                <c:pt idx="15">
                  <c:v>-0.28</c:v>
                </c:pt>
                <c:pt idx="16">
                  <c:v>0.084</c:v>
                </c:pt>
                <c:pt idx="17">
                  <c:v>0.206</c:v>
                </c:pt>
                <c:pt idx="18">
                  <c:v>0.046</c:v>
                </c:pt>
                <c:pt idx="19">
                  <c:v>0.054</c:v>
                </c:pt>
                <c:pt idx="20">
                  <c:v>-0.868</c:v>
                </c:pt>
                <c:pt idx="21">
                  <c:v>-0.928</c:v>
                </c:pt>
                <c:pt idx="22">
                  <c:v>-0.757</c:v>
                </c:pt>
                <c:pt idx="23">
                  <c:v>-0.148</c:v>
                </c:pt>
                <c:pt idx="24">
                  <c:v>-0.063</c:v>
                </c:pt>
                <c:pt idx="25">
                  <c:v>0.664</c:v>
                </c:pt>
                <c:pt idx="26">
                  <c:v>0.713</c:v>
                </c:pt>
                <c:pt idx="27">
                  <c:v>0.627</c:v>
                </c:pt>
                <c:pt idx="28">
                  <c:v>0.061</c:v>
                </c:pt>
                <c:pt idx="29">
                  <c:v>0.02</c:v>
                </c:pt>
                <c:pt idx="30">
                  <c:v>0.072</c:v>
                </c:pt>
                <c:pt idx="31">
                  <c:v>-0.031</c:v>
                </c:pt>
                <c:pt idx="32">
                  <c:v>0.268</c:v>
                </c:pt>
                <c:pt idx="33">
                  <c:v>-0.567</c:v>
                </c:pt>
                <c:pt idx="34">
                  <c:v>-0.017</c:v>
                </c:pt>
                <c:pt idx="35">
                  <c:v>-0.498</c:v>
                </c:pt>
                <c:pt idx="36">
                  <c:v>-0.05</c:v>
                </c:pt>
                <c:pt idx="37">
                  <c:v>-0.534</c:v>
                </c:pt>
                <c:pt idx="38">
                  <c:v>-0.256</c:v>
                </c:pt>
                <c:pt idx="39">
                  <c:v>-0.485</c:v>
                </c:pt>
                <c:pt idx="40">
                  <c:v>0.124</c:v>
                </c:pt>
                <c:pt idx="41">
                  <c:v>0.011</c:v>
                </c:pt>
                <c:pt idx="42">
                  <c:v>-0.319</c:v>
                </c:pt>
                <c:pt idx="43">
                  <c:v>0.139</c:v>
                </c:pt>
                <c:pt idx="44">
                  <c:v>0.112</c:v>
                </c:pt>
                <c:pt idx="45">
                  <c:v>-0.455</c:v>
                </c:pt>
                <c:pt idx="46">
                  <c:v>-0.097</c:v>
                </c:pt>
                <c:pt idx="47">
                  <c:v>-0.121</c:v>
                </c:pt>
                <c:pt idx="48">
                  <c:v>-0.077</c:v>
                </c:pt>
                <c:pt idx="49">
                  <c:v>-0.673</c:v>
                </c:pt>
                <c:pt idx="50">
                  <c:v>-0.413</c:v>
                </c:pt>
                <c:pt idx="51">
                  <c:v>-0.029</c:v>
                </c:pt>
                <c:pt idx="52">
                  <c:v>0.031</c:v>
                </c:pt>
                <c:pt idx="53">
                  <c:v>0.03</c:v>
                </c:pt>
                <c:pt idx="54">
                  <c:v>-0.069</c:v>
                </c:pt>
                <c:pt idx="55">
                  <c:v>0.502</c:v>
                </c:pt>
                <c:pt idx="56">
                  <c:v>0.285</c:v>
                </c:pt>
                <c:pt idx="57">
                  <c:v>-0.238</c:v>
                </c:pt>
                <c:pt idx="58">
                  <c:v>-0.117</c:v>
                </c:pt>
                <c:pt idx="59">
                  <c:v>-0.544</c:v>
                </c:pt>
                <c:pt idx="60">
                  <c:v>-0.505</c:v>
                </c:pt>
                <c:pt idx="61">
                  <c:v>-0.498</c:v>
                </c:pt>
                <c:pt idx="62">
                  <c:v>-0.454</c:v>
                </c:pt>
                <c:pt idx="63">
                  <c:v>-0.515</c:v>
                </c:pt>
                <c:pt idx="64">
                  <c:v>0.002</c:v>
                </c:pt>
                <c:pt idx="65">
                  <c:v>0.179</c:v>
                </c:pt>
                <c:pt idx="66">
                  <c:v>-0.478</c:v>
                </c:pt>
                <c:pt idx="67">
                  <c:v>-0.995</c:v>
                </c:pt>
                <c:pt idx="68">
                  <c:v>-0.027</c:v>
                </c:pt>
                <c:pt idx="69">
                  <c:v>0.06</c:v>
                </c:pt>
                <c:pt idx="70">
                  <c:v>-0.096</c:v>
                </c:pt>
                <c:pt idx="71">
                  <c:v>-0.029</c:v>
                </c:pt>
                <c:pt idx="72">
                  <c:v>-0.075</c:v>
                </c:pt>
                <c:pt idx="73">
                  <c:v>0.69</c:v>
                </c:pt>
                <c:pt idx="74">
                  <c:v>-0.031</c:v>
                </c:pt>
                <c:pt idx="75">
                  <c:v>-0.1</c:v>
                </c:pt>
                <c:pt idx="76">
                  <c:v>-0.078</c:v>
                </c:pt>
                <c:pt idx="77">
                  <c:v>0.012</c:v>
                </c:pt>
                <c:pt idx="78">
                  <c:v>0.417</c:v>
                </c:pt>
                <c:pt idx="79">
                  <c:v>0.839</c:v>
                </c:pt>
                <c:pt idx="80">
                  <c:v>0.72</c:v>
                </c:pt>
                <c:pt idx="81">
                  <c:v>0.484</c:v>
                </c:pt>
                <c:pt idx="82">
                  <c:v>0.442</c:v>
                </c:pt>
                <c:pt idx="83">
                  <c:v>0.384</c:v>
                </c:pt>
                <c:pt idx="84">
                  <c:v>0.448</c:v>
                </c:pt>
                <c:pt idx="85">
                  <c:v>-0.35</c:v>
                </c:pt>
                <c:pt idx="86">
                  <c:v>-0.121</c:v>
                </c:pt>
                <c:pt idx="87">
                  <c:v>-0.004</c:v>
                </c:pt>
                <c:pt idx="88">
                  <c:v>-0.095</c:v>
                </c:pt>
                <c:pt idx="89">
                  <c:v>0.004</c:v>
                </c:pt>
                <c:pt idx="90">
                  <c:v>-0.05</c:v>
                </c:pt>
                <c:pt idx="91">
                  <c:v>-0.144</c:v>
                </c:pt>
                <c:pt idx="92">
                  <c:v>-0.015</c:v>
                </c:pt>
                <c:pt idx="93">
                  <c:v>-0.079</c:v>
                </c:pt>
                <c:pt idx="94">
                  <c:v>-0.001</c:v>
                </c:pt>
                <c:pt idx="95">
                  <c:v>0.013</c:v>
                </c:pt>
                <c:pt idx="96">
                  <c:v>-0.556</c:v>
                </c:pt>
                <c:pt idx="97">
                  <c:v>-0.501</c:v>
                </c:pt>
                <c:pt idx="98">
                  <c:v>-0.698</c:v>
                </c:pt>
                <c:pt idx="99">
                  <c:v>-0.252</c:v>
                </c:pt>
                <c:pt idx="100">
                  <c:v>-0.474</c:v>
                </c:pt>
                <c:pt idx="101">
                  <c:v>-0.691</c:v>
                </c:pt>
                <c:pt idx="102">
                  <c:v>-0.018</c:v>
                </c:pt>
                <c:pt idx="103">
                  <c:v>-0.168</c:v>
                </c:pt>
                <c:pt idx="104">
                  <c:v>0.211</c:v>
                </c:pt>
                <c:pt idx="105">
                  <c:v>-0.133</c:v>
                </c:pt>
              </c:numCache>
            </c:numRef>
          </c:val>
          <c:smooth val="0"/>
        </c:ser>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1B1F2A"/>
                </a:solidFill>
                <a:latin typeface="+mn-lt"/>
              </a:defRPr>
            </a:pPr>
            <a:endParaRPr lang="en-US"/>
          </a:p>
        </c:txPr>
        <c:crossAx val="2094734552"/>
        <c:crosses val="autoZero"/>
        <c:auto val="1"/>
        <c:lblAlgn val="ctr"/>
        <c:noMultiLvlLbl val="1"/>
        <c:tickLblSkip val="14"/>
      </c:catAx>
      <c:valAx>
        <c:axId val="2094734552"/>
        <c:scaling>
          <c:orientation val="minMax"/>
          <c:max val="1"/>
          <c:min val="-1"/>
        </c:scaling>
        <c:delete val="0"/>
        <c:axPos val="l"/>
        <c:majorGridlines>
          <c:spPr>
            <a:ln w="6350" cap="flat">
              <a:solidFill>
                <a:srgbClr val="D9DCE1"/>
              </a:solidFill>
              <a:prstDash val="solid"/>
              <a:round/>
            </a:ln>
          </c:spPr>
        </c:majorGridlines>
        <c:numFmt formatCode="0.0;&quot;minus &quot;0.0" sourceLinked="0"/>
        <c:majorTickMark val="out"/>
        <c:minorTickMark val="none"/>
        <c:tickLblPos val="nextTo"/>
        <c:spPr>
          <a:ln w="12700" cap="flat">
            <a:noFill/>
            <a:prstDash val="solid"/>
            <a:round/>
          </a:ln>
        </c:spPr>
        <c:txPr>
          <a:bodyPr/>
          <a:lstStyle/>
          <a:p>
            <a:pPr>
              <a:defRPr sz="1000" b="0" i="0" u="none" strike="noStrike">
                <a:solidFill>
                  <a:srgbClr val="8A8F98"/>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950">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Balanced accuracy at each stage</a:t>
            </a:r>
          </a:p>
        </c:rich>
      </c:tx>
      <c:layout/>
      <c:overlay val="0"/>
    </c:title>
    <c:autoTitleDeleted val="0"/>
    <c:plotArea>
      <c:layout/>
      <c:barChart>
        <c:barDir val="col"/>
        <c:grouping val="clustered"/>
        <c:varyColors val="0"/>
        <c:ser>
          <c:idx val="0"/>
          <c:order val="0"/>
          <c:tx>
            <c:strRef>
              <c:f>Sheet1!$B$1</c:f>
              <c:strCache>
                <c:ptCount val="1"/>
                <c:pt idx="0">
                  <c:v>In sample</c:v>
                </c:pt>
              </c:strCache>
            </c:strRef>
          </c:tx>
          <c:spPr>
            <a:solidFill>
              <a:srgbClr val="BFC4CC"/>
            </a:solidFill>
            <a:effectLst/>
          </c:spPr>
          <c:invertIfNegative val="0"/>
          <c:dLbls>
            <c:numFmt formatCode="0.00" sourceLinked="0"/>
            <c:txPr>
              <a:bodyPr/>
              <a:lstStyle/>
              <a:p>
                <a:pPr>
                  <a:defRPr b="0" i="0" strike="noStrike" sz="9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India probit</c:v>
                  </c:pt>
                  <c:pt idx="1">
                    <c:v>Nepal rise</c:v>
                  </c:pt>
                  <c:pt idx="2">
                    <c:v>Nepal fall</c:v>
                  </c:pt>
                </c:lvl>
              </c:multiLvlStrCache>
            </c:multiLvlStrRef>
          </c:cat>
          <c:val>
            <c:numRef>
              <c:f>Sheet1!$B$2:$B$4</c:f>
              <c:numCache>
                <c:formatCode>General</c:formatCode>
                <c:ptCount val="3"/>
                <c:pt idx="0">
                  <c:v>0.598</c:v>
                </c:pt>
                <c:pt idx="1">
                  <c:v>0.735</c:v>
                </c:pt>
                <c:pt idx="2">
                  <c:v>0.751</c:v>
                </c:pt>
              </c:numCache>
            </c:numRef>
          </c:val>
        </c:ser>
        <c:ser>
          <c:idx val="1"/>
          <c:order val="1"/>
          <c:tx>
            <c:strRef>
              <c:f>Sheet1!$C$1</c:f>
              <c:strCache>
                <c:ptCount val="1"/>
                <c:pt idx="0">
                  <c:v>Walk forward, training years</c:v>
                </c:pt>
              </c:strCache>
            </c:strRef>
          </c:tx>
          <c:spPr>
            <a:solidFill>
              <a:srgbClr val="8A8F98"/>
            </a:solidFill>
            <a:effectLst/>
          </c:spPr>
          <c:invertIfNegative val="0"/>
          <c:dLbls>
            <c:numFmt formatCode="0.00" sourceLinked="0"/>
            <c:txPr>
              <a:bodyPr/>
              <a:lstStyle/>
              <a:p>
                <a:pPr>
                  <a:defRPr b="0" i="0" strike="noStrike" sz="9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India probit</c:v>
                  </c:pt>
                  <c:pt idx="1">
                    <c:v>Nepal rise</c:v>
                  </c:pt>
                  <c:pt idx="2">
                    <c:v>Nepal fall</c:v>
                  </c:pt>
                </c:lvl>
              </c:multiLvlStrCache>
            </c:multiLvlStrRef>
          </c:cat>
          <c:val>
            <c:numRef>
              <c:f>Sheet1!$C$2:$C$4</c:f>
              <c:numCache>
                <c:formatCode>General</c:formatCode>
                <c:ptCount val="3"/>
                <c:pt idx="0">
                  <c:v>0.639</c:v>
                </c:pt>
                <c:pt idx="1">
                  <c:v>0.64</c:v>
                </c:pt>
                <c:pt idx="2">
                  <c:v>0.727</c:v>
                </c:pt>
              </c:numCache>
            </c:numRef>
          </c:val>
        </c:ser>
        <c:ser>
          <c:idx val="2"/>
          <c:order val="2"/>
          <c:tx>
            <c:strRef>
              <c:f>Sheet1!$D$1</c:f>
              <c:strCache>
                <c:ptCount val="1"/>
                <c:pt idx="0">
                  <c:v>Unseen 2021 to 2026</c:v>
                </c:pt>
              </c:strCache>
            </c:strRef>
          </c:tx>
          <c:spPr>
            <a:solidFill>
              <a:srgbClr val="1F2D4A"/>
            </a:solidFill>
            <a:effectLst/>
          </c:spPr>
          <c:invertIfNegative val="0"/>
          <c:dLbls>
            <c:numFmt formatCode="0.00" sourceLinked="0"/>
            <c:txPr>
              <a:bodyPr/>
              <a:lstStyle/>
              <a:p>
                <a:pPr>
                  <a:defRPr b="0" i="0" strike="noStrike" sz="9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India probit</c:v>
                  </c:pt>
                  <c:pt idx="1">
                    <c:v>Nepal rise</c:v>
                  </c:pt>
                  <c:pt idx="2">
                    <c:v>Nepal fall</c:v>
                  </c:pt>
                </c:lvl>
              </c:multiLvlStrCache>
            </c:multiLvlStrRef>
          </c:cat>
          <c:val>
            <c:numRef>
              <c:f>Sheet1!$D$2:$D$4</c:f>
              <c:numCache>
                <c:formatCode>General</c:formatCode>
                <c:ptCount val="3"/>
                <c:pt idx="0">
                  <c:v>0.693</c:v>
                </c:pt>
                <c:pt idx="1">
                  <c:v>0.669</c:v>
                </c:pt>
                <c:pt idx="2">
                  <c:v>0.53</c:v>
                </c:pt>
              </c:numCache>
            </c:numRef>
          </c:val>
        </c:ser>
        <c:dLbls>
          <c:numFmt formatCode="0.00" sourceLinked="0"/>
          <c:txPr>
            <a:bodyPr/>
            <a:lstStyle/>
            <a:p>
              <a:pPr>
                <a:defRPr b="0" i="0" strike="noStrike" sz="900" u="none">
                  <a:solidFill>
                    <a:srgbClr val="1B1F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0.9"/>
          <c:min val="0"/>
        </c:scaling>
        <c:delete val="1"/>
        <c:axPos val="l"/>
        <c:majorGridlines>
          <c:spPr>
            <a:ln w="6350" cap="flat">
              <a:solidFill>
                <a:srgbClr val="D9DCE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8A8F9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Probability of each repo level after the April 2027 meeting</a:t>
            </a:r>
          </a:p>
        </c:rich>
      </c:tx>
      <c:layout/>
      <c:overlay val="0"/>
    </c:title>
    <c:autoTitleDeleted val="0"/>
    <c:plotArea>
      <c:layout/>
      <c:barChart>
        <c:barDir val="col"/>
        <c:grouping val="clustered"/>
        <c:varyColors val="0"/>
        <c:ser>
          <c:idx val="0"/>
          <c:order val="0"/>
          <c:tx>
            <c:strRef>
              <c:f>Sheet1!$B$1</c:f>
              <c:strCache>
                <c:ptCount val="1"/>
                <c:pt idx="0">
                  <c:v>Easing tensions</c:v>
                </c:pt>
              </c:strCache>
            </c:strRef>
          </c:tx>
          <c:spPr>
            <a:solidFill>
              <a:srgbClr val="9DB9DE"/>
            </a:solidFill>
            <a:effectLst/>
          </c:spPr>
          <c:invertIfNegative val="0"/>
          <c:dLbls>
            <c:numFmt formatCode="0.00" sourceLinked="0"/>
            <c:txPr>
              <a:bodyPr/>
              <a:lstStyle/>
              <a:p>
                <a:pPr>
                  <a:defRPr b="0" i="0" strike="noStrike" sz="900" u="none">
                    <a:solidFill>
                      <a:srgbClr val="1B1F2A"/>
                    </a:solidFill>
                    <a:latin typeface="+mn-lt"/>
                  </a:defRPr>
                </a:pPr>
              </a:p>
            </c:txPr>
            <c:showLegendKey val="0"/>
            <c:showVal val="1"/>
            <c:showCatName val="0"/>
            <c:showSerName val="0"/>
            <c:showPercent val="0"/>
            <c:showBubbleSize val="0"/>
            <c:showLeaderLines val="0"/>
          </c:dLbls>
          <c:cat>
            <c:multiLvlStrRef>
              <c:f>Sheet1!$A$2:$A$6</c:f>
              <c:multiLvlStrCache>
                <c:ptCount val="5"/>
                <c:lvl>
                  <c:pt idx="0">
                    <c:v>5.25 or lower</c:v>
                  </c:pt>
                  <c:pt idx="1">
                    <c:v>5.50</c:v>
                  </c:pt>
                  <c:pt idx="2">
                    <c:v>5.75</c:v>
                  </c:pt>
                  <c:pt idx="3">
                    <c:v>6.00</c:v>
                  </c:pt>
                  <c:pt idx="4">
                    <c:v>6.25</c:v>
                  </c:pt>
                </c:lvl>
              </c:multiLvlStrCache>
            </c:multiLvlStrRef>
          </c:cat>
          <c:val>
            <c:numRef>
              <c:f>Sheet1!$B$2:$B$6</c:f>
              <c:numCache>
                <c:formatCode>General</c:formatCode>
                <c:ptCount val="5"/>
                <c:pt idx="0">
                  <c:v>0.20800000000000002</c:v>
                </c:pt>
                <c:pt idx="1">
                  <c:v>0.273</c:v>
                </c:pt>
                <c:pt idx="2">
                  <c:v>0.304</c:v>
                </c:pt>
                <c:pt idx="3">
                  <c:v>0.141</c:v>
                </c:pt>
                <c:pt idx="4">
                  <c:v>0.074</c:v>
                </c:pt>
              </c:numCache>
            </c:numRef>
          </c:val>
        </c:ser>
        <c:ser>
          <c:idx val="1"/>
          <c:order val="1"/>
          <c:tx>
            <c:strRef>
              <c:f>Sheet1!$C$1</c:f>
              <c:strCache>
                <c:ptCount val="1"/>
                <c:pt idx="0">
                  <c:v>Premium persists</c:v>
                </c:pt>
              </c:strCache>
            </c:strRef>
          </c:tx>
          <c:spPr>
            <a:solidFill>
              <a:srgbClr val="8A8F98"/>
            </a:solidFill>
            <a:effectLst/>
          </c:spPr>
          <c:invertIfNegative val="0"/>
          <c:dLbls>
            <c:numFmt formatCode="0.00" sourceLinked="0"/>
            <c:txPr>
              <a:bodyPr/>
              <a:lstStyle/>
              <a:p>
                <a:pPr>
                  <a:defRPr b="0" i="0" strike="noStrike" sz="900" u="none">
                    <a:solidFill>
                      <a:srgbClr val="1B1F2A"/>
                    </a:solidFill>
                    <a:latin typeface="+mn-lt"/>
                  </a:defRPr>
                </a:pPr>
              </a:p>
            </c:txPr>
            <c:showLegendKey val="0"/>
            <c:showVal val="1"/>
            <c:showCatName val="0"/>
            <c:showSerName val="0"/>
            <c:showPercent val="0"/>
            <c:showBubbleSize val="0"/>
            <c:showLeaderLines val="0"/>
          </c:dLbls>
          <c:cat>
            <c:multiLvlStrRef>
              <c:f>Sheet1!$A$2:$A$6</c:f>
              <c:multiLvlStrCache>
                <c:ptCount val="5"/>
                <c:lvl>
                  <c:pt idx="0">
                    <c:v>5.25 or lower</c:v>
                  </c:pt>
                  <c:pt idx="1">
                    <c:v>5.50</c:v>
                  </c:pt>
                  <c:pt idx="2">
                    <c:v>5.75</c:v>
                  </c:pt>
                  <c:pt idx="3">
                    <c:v>6.00</c:v>
                  </c:pt>
                  <c:pt idx="4">
                    <c:v>6.25</c:v>
                  </c:pt>
                </c:lvl>
              </c:multiLvlStrCache>
            </c:multiLvlStrRef>
          </c:cat>
          <c:val>
            <c:numRef>
              <c:f>Sheet1!$C$2:$C$6</c:f>
              <c:numCache>
                <c:formatCode>General</c:formatCode>
                <c:ptCount val="5"/>
                <c:pt idx="0">
                  <c:v>0.138</c:v>
                </c:pt>
                <c:pt idx="1">
                  <c:v>0.269</c:v>
                </c:pt>
                <c:pt idx="2">
                  <c:v>0.262</c:v>
                </c:pt>
                <c:pt idx="3">
                  <c:v>0.212</c:v>
                </c:pt>
                <c:pt idx="4">
                  <c:v>0.119</c:v>
                </c:pt>
              </c:numCache>
            </c:numRef>
          </c:val>
        </c:ser>
        <c:ser>
          <c:idx val="2"/>
          <c:order val="2"/>
          <c:tx>
            <c:strRef>
              <c:f>Sheet1!$D$1</c:f>
              <c:strCache>
                <c:ptCount val="1"/>
                <c:pt idx="0">
                  <c:v>Escalation</c:v>
                </c:pt>
              </c:strCache>
            </c:strRef>
          </c:tx>
          <c:spPr>
            <a:solidFill>
              <a:srgbClr val="EB6834"/>
            </a:solidFill>
            <a:effectLst/>
          </c:spPr>
          <c:invertIfNegative val="0"/>
          <c:dLbls>
            <c:numFmt formatCode="0.00" sourceLinked="0"/>
            <c:txPr>
              <a:bodyPr/>
              <a:lstStyle/>
              <a:p>
                <a:pPr>
                  <a:defRPr b="0" i="0" strike="noStrike" sz="900" u="none">
                    <a:solidFill>
                      <a:srgbClr val="1B1F2A"/>
                    </a:solidFill>
                    <a:latin typeface="+mn-lt"/>
                  </a:defRPr>
                </a:pPr>
              </a:p>
            </c:txPr>
            <c:showLegendKey val="0"/>
            <c:showVal val="1"/>
            <c:showCatName val="0"/>
            <c:showSerName val="0"/>
            <c:showPercent val="0"/>
            <c:showBubbleSize val="0"/>
            <c:showLeaderLines val="0"/>
          </c:dLbls>
          <c:cat>
            <c:multiLvlStrRef>
              <c:f>Sheet1!$A$2:$A$6</c:f>
              <c:multiLvlStrCache>
                <c:ptCount val="5"/>
                <c:lvl>
                  <c:pt idx="0">
                    <c:v>5.25 or lower</c:v>
                  </c:pt>
                  <c:pt idx="1">
                    <c:v>5.50</c:v>
                  </c:pt>
                  <c:pt idx="2">
                    <c:v>5.75</c:v>
                  </c:pt>
                  <c:pt idx="3">
                    <c:v>6.00</c:v>
                  </c:pt>
                  <c:pt idx="4">
                    <c:v>6.25</c:v>
                  </c:pt>
                </c:lvl>
              </c:multiLvlStrCache>
            </c:multiLvlStrRef>
          </c:cat>
          <c:val>
            <c:numRef>
              <c:f>Sheet1!$D$2:$D$6</c:f>
              <c:numCache>
                <c:formatCode>General</c:formatCode>
                <c:ptCount val="5"/>
                <c:pt idx="0">
                  <c:v>0.088</c:v>
                </c:pt>
                <c:pt idx="1">
                  <c:v>0.217</c:v>
                </c:pt>
                <c:pt idx="2">
                  <c:v>0.221</c:v>
                </c:pt>
                <c:pt idx="3">
                  <c:v>0.31</c:v>
                </c:pt>
                <c:pt idx="4">
                  <c:v>0.166</c:v>
                </c:pt>
              </c:numCache>
            </c:numRef>
          </c:val>
        </c:ser>
        <c:dLbls>
          <c:numFmt formatCode="0.00" sourceLinked="0"/>
          <c:txPr>
            <a:bodyPr/>
            <a:lstStyle/>
            <a:p>
              <a:pPr>
                <a:defRPr b="0" i="0" strike="noStrike" sz="900" u="none">
                  <a:solidFill>
                    <a:srgbClr val="1B1F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0.4"/>
          <c:min val="0"/>
        </c:scaling>
        <c:delete val="1"/>
        <c:axPos val="l"/>
        <c:majorGridlines>
          <c:spPr>
            <a:ln w="6350" cap="flat">
              <a:solidFill>
                <a:srgbClr val="D9DCE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8A8F9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After each RBI meeting, December 2026 to October 2028, percent</a:t>
            </a:r>
          </a:p>
        </c:rich>
      </c:tx>
      <c:layout/>
      <c:overlay val="0"/>
    </c:title>
    <c:autoTitleDeleted val="0"/>
    <c:plotArea>
      <c:layout/>
      <c:lineChart>
        <c:varyColors val="0"/>
        <c:ser>
          <c:idx val="0"/>
          <c:order val="0"/>
          <c:tx>
            <c:strRef>
              <c:f>Sheet1!$B$1</c:f>
              <c:strCache>
                <c:ptCount val="1"/>
                <c:pt idx="0">
                  <c:v>RBI repo, expected</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c:symbol val="circle"/>
            <c:size val="4"/>
            <c:spPr>
              <a:solidFill>
                <a:srgbClr val="EB6834"/>
              </a:solidFill>
              <a:ln w="9525" cap="flat">
                <a:solidFill>
                  <a:srgbClr val="EB6834"/>
                </a:solidFill>
                <a:prstDash val="solid"/>
                <a:round/>
              </a:ln>
              <a:effectLst/>
            </c:spPr>
          </c:marker>
          <c:cat>
            <c:multiLvlStrRef>
              <c:f>Sheet1!$A$2:$A$13</c:f>
              <c:multiLvlStrCache>
                <c:ptCount val="12"/>
                <c:lvl>
                  <c:pt idx="0">
                    <c:v>Dec 26</c:v>
                  </c:pt>
                  <c:pt idx="1">
                    <c:v>Feb 27</c:v>
                  </c:pt>
                  <c:pt idx="2">
                    <c:v>Apr 27</c:v>
                  </c:pt>
                  <c:pt idx="3">
                    <c:v>Jun 27</c:v>
                  </c:pt>
                  <c:pt idx="4">
                    <c:v>Aug 27</c:v>
                  </c:pt>
                  <c:pt idx="5">
                    <c:v>Oct 27</c:v>
                  </c:pt>
                  <c:pt idx="6">
                    <c:v>Dec 27</c:v>
                  </c:pt>
                  <c:pt idx="7">
                    <c:v>Feb 28</c:v>
                  </c:pt>
                  <c:pt idx="8">
                    <c:v>Apr 28</c:v>
                  </c:pt>
                  <c:pt idx="9">
                    <c:v>Jun 28</c:v>
                  </c:pt>
                  <c:pt idx="10">
                    <c:v>Aug 28</c:v>
                  </c:pt>
                  <c:pt idx="11">
                    <c:v>Oct 28</c:v>
                  </c:pt>
                </c:lvl>
              </c:multiLvlStrCache>
            </c:multiLvlStrRef>
          </c:cat>
          <c:val>
            <c:numRef>
              <c:f>Sheet1!$B$2:$B$13</c:f>
              <c:numCache>
                <c:formatCode>General</c:formatCode>
                <c:ptCount val="12"/>
                <c:pt idx="0">
                  <c:v>5.64</c:v>
                </c:pt>
                <c:pt idx="1">
                  <c:v>5.71</c:v>
                </c:pt>
                <c:pt idx="2">
                  <c:v>5.71</c:v>
                </c:pt>
                <c:pt idx="3">
                  <c:v>5.63</c:v>
                </c:pt>
                <c:pt idx="4">
                  <c:v>5.54</c:v>
                </c:pt>
                <c:pt idx="5">
                  <c:v>5.47</c:v>
                </c:pt>
                <c:pt idx="6">
                  <c:v>5.42</c:v>
                </c:pt>
                <c:pt idx="7">
                  <c:v>5.38</c:v>
                </c:pt>
                <c:pt idx="8">
                  <c:v>5.34</c:v>
                </c:pt>
                <c:pt idx="9">
                  <c:v>5.31</c:v>
                </c:pt>
                <c:pt idx="10">
                  <c:v>5.28</c:v>
                </c:pt>
                <c:pt idx="11">
                  <c:v>5.24</c:v>
                </c:pt>
              </c:numCache>
            </c:numRef>
          </c:val>
          <c:smooth val="0"/>
        </c:ser>
        <c:ser>
          <c:idx val="1"/>
          <c:order val="1"/>
          <c:tx>
            <c:strRef>
              <c:f>Sheet1!$C$1</c:f>
              <c:strCache>
                <c:ptCount val="1"/>
                <c:pt idx="0">
                  <c:v>RBI repo, 90 percent bound</c:v>
                </c:pt>
              </c:strCache>
            </c:strRef>
          </c:tx>
          <c:spPr>
            <a:solidFill>
              <a:srgbClr val="F4B08E"/>
            </a:solidFill>
            <a:ln w="25400" cap="flat">
              <a:solidFill>
                <a:srgbClr val="F4B08E"/>
              </a:solidFill>
              <a:prstDash val="solid"/>
              <a:round/>
            </a:ln>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c:symbol val="circle"/>
            <c:size val="4"/>
            <c:spPr>
              <a:solidFill>
                <a:srgbClr val="F4B08E"/>
              </a:solidFill>
              <a:ln w="9525" cap="flat">
                <a:solidFill>
                  <a:srgbClr val="F4B08E"/>
                </a:solidFill>
                <a:prstDash val="solid"/>
                <a:round/>
              </a:ln>
              <a:effectLst/>
            </c:spPr>
          </c:marker>
          <c:cat>
            <c:multiLvlStrRef>
              <c:f>Sheet1!$A$2:$A$13</c:f>
              <c:multiLvlStrCache>
                <c:ptCount val="12"/>
                <c:lvl>
                  <c:pt idx="0">
                    <c:v>Dec 26</c:v>
                  </c:pt>
                  <c:pt idx="1">
                    <c:v>Feb 27</c:v>
                  </c:pt>
                  <c:pt idx="2">
                    <c:v>Apr 27</c:v>
                  </c:pt>
                  <c:pt idx="3">
                    <c:v>Jun 27</c:v>
                  </c:pt>
                  <c:pt idx="4">
                    <c:v>Aug 27</c:v>
                  </c:pt>
                  <c:pt idx="5">
                    <c:v>Oct 27</c:v>
                  </c:pt>
                  <c:pt idx="6">
                    <c:v>Dec 27</c:v>
                  </c:pt>
                  <c:pt idx="7">
                    <c:v>Feb 28</c:v>
                  </c:pt>
                  <c:pt idx="8">
                    <c:v>Apr 28</c:v>
                  </c:pt>
                  <c:pt idx="9">
                    <c:v>Jun 28</c:v>
                  </c:pt>
                  <c:pt idx="10">
                    <c:v>Aug 28</c:v>
                  </c:pt>
                  <c:pt idx="11">
                    <c:v>Oct 28</c:v>
                  </c:pt>
                </c:lvl>
              </c:multiLvlStrCache>
            </c:multiLvlStrRef>
          </c:cat>
          <c:val>
            <c:numRef>
              <c:f>Sheet1!$C$2:$C$13</c:f>
              <c:numCache>
                <c:formatCode>General</c:formatCode>
                <c:ptCount val="12"/>
                <c:pt idx="0">
                  <c:v>5.75</c:v>
                </c:pt>
                <c:pt idx="1">
                  <c:v>6</c:v>
                </c:pt>
                <c:pt idx="2">
                  <c:v>6.25</c:v>
                </c:pt>
                <c:pt idx="3">
                  <c:v>6.25</c:v>
                </c:pt>
                <c:pt idx="4">
                  <c:v>6.25</c:v>
                </c:pt>
                <c:pt idx="5">
                  <c:v>6.25</c:v>
                </c:pt>
                <c:pt idx="6">
                  <c:v>6.25</c:v>
                </c:pt>
                <c:pt idx="7">
                  <c:v>6.25</c:v>
                </c:pt>
                <c:pt idx="8">
                  <c:v>6.25</c:v>
                </c:pt>
                <c:pt idx="9">
                  <c:v>6.25</c:v>
                </c:pt>
                <c:pt idx="10">
                  <c:v>6.25</c:v>
                </c:pt>
                <c:pt idx="11">
                  <c:v>6.25</c:v>
                </c:pt>
              </c:numCache>
            </c:numRef>
          </c:val>
          <c:smooth val="0"/>
        </c:ser>
        <c:ser>
          <c:idx val="2"/>
          <c:order val="2"/>
          <c:tx>
            <c:strRef>
              <c:f>Sheet1!$D$1</c:f>
              <c:strCache>
                <c:ptCount val="1"/>
                <c:pt idx="0">
                  <c:v>RBI repo, 10 percent bound</c:v>
                </c:pt>
              </c:strCache>
            </c:strRef>
          </c:tx>
          <c:spPr>
            <a:solidFill>
              <a:srgbClr val="F4B08E"/>
            </a:solidFill>
            <a:ln w="25400" cap="flat">
              <a:solidFill>
                <a:srgbClr val="F4B08E"/>
              </a:solidFill>
              <a:prstDash val="solid"/>
              <a:round/>
            </a:ln>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c:symbol val="circle"/>
            <c:size val="4"/>
            <c:spPr>
              <a:solidFill>
                <a:srgbClr val="F4B08E"/>
              </a:solidFill>
              <a:ln w="9525" cap="flat">
                <a:solidFill>
                  <a:srgbClr val="F4B08E"/>
                </a:solidFill>
                <a:prstDash val="solid"/>
                <a:round/>
              </a:ln>
              <a:effectLst/>
            </c:spPr>
          </c:marker>
          <c:cat>
            <c:multiLvlStrRef>
              <c:f>Sheet1!$A$2:$A$13</c:f>
              <c:multiLvlStrCache>
                <c:ptCount val="12"/>
                <c:lvl>
                  <c:pt idx="0">
                    <c:v>Dec 26</c:v>
                  </c:pt>
                  <c:pt idx="1">
                    <c:v>Feb 27</c:v>
                  </c:pt>
                  <c:pt idx="2">
                    <c:v>Apr 27</c:v>
                  </c:pt>
                  <c:pt idx="3">
                    <c:v>Jun 27</c:v>
                  </c:pt>
                  <c:pt idx="4">
                    <c:v>Aug 27</c:v>
                  </c:pt>
                  <c:pt idx="5">
                    <c:v>Oct 27</c:v>
                  </c:pt>
                  <c:pt idx="6">
                    <c:v>Dec 27</c:v>
                  </c:pt>
                  <c:pt idx="7">
                    <c:v>Feb 28</c:v>
                  </c:pt>
                  <c:pt idx="8">
                    <c:v>Apr 28</c:v>
                  </c:pt>
                  <c:pt idx="9">
                    <c:v>Jun 28</c:v>
                  </c:pt>
                  <c:pt idx="10">
                    <c:v>Aug 28</c:v>
                  </c:pt>
                  <c:pt idx="11">
                    <c:v>Oct 28</c:v>
                  </c:pt>
                </c:lvl>
              </c:multiLvlStrCache>
            </c:multiLvlStrRef>
          </c:cat>
          <c:val>
            <c:numRef>
              <c:f>Sheet1!$D$2:$D$13</c:f>
              <c:numCache>
                <c:formatCode>General</c:formatCode>
                <c:ptCount val="12"/>
                <c:pt idx="0">
                  <c:v>5.5</c:v>
                </c:pt>
                <c:pt idx="1">
                  <c:v>5.5</c:v>
                </c:pt>
                <c:pt idx="2">
                  <c:v>5.25</c:v>
                </c:pt>
                <c:pt idx="3">
                  <c:v>5</c:v>
                </c:pt>
                <c:pt idx="4">
                  <c:v>5</c:v>
                </c:pt>
                <c:pt idx="5">
                  <c:v>4.75</c:v>
                </c:pt>
                <c:pt idx="6">
                  <c:v>4.75</c:v>
                </c:pt>
                <c:pt idx="7">
                  <c:v>4.5</c:v>
                </c:pt>
                <c:pt idx="8">
                  <c:v>4.5</c:v>
                </c:pt>
                <c:pt idx="9">
                  <c:v>4.5</c:v>
                </c:pt>
                <c:pt idx="10">
                  <c:v>4.25</c:v>
                </c:pt>
                <c:pt idx="11">
                  <c:v>4.25</c:v>
                </c:pt>
              </c:numCache>
            </c:numRef>
          </c:val>
          <c:smooth val="0"/>
        </c:ser>
        <c:ser>
          <c:idx val="3"/>
          <c:order val="3"/>
          <c:tx>
            <c:strRef>
              <c:f>Sheet1!$E$1</c:f>
              <c:strCache>
                <c:ptCount val="1"/>
                <c:pt idx="0">
                  <c:v>NRB bank rate implied</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c:symbol val="circle"/>
            <c:size val="4"/>
            <c:spPr>
              <a:solidFill>
                <a:srgbClr val="2A78D6"/>
              </a:solidFill>
              <a:ln w="9525" cap="flat">
                <a:solidFill>
                  <a:srgbClr val="2A78D6"/>
                </a:solidFill>
                <a:prstDash val="solid"/>
                <a:round/>
              </a:ln>
              <a:effectLst/>
            </c:spPr>
          </c:marker>
          <c:cat>
            <c:multiLvlStrRef>
              <c:f>Sheet1!$A$2:$A$13</c:f>
              <c:multiLvlStrCache>
                <c:ptCount val="12"/>
                <c:lvl>
                  <c:pt idx="0">
                    <c:v>Dec 26</c:v>
                  </c:pt>
                  <c:pt idx="1">
                    <c:v>Feb 27</c:v>
                  </c:pt>
                  <c:pt idx="2">
                    <c:v>Apr 27</c:v>
                  </c:pt>
                  <c:pt idx="3">
                    <c:v>Jun 27</c:v>
                  </c:pt>
                  <c:pt idx="4">
                    <c:v>Aug 27</c:v>
                  </c:pt>
                  <c:pt idx="5">
                    <c:v>Oct 27</c:v>
                  </c:pt>
                  <c:pt idx="6">
                    <c:v>Dec 27</c:v>
                  </c:pt>
                  <c:pt idx="7">
                    <c:v>Feb 28</c:v>
                  </c:pt>
                  <c:pt idx="8">
                    <c:v>Apr 28</c:v>
                  </c:pt>
                  <c:pt idx="9">
                    <c:v>Jun 28</c:v>
                  </c:pt>
                  <c:pt idx="10">
                    <c:v>Aug 28</c:v>
                  </c:pt>
                  <c:pt idx="11">
                    <c:v>Oct 28</c:v>
                  </c:pt>
                </c:lvl>
              </c:multiLvlStrCache>
            </c:multiLvlStrRef>
          </c:cat>
          <c:val>
            <c:numRef>
              <c:f>Sheet1!$E$2:$E$13</c:f>
              <c:numCache>
                <c:formatCode>General</c:formatCode>
                <c:ptCount val="12"/>
                <c:pt idx="0">
                  <c:v>5.94</c:v>
                </c:pt>
                <c:pt idx="1">
                  <c:v>5.97</c:v>
                </c:pt>
                <c:pt idx="2">
                  <c:v>5.98</c:v>
                </c:pt>
                <c:pt idx="3">
                  <c:v>5.94</c:v>
                </c:pt>
                <c:pt idx="4">
                  <c:v>5.89</c:v>
                </c:pt>
                <c:pt idx="5">
                  <c:v>5.86</c:v>
                </c:pt>
                <c:pt idx="6">
                  <c:v>5.84</c:v>
                </c:pt>
                <c:pt idx="7">
                  <c:v>5.81</c:v>
                </c:pt>
                <c:pt idx="8">
                  <c:v>5.8</c:v>
                </c:pt>
                <c:pt idx="9">
                  <c:v>5.78</c:v>
                </c:pt>
                <c:pt idx="10">
                  <c:v>5.76</c:v>
                </c:pt>
                <c:pt idx="11">
                  <c:v>5.75</c:v>
                </c:pt>
              </c:numCache>
            </c:numRef>
          </c:val>
          <c:smooth val="0"/>
        </c:ser>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1B1F2A"/>
                </a:solidFill>
                <a:latin typeface="+mn-lt"/>
              </a:defRPr>
            </a:pPr>
            <a:endParaRPr lang="en-US"/>
          </a:p>
        </c:txPr>
        <c:crossAx val="2094734552"/>
        <c:crosses val="autoZero"/>
        <c:auto val="1"/>
        <c:lblAlgn val="ctr"/>
        <c:noMultiLvlLbl val="1"/>
        <c:tickLblSkip val="2"/>
      </c:catAx>
      <c:valAx>
        <c:axId val="2094734552"/>
        <c:scaling>
          <c:orientation val="minMax"/>
          <c:max val="6.5"/>
          <c:min val="4"/>
        </c:scaling>
        <c:delete val="0"/>
        <c:axPos val="l"/>
        <c:majorGridlines>
          <c:spPr>
            <a:ln w="6350" cap="flat">
              <a:solidFill>
                <a:srgbClr val="D9DCE1"/>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8A8F98"/>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950">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Consumer price inflation over 12 months, percent, 2013 to 2026</a:t>
            </a:r>
          </a:p>
        </c:rich>
      </c:tx>
      <c:layout/>
      <c:overlay val="0"/>
    </c:title>
    <c:autoTitleDeleted val="0"/>
    <c:plotArea>
      <c:layout/>
      <c:lineChart>
        <c:varyColors val="0"/>
        <c:ser>
          <c:idx val="0"/>
          <c:order val="0"/>
          <c:tx>
            <c:strRef>
              <c:f>Sheet1!$B$1</c:f>
              <c:strCache>
                <c:ptCount val="1"/>
                <c:pt idx="0">
                  <c:v>India CPI inflation</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Sheet1!$A$2:$A$164</c:f>
              <c:multiLvlStrCache>
                <c:ptCount val="163"/>
                <c:lvl>
                  <c:pt idx="0">
                    <c:v>2013</c:v>
                  </c:pt>
                  <c:pt idx="1">
                    <c:v>2013</c:v>
                  </c:pt>
                  <c:pt idx="2">
                    <c:v>2013</c:v>
                  </c:pt>
                  <c:pt idx="3">
                    <c:v>2013</c:v>
                  </c:pt>
                  <c:pt idx="4">
                    <c:v>2013</c:v>
                  </c:pt>
                  <c:pt idx="5">
                    <c:v>2013</c:v>
                  </c:pt>
                  <c:pt idx="6">
                    <c:v>2013</c:v>
                  </c:pt>
                  <c:pt idx="7">
                    <c:v>2013</c:v>
                  </c:pt>
                  <c:pt idx="8">
                    <c:v>2013</c:v>
                  </c:pt>
                  <c:pt idx="9">
                    <c:v>2013</c:v>
                  </c:pt>
                  <c:pt idx="10">
                    <c:v>2013</c:v>
                  </c:pt>
                  <c:pt idx="11">
                    <c:v>2013</c:v>
                  </c:pt>
                  <c:pt idx="12">
                    <c:v>2014</c:v>
                  </c:pt>
                  <c:pt idx="13">
                    <c:v>2014</c:v>
                  </c:pt>
                  <c:pt idx="14">
                    <c:v>2014</c:v>
                  </c:pt>
                  <c:pt idx="15">
                    <c:v>2014</c:v>
                  </c:pt>
                  <c:pt idx="16">
                    <c:v>2014</c:v>
                  </c:pt>
                  <c:pt idx="17">
                    <c:v>2014</c:v>
                  </c:pt>
                  <c:pt idx="18">
                    <c:v>2014</c:v>
                  </c:pt>
                  <c:pt idx="19">
                    <c:v>2014</c:v>
                  </c:pt>
                  <c:pt idx="20">
                    <c:v>2014</c:v>
                  </c:pt>
                  <c:pt idx="21">
                    <c:v>2014</c:v>
                  </c:pt>
                  <c:pt idx="22">
                    <c:v>2014</c:v>
                  </c:pt>
                  <c:pt idx="23">
                    <c:v>2014</c:v>
                  </c:pt>
                  <c:pt idx="24">
                    <c:v>2015</c:v>
                  </c:pt>
                  <c:pt idx="25">
                    <c:v>2015</c:v>
                  </c:pt>
                  <c:pt idx="26">
                    <c:v>2015</c:v>
                  </c:pt>
                  <c:pt idx="27">
                    <c:v>2015</c:v>
                  </c:pt>
                  <c:pt idx="28">
                    <c:v>2015</c:v>
                  </c:pt>
                  <c:pt idx="29">
                    <c:v>2015</c:v>
                  </c:pt>
                  <c:pt idx="30">
                    <c:v>2015</c:v>
                  </c:pt>
                  <c:pt idx="31">
                    <c:v>2015</c:v>
                  </c:pt>
                  <c:pt idx="32">
                    <c:v>2015</c:v>
                  </c:pt>
                  <c:pt idx="33">
                    <c:v>2015</c:v>
                  </c:pt>
                  <c:pt idx="34">
                    <c:v>2015</c:v>
                  </c:pt>
                  <c:pt idx="35">
                    <c:v>2015</c:v>
                  </c:pt>
                  <c:pt idx="36">
                    <c:v>2016</c:v>
                  </c:pt>
                  <c:pt idx="37">
                    <c:v>2016</c:v>
                  </c:pt>
                  <c:pt idx="38">
                    <c:v>2016</c:v>
                  </c:pt>
                  <c:pt idx="39">
                    <c:v>2016</c:v>
                  </c:pt>
                  <c:pt idx="40">
                    <c:v>2016</c:v>
                  </c:pt>
                  <c:pt idx="41">
                    <c:v>2016</c:v>
                  </c:pt>
                  <c:pt idx="42">
                    <c:v>2016</c:v>
                  </c:pt>
                  <c:pt idx="43">
                    <c:v>2016</c:v>
                  </c:pt>
                  <c:pt idx="44">
                    <c:v>2016</c:v>
                  </c:pt>
                  <c:pt idx="45">
                    <c:v>2016</c:v>
                  </c:pt>
                  <c:pt idx="46">
                    <c:v>2016</c:v>
                  </c:pt>
                  <c:pt idx="47">
                    <c:v>2016</c:v>
                  </c:pt>
                  <c:pt idx="48">
                    <c:v>2017</c:v>
                  </c:pt>
                  <c:pt idx="49">
                    <c:v>2017</c:v>
                  </c:pt>
                  <c:pt idx="50">
                    <c:v>2017</c:v>
                  </c:pt>
                  <c:pt idx="51">
                    <c:v>2017</c:v>
                  </c:pt>
                  <c:pt idx="52">
                    <c:v>2017</c:v>
                  </c:pt>
                  <c:pt idx="53">
                    <c:v>2017</c:v>
                  </c:pt>
                  <c:pt idx="54">
                    <c:v>2017</c:v>
                  </c:pt>
                  <c:pt idx="55">
                    <c:v>2017</c:v>
                  </c:pt>
                  <c:pt idx="56">
                    <c:v>2017</c:v>
                  </c:pt>
                  <c:pt idx="57">
                    <c:v>2017</c:v>
                  </c:pt>
                  <c:pt idx="58">
                    <c:v>2017</c:v>
                  </c:pt>
                  <c:pt idx="59">
                    <c:v>2017</c:v>
                  </c:pt>
                  <c:pt idx="60">
                    <c:v>2018</c:v>
                  </c:pt>
                  <c:pt idx="61">
                    <c:v>2018</c:v>
                  </c:pt>
                  <c:pt idx="62">
                    <c:v>2018</c:v>
                  </c:pt>
                  <c:pt idx="63">
                    <c:v>2018</c:v>
                  </c:pt>
                  <c:pt idx="64">
                    <c:v>2018</c:v>
                  </c:pt>
                  <c:pt idx="65">
                    <c:v>2018</c:v>
                  </c:pt>
                  <c:pt idx="66">
                    <c:v>2018</c:v>
                  </c:pt>
                  <c:pt idx="67">
                    <c:v>2018</c:v>
                  </c:pt>
                  <c:pt idx="68">
                    <c:v>2018</c:v>
                  </c:pt>
                  <c:pt idx="69">
                    <c:v>2018</c:v>
                  </c:pt>
                  <c:pt idx="70">
                    <c:v>2018</c:v>
                  </c:pt>
                  <c:pt idx="71">
                    <c:v>2018</c:v>
                  </c:pt>
                  <c:pt idx="72">
                    <c:v>2019</c:v>
                  </c:pt>
                  <c:pt idx="73">
                    <c:v>2019</c:v>
                  </c:pt>
                  <c:pt idx="74">
                    <c:v>2019</c:v>
                  </c:pt>
                  <c:pt idx="75">
                    <c:v>2019</c:v>
                  </c:pt>
                  <c:pt idx="76">
                    <c:v>2019</c:v>
                  </c:pt>
                  <c:pt idx="77">
                    <c:v>2019</c:v>
                  </c:pt>
                  <c:pt idx="78">
                    <c:v>2019</c:v>
                  </c:pt>
                  <c:pt idx="79">
                    <c:v>2019</c:v>
                  </c:pt>
                  <c:pt idx="80">
                    <c:v>2019</c:v>
                  </c:pt>
                  <c:pt idx="81">
                    <c:v>2019</c:v>
                  </c:pt>
                  <c:pt idx="82">
                    <c:v>2019</c:v>
                  </c:pt>
                  <c:pt idx="83">
                    <c:v>2019</c:v>
                  </c:pt>
                  <c:pt idx="84">
                    <c:v>2020</c:v>
                  </c:pt>
                  <c:pt idx="85">
                    <c:v>2020</c:v>
                  </c:pt>
                  <c:pt idx="86">
                    <c:v>2020</c:v>
                  </c:pt>
                  <c:pt idx="87">
                    <c:v>2020</c:v>
                  </c:pt>
                  <c:pt idx="88">
                    <c:v>2020</c:v>
                  </c:pt>
                  <c:pt idx="89">
                    <c:v>2020</c:v>
                  </c:pt>
                  <c:pt idx="90">
                    <c:v>2020</c:v>
                  </c:pt>
                  <c:pt idx="91">
                    <c:v>2020</c:v>
                  </c:pt>
                  <c:pt idx="92">
                    <c:v>2020</c:v>
                  </c:pt>
                  <c:pt idx="93">
                    <c:v>2020</c:v>
                  </c:pt>
                  <c:pt idx="94">
                    <c:v>2020</c:v>
                  </c:pt>
                  <c:pt idx="95">
                    <c:v>2020</c:v>
                  </c:pt>
                  <c:pt idx="96">
                    <c:v>2021</c:v>
                  </c:pt>
                  <c:pt idx="97">
                    <c:v>2021</c:v>
                  </c:pt>
                  <c:pt idx="98">
                    <c:v>2021</c:v>
                  </c:pt>
                  <c:pt idx="99">
                    <c:v>2021</c:v>
                  </c:pt>
                  <c:pt idx="100">
                    <c:v>2021</c:v>
                  </c:pt>
                  <c:pt idx="101">
                    <c:v>2021</c:v>
                  </c:pt>
                  <c:pt idx="102">
                    <c:v>2021</c:v>
                  </c:pt>
                  <c:pt idx="103">
                    <c:v>2021</c:v>
                  </c:pt>
                  <c:pt idx="104">
                    <c:v>2021</c:v>
                  </c:pt>
                  <c:pt idx="105">
                    <c:v>2021</c:v>
                  </c:pt>
                  <c:pt idx="106">
                    <c:v>2021</c:v>
                  </c:pt>
                  <c:pt idx="107">
                    <c:v>2021</c:v>
                  </c:pt>
                  <c:pt idx="108">
                    <c:v>2022</c:v>
                  </c:pt>
                  <c:pt idx="109">
                    <c:v>2022</c:v>
                  </c:pt>
                  <c:pt idx="110">
                    <c:v>2022</c:v>
                  </c:pt>
                  <c:pt idx="111">
                    <c:v>2022</c:v>
                  </c:pt>
                  <c:pt idx="112">
                    <c:v>2022</c:v>
                  </c:pt>
                  <c:pt idx="113">
                    <c:v>2022</c:v>
                  </c:pt>
                  <c:pt idx="114">
                    <c:v>2022</c:v>
                  </c:pt>
                  <c:pt idx="115">
                    <c:v>2022</c:v>
                  </c:pt>
                  <c:pt idx="116">
                    <c:v>2022</c:v>
                  </c:pt>
                  <c:pt idx="117">
                    <c:v>2022</c:v>
                  </c:pt>
                  <c:pt idx="118">
                    <c:v>2022</c:v>
                  </c:pt>
                  <c:pt idx="119">
                    <c:v>2022</c:v>
                  </c:pt>
                  <c:pt idx="120">
                    <c:v>2023</c:v>
                  </c:pt>
                  <c:pt idx="121">
                    <c:v>2023</c:v>
                  </c:pt>
                  <c:pt idx="122">
                    <c:v>2023</c:v>
                  </c:pt>
                  <c:pt idx="123">
                    <c:v>2023</c:v>
                  </c:pt>
                  <c:pt idx="124">
                    <c:v>2023</c:v>
                  </c:pt>
                  <c:pt idx="125">
                    <c:v>2023</c:v>
                  </c:pt>
                  <c:pt idx="126">
                    <c:v>2023</c:v>
                  </c:pt>
                  <c:pt idx="127">
                    <c:v>2023</c:v>
                  </c:pt>
                  <c:pt idx="128">
                    <c:v>2023</c:v>
                  </c:pt>
                  <c:pt idx="129">
                    <c:v>2023</c:v>
                  </c:pt>
                  <c:pt idx="130">
                    <c:v>2023</c:v>
                  </c:pt>
                  <c:pt idx="131">
                    <c:v>2023</c:v>
                  </c:pt>
                  <c:pt idx="132">
                    <c:v>2024</c:v>
                  </c:pt>
                  <c:pt idx="133">
                    <c:v>2024</c:v>
                  </c:pt>
                  <c:pt idx="134">
                    <c:v>2024</c:v>
                  </c:pt>
                  <c:pt idx="135">
                    <c:v>2024</c:v>
                  </c:pt>
                  <c:pt idx="136">
                    <c:v>2024</c:v>
                  </c:pt>
                  <c:pt idx="137">
                    <c:v>2024</c:v>
                  </c:pt>
                  <c:pt idx="138">
                    <c:v>2024</c:v>
                  </c:pt>
                  <c:pt idx="139">
                    <c:v>2024</c:v>
                  </c:pt>
                  <c:pt idx="140">
                    <c:v>2024</c:v>
                  </c:pt>
                  <c:pt idx="141">
                    <c:v>2024</c:v>
                  </c:pt>
                  <c:pt idx="142">
                    <c:v>2024</c:v>
                  </c:pt>
                  <c:pt idx="143">
                    <c:v>2024</c:v>
                  </c:pt>
                  <c:pt idx="144">
                    <c:v>2025</c:v>
                  </c:pt>
                  <c:pt idx="145">
                    <c:v>2025</c:v>
                  </c:pt>
                  <c:pt idx="146">
                    <c:v>2025</c:v>
                  </c:pt>
                  <c:pt idx="147">
                    <c:v>2025</c:v>
                  </c:pt>
                  <c:pt idx="148">
                    <c:v>2025</c:v>
                  </c:pt>
                  <c:pt idx="149">
                    <c:v>2025</c:v>
                  </c:pt>
                  <c:pt idx="150">
                    <c:v>2025</c:v>
                  </c:pt>
                  <c:pt idx="151">
                    <c:v>2025</c:v>
                  </c:pt>
                  <c:pt idx="152">
                    <c:v>2025</c:v>
                  </c:pt>
                  <c:pt idx="153">
                    <c:v>2025</c:v>
                  </c:pt>
                  <c:pt idx="154">
                    <c:v>2025</c:v>
                  </c:pt>
                  <c:pt idx="155">
                    <c:v>2025</c:v>
                  </c:pt>
                  <c:pt idx="156">
                    <c:v>2026</c:v>
                  </c:pt>
                  <c:pt idx="157">
                    <c:v>2026</c:v>
                  </c:pt>
                  <c:pt idx="158">
                    <c:v>2026</c:v>
                  </c:pt>
                  <c:pt idx="159">
                    <c:v>2026</c:v>
                  </c:pt>
                  <c:pt idx="160">
                    <c:v>2026</c:v>
                  </c:pt>
                  <c:pt idx="161">
                    <c:v>2026</c:v>
                  </c:pt>
                  <c:pt idx="162">
                    <c:v>2026</c:v>
                  </c:pt>
                </c:lvl>
              </c:multiLvlStrCache>
            </c:multiLvlStrRef>
          </c:cat>
          <c:val>
            <c:numRef>
              <c:f>Sheet1!$B$2:$B$164</c:f>
              <c:numCache>
                <c:formatCode>General</c:formatCode>
                <c:ptCount val="163"/>
                <c:pt idx="0">
                  <c:v>10.52</c:v>
                </c:pt>
                <c:pt idx="1">
                  <c:v>10.89</c:v>
                </c:pt>
                <c:pt idx="2">
                  <c:v>10.06</c:v>
                </c:pt>
                <c:pt idx="3">
                  <c:v>9.1</c:v>
                </c:pt>
                <c:pt idx="4">
                  <c:v>9.03</c:v>
                </c:pt>
                <c:pt idx="5">
                  <c:v>9.52</c:v>
                </c:pt>
                <c:pt idx="6">
                  <c:v>9.79</c:v>
                </c:pt>
                <c:pt idx="7">
                  <c:v>9.98</c:v>
                </c:pt>
                <c:pt idx="8">
                  <c:v>10.5</c:v>
                </c:pt>
                <c:pt idx="9">
                  <c:v>10.81</c:v>
                </c:pt>
                <c:pt idx="10">
                  <c:v>11.51</c:v>
                </c:pt>
                <c:pt idx="11">
                  <c:v>9.46</c:v>
                </c:pt>
                <c:pt idx="12">
                  <c:v>8.6</c:v>
                </c:pt>
                <c:pt idx="13">
                  <c:v>7.88</c:v>
                </c:pt>
                <c:pt idx="14">
                  <c:v>8.25</c:v>
                </c:pt>
                <c:pt idx="15">
                  <c:v>8.48</c:v>
                </c:pt>
                <c:pt idx="16">
                  <c:v>8.33</c:v>
                </c:pt>
                <c:pt idx="17">
                  <c:v>6.77</c:v>
                </c:pt>
                <c:pt idx="18">
                  <c:v>7.39</c:v>
                </c:pt>
                <c:pt idx="19">
                  <c:v>7.03</c:v>
                </c:pt>
                <c:pt idx="20">
                  <c:v>5.63</c:v>
                </c:pt>
                <c:pt idx="21">
                  <c:v>4.62</c:v>
                </c:pt>
                <c:pt idx="22">
                  <c:v>3.27</c:v>
                </c:pt>
                <c:pt idx="23">
                  <c:v>4.28</c:v>
                </c:pt>
                <c:pt idx="24">
                  <c:v>5.19</c:v>
                </c:pt>
                <c:pt idx="25">
                  <c:v>5.37</c:v>
                </c:pt>
                <c:pt idx="26">
                  <c:v>5.25</c:v>
                </c:pt>
                <c:pt idx="27">
                  <c:v>4.87</c:v>
                </c:pt>
                <c:pt idx="28">
                  <c:v>5.01</c:v>
                </c:pt>
                <c:pt idx="29">
                  <c:v>5.4</c:v>
                </c:pt>
                <c:pt idx="30">
                  <c:v>3.69</c:v>
                </c:pt>
                <c:pt idx="31">
                  <c:v>3.74</c:v>
                </c:pt>
                <c:pt idx="32">
                  <c:v>4.41</c:v>
                </c:pt>
                <c:pt idx="33">
                  <c:v>5</c:v>
                </c:pt>
                <c:pt idx="34">
                  <c:v>5.41</c:v>
                </c:pt>
                <c:pt idx="35">
                  <c:v>5.61</c:v>
                </c:pt>
                <c:pt idx="36">
                  <c:v>5.69</c:v>
                </c:pt>
                <c:pt idx="37">
                  <c:v>5.26</c:v>
                </c:pt>
                <c:pt idx="38">
                  <c:v>4.83</c:v>
                </c:pt>
                <c:pt idx="39">
                  <c:v>5.47</c:v>
                </c:pt>
                <c:pt idx="40">
                  <c:v>5.76</c:v>
                </c:pt>
                <c:pt idx="41">
                  <c:v>5.77</c:v>
                </c:pt>
                <c:pt idx="42">
                  <c:v>6.07</c:v>
                </c:pt>
                <c:pt idx="43">
                  <c:v>5.05</c:v>
                </c:pt>
                <c:pt idx="44">
                  <c:v>4.39</c:v>
                </c:pt>
                <c:pt idx="45">
                  <c:v>4.2</c:v>
                </c:pt>
                <c:pt idx="46">
                  <c:v>3.63</c:v>
                </c:pt>
                <c:pt idx="47">
                  <c:v>3.41</c:v>
                </c:pt>
                <c:pt idx="48">
                  <c:v>3.17</c:v>
                </c:pt>
                <c:pt idx="49">
                  <c:v>3.65</c:v>
                </c:pt>
                <c:pt idx="50">
                  <c:v>3.89</c:v>
                </c:pt>
                <c:pt idx="51">
                  <c:v>2.99</c:v>
                </c:pt>
                <c:pt idx="52">
                  <c:v>2.18</c:v>
                </c:pt>
                <c:pt idx="53">
                  <c:v>1.46</c:v>
                </c:pt>
                <c:pt idx="54">
                  <c:v>2.36</c:v>
                </c:pt>
                <c:pt idx="55">
                  <c:v>3.28</c:v>
                </c:pt>
                <c:pt idx="56">
                  <c:v>3.28</c:v>
                </c:pt>
                <c:pt idx="57">
                  <c:v>3.58</c:v>
                </c:pt>
                <c:pt idx="58">
                  <c:v>4.88</c:v>
                </c:pt>
                <c:pt idx="59">
                  <c:v>5.21</c:v>
                </c:pt>
                <c:pt idx="60">
                  <c:v>5.07</c:v>
                </c:pt>
                <c:pt idx="61">
                  <c:v>4.44</c:v>
                </c:pt>
                <c:pt idx="62">
                  <c:v>4.28</c:v>
                </c:pt>
                <c:pt idx="63">
                  <c:v>4.58</c:v>
                </c:pt>
                <c:pt idx="64">
                  <c:v>4.87</c:v>
                </c:pt>
                <c:pt idx="65">
                  <c:v>4.92</c:v>
                </c:pt>
                <c:pt idx="66">
                  <c:v>4.17</c:v>
                </c:pt>
                <c:pt idx="67">
                  <c:v>3.69</c:v>
                </c:pt>
                <c:pt idx="68">
                  <c:v>3.7</c:v>
                </c:pt>
                <c:pt idx="69">
                  <c:v>3.38</c:v>
                </c:pt>
                <c:pt idx="70">
                  <c:v>2.33</c:v>
                </c:pt>
                <c:pt idx="71">
                  <c:v>2.11</c:v>
                </c:pt>
                <c:pt idx="72">
                  <c:v>1.97</c:v>
                </c:pt>
                <c:pt idx="73">
                  <c:v>2.57</c:v>
                </c:pt>
                <c:pt idx="74">
                  <c:v>2.86</c:v>
                </c:pt>
                <c:pt idx="75">
                  <c:v>2.99</c:v>
                </c:pt>
                <c:pt idx="76">
                  <c:v>3.05</c:v>
                </c:pt>
                <c:pt idx="77">
                  <c:v>3.18</c:v>
                </c:pt>
                <c:pt idx="78">
                  <c:v>3.15</c:v>
                </c:pt>
                <c:pt idx="79">
                  <c:v>3.28</c:v>
                </c:pt>
                <c:pt idx="80">
                  <c:v>3.99</c:v>
                </c:pt>
                <c:pt idx="81">
                  <c:v>4.62</c:v>
                </c:pt>
                <c:pt idx="82">
                  <c:v>5.54</c:v>
                </c:pt>
                <c:pt idx="83">
                  <c:v>7.35</c:v>
                </c:pt>
                <c:pt idx="84">
                  <c:v>7.59</c:v>
                </c:pt>
                <c:pt idx="85">
                  <c:v>6.58</c:v>
                </c:pt>
                <c:pt idx="86">
                  <c:v>5.84</c:v>
                </c:pt>
                <c:pt idx="87">
                  <c:v>7.22</c:v>
                </c:pt>
                <c:pt idx="88">
                  <c:v>6.27</c:v>
                </c:pt>
                <c:pt idx="89">
                  <c:v>6.23</c:v>
                </c:pt>
                <c:pt idx="90">
                  <c:v>6.73</c:v>
                </c:pt>
                <c:pt idx="91">
                  <c:v>6.69</c:v>
                </c:pt>
                <c:pt idx="92">
                  <c:v>7.27</c:v>
                </c:pt>
                <c:pt idx="93">
                  <c:v>7.61</c:v>
                </c:pt>
                <c:pt idx="94">
                  <c:v>6.93</c:v>
                </c:pt>
                <c:pt idx="95">
                  <c:v>4.59</c:v>
                </c:pt>
                <c:pt idx="96">
                  <c:v>4.06</c:v>
                </c:pt>
                <c:pt idx="97">
                  <c:v>5.03</c:v>
                </c:pt>
                <c:pt idx="98">
                  <c:v>5.52</c:v>
                </c:pt>
                <c:pt idx="99">
                  <c:v>4.23</c:v>
                </c:pt>
                <c:pt idx="100">
                  <c:v>6.3</c:v>
                </c:pt>
                <c:pt idx="101">
                  <c:v>6.26</c:v>
                </c:pt>
                <c:pt idx="102">
                  <c:v>5.59</c:v>
                </c:pt>
                <c:pt idx="103">
                  <c:v>5.3</c:v>
                </c:pt>
                <c:pt idx="104">
                  <c:v>4.35</c:v>
                </c:pt>
                <c:pt idx="105">
                  <c:v>4.48</c:v>
                </c:pt>
                <c:pt idx="106">
                  <c:v>4.91</c:v>
                </c:pt>
                <c:pt idx="107">
                  <c:v>5.66</c:v>
                </c:pt>
                <c:pt idx="108">
                  <c:v>6.01</c:v>
                </c:pt>
                <c:pt idx="109">
                  <c:v>6.07</c:v>
                </c:pt>
                <c:pt idx="110">
                  <c:v>6.95</c:v>
                </c:pt>
                <c:pt idx="111">
                  <c:v>7.79</c:v>
                </c:pt>
                <c:pt idx="112">
                  <c:v>7.04</c:v>
                </c:pt>
                <c:pt idx="113">
                  <c:v>7.01</c:v>
                </c:pt>
                <c:pt idx="114">
                  <c:v>6.71</c:v>
                </c:pt>
                <c:pt idx="115">
                  <c:v>7</c:v>
                </c:pt>
                <c:pt idx="116">
                  <c:v>7.41</c:v>
                </c:pt>
                <c:pt idx="117">
                  <c:v>6.77</c:v>
                </c:pt>
                <c:pt idx="118">
                  <c:v>5.88</c:v>
                </c:pt>
                <c:pt idx="119">
                  <c:v>5.72</c:v>
                </c:pt>
                <c:pt idx="120">
                  <c:v>6.52</c:v>
                </c:pt>
                <c:pt idx="121">
                  <c:v>6.44</c:v>
                </c:pt>
                <c:pt idx="122">
                  <c:v>5.66</c:v>
                </c:pt>
                <c:pt idx="123">
                  <c:v>4.7</c:v>
                </c:pt>
                <c:pt idx="124">
                  <c:v>4.31</c:v>
                </c:pt>
                <c:pt idx="125">
                  <c:v>4.87</c:v>
                </c:pt>
                <c:pt idx="126">
                  <c:v>7.44</c:v>
                </c:pt>
                <c:pt idx="127">
                  <c:v>6.83</c:v>
                </c:pt>
                <c:pt idx="128">
                  <c:v>5.02</c:v>
                </c:pt>
                <c:pt idx="129">
                  <c:v>4.87</c:v>
                </c:pt>
                <c:pt idx="130">
                  <c:v>5.55</c:v>
                </c:pt>
                <c:pt idx="131">
                  <c:v>5.69</c:v>
                </c:pt>
                <c:pt idx="132">
                  <c:v>5.1</c:v>
                </c:pt>
                <c:pt idx="133">
                  <c:v>5.09</c:v>
                </c:pt>
                <c:pt idx="134">
                  <c:v>4.85</c:v>
                </c:pt>
                <c:pt idx="135">
                  <c:v>4.83</c:v>
                </c:pt>
                <c:pt idx="136">
                  <c:v>4.8</c:v>
                </c:pt>
                <c:pt idx="137">
                  <c:v>5.08</c:v>
                </c:pt>
                <c:pt idx="138">
                  <c:v>3.6</c:v>
                </c:pt>
                <c:pt idx="139">
                  <c:v>3.65</c:v>
                </c:pt>
                <c:pt idx="140">
                  <c:v>5.49</c:v>
                </c:pt>
                <c:pt idx="141">
                  <c:v>6.21</c:v>
                </c:pt>
                <c:pt idx="142">
                  <c:v>5.48</c:v>
                </c:pt>
                <c:pt idx="143">
                  <c:v>5.22</c:v>
                </c:pt>
                <c:pt idx="144">
                  <c:v>4.26</c:v>
                </c:pt>
                <c:pt idx="145">
                  <c:v>3.61</c:v>
                </c:pt>
                <c:pt idx="146">
                  <c:v>3.34</c:v>
                </c:pt>
                <c:pt idx="147">
                  <c:v>3.16</c:v>
                </c:pt>
                <c:pt idx="148">
                  <c:v>2.82</c:v>
                </c:pt>
                <c:pt idx="149">
                  <c:v>2.1</c:v>
                </c:pt>
                <c:pt idx="150">
                  <c:v>1.61</c:v>
                </c:pt>
                <c:pt idx="151">
                  <c:v>2.07</c:v>
                </c:pt>
                <c:pt idx="152">
                  <c:v>1.44</c:v>
                </c:pt>
                <c:pt idx="153">
                  <c:v>0.25</c:v>
                </c:pt>
                <c:pt idx="154">
                  <c:v>0.71</c:v>
                </c:pt>
                <c:pt idx="155">
                  <c:v>1.33</c:v>
                </c:pt>
                <c:pt idx="156">
                  <c:v>2.73</c:v>
                </c:pt>
                <c:pt idx="157">
                  <c:v>3.21</c:v>
                </c:pt>
                <c:pt idx="158">
                  <c:v>3.4</c:v>
                </c:pt>
                <c:pt idx="159">
                  <c:v>3.48</c:v>
                </c:pt>
                <c:pt idx="160">
                  <c:v>3.94</c:v>
                </c:pt>
                <c:pt idx="161">
                  <c:v>4.38</c:v>
                </c:pt>
                <c:pt idx="162">
                  <c:v>4.44</c:v>
                </c:pt>
              </c:numCache>
            </c:numRef>
          </c:val>
          <c:smooth val="0"/>
        </c:ser>
        <c:ser>
          <c:idx val="1"/>
          <c:order val="1"/>
          <c:tx>
            <c:strRef>
              <c:f>Sheet1!$C$1</c:f>
              <c:strCache>
                <c:ptCount val="1"/>
                <c:pt idx="0">
                  <c:v>Nepal CPI inflation</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Sheet1!$A$2:$A$164</c:f>
              <c:multiLvlStrCache>
                <c:ptCount val="163"/>
                <c:lvl>
                  <c:pt idx="0">
                    <c:v>2013</c:v>
                  </c:pt>
                  <c:pt idx="1">
                    <c:v>2013</c:v>
                  </c:pt>
                  <c:pt idx="2">
                    <c:v>2013</c:v>
                  </c:pt>
                  <c:pt idx="3">
                    <c:v>2013</c:v>
                  </c:pt>
                  <c:pt idx="4">
                    <c:v>2013</c:v>
                  </c:pt>
                  <c:pt idx="5">
                    <c:v>2013</c:v>
                  </c:pt>
                  <c:pt idx="6">
                    <c:v>2013</c:v>
                  </c:pt>
                  <c:pt idx="7">
                    <c:v>2013</c:v>
                  </c:pt>
                  <c:pt idx="8">
                    <c:v>2013</c:v>
                  </c:pt>
                  <c:pt idx="9">
                    <c:v>2013</c:v>
                  </c:pt>
                  <c:pt idx="10">
                    <c:v>2013</c:v>
                  </c:pt>
                  <c:pt idx="11">
                    <c:v>2013</c:v>
                  </c:pt>
                  <c:pt idx="12">
                    <c:v>2014</c:v>
                  </c:pt>
                  <c:pt idx="13">
                    <c:v>2014</c:v>
                  </c:pt>
                  <c:pt idx="14">
                    <c:v>2014</c:v>
                  </c:pt>
                  <c:pt idx="15">
                    <c:v>2014</c:v>
                  </c:pt>
                  <c:pt idx="16">
                    <c:v>2014</c:v>
                  </c:pt>
                  <c:pt idx="17">
                    <c:v>2014</c:v>
                  </c:pt>
                  <c:pt idx="18">
                    <c:v>2014</c:v>
                  </c:pt>
                  <c:pt idx="19">
                    <c:v>2014</c:v>
                  </c:pt>
                  <c:pt idx="20">
                    <c:v>2014</c:v>
                  </c:pt>
                  <c:pt idx="21">
                    <c:v>2014</c:v>
                  </c:pt>
                  <c:pt idx="22">
                    <c:v>2014</c:v>
                  </c:pt>
                  <c:pt idx="23">
                    <c:v>2014</c:v>
                  </c:pt>
                  <c:pt idx="24">
                    <c:v>2015</c:v>
                  </c:pt>
                  <c:pt idx="25">
                    <c:v>2015</c:v>
                  </c:pt>
                  <c:pt idx="26">
                    <c:v>2015</c:v>
                  </c:pt>
                  <c:pt idx="27">
                    <c:v>2015</c:v>
                  </c:pt>
                  <c:pt idx="28">
                    <c:v>2015</c:v>
                  </c:pt>
                  <c:pt idx="29">
                    <c:v>2015</c:v>
                  </c:pt>
                  <c:pt idx="30">
                    <c:v>2015</c:v>
                  </c:pt>
                  <c:pt idx="31">
                    <c:v>2015</c:v>
                  </c:pt>
                  <c:pt idx="32">
                    <c:v>2015</c:v>
                  </c:pt>
                  <c:pt idx="33">
                    <c:v>2015</c:v>
                  </c:pt>
                  <c:pt idx="34">
                    <c:v>2015</c:v>
                  </c:pt>
                  <c:pt idx="35">
                    <c:v>2015</c:v>
                  </c:pt>
                  <c:pt idx="36">
                    <c:v>2016</c:v>
                  </c:pt>
                  <c:pt idx="37">
                    <c:v>2016</c:v>
                  </c:pt>
                  <c:pt idx="38">
                    <c:v>2016</c:v>
                  </c:pt>
                  <c:pt idx="39">
                    <c:v>2016</c:v>
                  </c:pt>
                  <c:pt idx="40">
                    <c:v>2016</c:v>
                  </c:pt>
                  <c:pt idx="41">
                    <c:v>2016</c:v>
                  </c:pt>
                  <c:pt idx="42">
                    <c:v>2016</c:v>
                  </c:pt>
                  <c:pt idx="43">
                    <c:v>2016</c:v>
                  </c:pt>
                  <c:pt idx="44">
                    <c:v>2016</c:v>
                  </c:pt>
                  <c:pt idx="45">
                    <c:v>2016</c:v>
                  </c:pt>
                  <c:pt idx="46">
                    <c:v>2016</c:v>
                  </c:pt>
                  <c:pt idx="47">
                    <c:v>2016</c:v>
                  </c:pt>
                  <c:pt idx="48">
                    <c:v>2017</c:v>
                  </c:pt>
                  <c:pt idx="49">
                    <c:v>2017</c:v>
                  </c:pt>
                  <c:pt idx="50">
                    <c:v>2017</c:v>
                  </c:pt>
                  <c:pt idx="51">
                    <c:v>2017</c:v>
                  </c:pt>
                  <c:pt idx="52">
                    <c:v>2017</c:v>
                  </c:pt>
                  <c:pt idx="53">
                    <c:v>2017</c:v>
                  </c:pt>
                  <c:pt idx="54">
                    <c:v>2017</c:v>
                  </c:pt>
                  <c:pt idx="55">
                    <c:v>2017</c:v>
                  </c:pt>
                  <c:pt idx="56">
                    <c:v>2017</c:v>
                  </c:pt>
                  <c:pt idx="57">
                    <c:v>2017</c:v>
                  </c:pt>
                  <c:pt idx="58">
                    <c:v>2017</c:v>
                  </c:pt>
                  <c:pt idx="59">
                    <c:v>2017</c:v>
                  </c:pt>
                  <c:pt idx="60">
                    <c:v>2018</c:v>
                  </c:pt>
                  <c:pt idx="61">
                    <c:v>2018</c:v>
                  </c:pt>
                  <c:pt idx="62">
                    <c:v>2018</c:v>
                  </c:pt>
                  <c:pt idx="63">
                    <c:v>2018</c:v>
                  </c:pt>
                  <c:pt idx="64">
                    <c:v>2018</c:v>
                  </c:pt>
                  <c:pt idx="65">
                    <c:v>2018</c:v>
                  </c:pt>
                  <c:pt idx="66">
                    <c:v>2018</c:v>
                  </c:pt>
                  <c:pt idx="67">
                    <c:v>2018</c:v>
                  </c:pt>
                  <c:pt idx="68">
                    <c:v>2018</c:v>
                  </c:pt>
                  <c:pt idx="69">
                    <c:v>2018</c:v>
                  </c:pt>
                  <c:pt idx="70">
                    <c:v>2018</c:v>
                  </c:pt>
                  <c:pt idx="71">
                    <c:v>2018</c:v>
                  </c:pt>
                  <c:pt idx="72">
                    <c:v>2019</c:v>
                  </c:pt>
                  <c:pt idx="73">
                    <c:v>2019</c:v>
                  </c:pt>
                  <c:pt idx="74">
                    <c:v>2019</c:v>
                  </c:pt>
                  <c:pt idx="75">
                    <c:v>2019</c:v>
                  </c:pt>
                  <c:pt idx="76">
                    <c:v>2019</c:v>
                  </c:pt>
                  <c:pt idx="77">
                    <c:v>2019</c:v>
                  </c:pt>
                  <c:pt idx="78">
                    <c:v>2019</c:v>
                  </c:pt>
                  <c:pt idx="79">
                    <c:v>2019</c:v>
                  </c:pt>
                  <c:pt idx="80">
                    <c:v>2019</c:v>
                  </c:pt>
                  <c:pt idx="81">
                    <c:v>2019</c:v>
                  </c:pt>
                  <c:pt idx="82">
                    <c:v>2019</c:v>
                  </c:pt>
                  <c:pt idx="83">
                    <c:v>2019</c:v>
                  </c:pt>
                  <c:pt idx="84">
                    <c:v>2020</c:v>
                  </c:pt>
                  <c:pt idx="85">
                    <c:v>2020</c:v>
                  </c:pt>
                  <c:pt idx="86">
                    <c:v>2020</c:v>
                  </c:pt>
                  <c:pt idx="87">
                    <c:v>2020</c:v>
                  </c:pt>
                  <c:pt idx="88">
                    <c:v>2020</c:v>
                  </c:pt>
                  <c:pt idx="89">
                    <c:v>2020</c:v>
                  </c:pt>
                  <c:pt idx="90">
                    <c:v>2020</c:v>
                  </c:pt>
                  <c:pt idx="91">
                    <c:v>2020</c:v>
                  </c:pt>
                  <c:pt idx="92">
                    <c:v>2020</c:v>
                  </c:pt>
                  <c:pt idx="93">
                    <c:v>2020</c:v>
                  </c:pt>
                  <c:pt idx="94">
                    <c:v>2020</c:v>
                  </c:pt>
                  <c:pt idx="95">
                    <c:v>2020</c:v>
                  </c:pt>
                  <c:pt idx="96">
                    <c:v>2021</c:v>
                  </c:pt>
                  <c:pt idx="97">
                    <c:v>2021</c:v>
                  </c:pt>
                  <c:pt idx="98">
                    <c:v>2021</c:v>
                  </c:pt>
                  <c:pt idx="99">
                    <c:v>2021</c:v>
                  </c:pt>
                  <c:pt idx="100">
                    <c:v>2021</c:v>
                  </c:pt>
                  <c:pt idx="101">
                    <c:v>2021</c:v>
                  </c:pt>
                  <c:pt idx="102">
                    <c:v>2021</c:v>
                  </c:pt>
                  <c:pt idx="103">
                    <c:v>2021</c:v>
                  </c:pt>
                  <c:pt idx="104">
                    <c:v>2021</c:v>
                  </c:pt>
                  <c:pt idx="105">
                    <c:v>2021</c:v>
                  </c:pt>
                  <c:pt idx="106">
                    <c:v>2021</c:v>
                  </c:pt>
                  <c:pt idx="107">
                    <c:v>2021</c:v>
                  </c:pt>
                  <c:pt idx="108">
                    <c:v>2022</c:v>
                  </c:pt>
                  <c:pt idx="109">
                    <c:v>2022</c:v>
                  </c:pt>
                  <c:pt idx="110">
                    <c:v>2022</c:v>
                  </c:pt>
                  <c:pt idx="111">
                    <c:v>2022</c:v>
                  </c:pt>
                  <c:pt idx="112">
                    <c:v>2022</c:v>
                  </c:pt>
                  <c:pt idx="113">
                    <c:v>2022</c:v>
                  </c:pt>
                  <c:pt idx="114">
                    <c:v>2022</c:v>
                  </c:pt>
                  <c:pt idx="115">
                    <c:v>2022</c:v>
                  </c:pt>
                  <c:pt idx="116">
                    <c:v>2022</c:v>
                  </c:pt>
                  <c:pt idx="117">
                    <c:v>2022</c:v>
                  </c:pt>
                  <c:pt idx="118">
                    <c:v>2022</c:v>
                  </c:pt>
                  <c:pt idx="119">
                    <c:v>2022</c:v>
                  </c:pt>
                  <c:pt idx="120">
                    <c:v>2023</c:v>
                  </c:pt>
                  <c:pt idx="121">
                    <c:v>2023</c:v>
                  </c:pt>
                  <c:pt idx="122">
                    <c:v>2023</c:v>
                  </c:pt>
                  <c:pt idx="123">
                    <c:v>2023</c:v>
                  </c:pt>
                  <c:pt idx="124">
                    <c:v>2023</c:v>
                  </c:pt>
                  <c:pt idx="125">
                    <c:v>2023</c:v>
                  </c:pt>
                  <c:pt idx="126">
                    <c:v>2023</c:v>
                  </c:pt>
                  <c:pt idx="127">
                    <c:v>2023</c:v>
                  </c:pt>
                  <c:pt idx="128">
                    <c:v>2023</c:v>
                  </c:pt>
                  <c:pt idx="129">
                    <c:v>2023</c:v>
                  </c:pt>
                  <c:pt idx="130">
                    <c:v>2023</c:v>
                  </c:pt>
                  <c:pt idx="131">
                    <c:v>2023</c:v>
                  </c:pt>
                  <c:pt idx="132">
                    <c:v>2024</c:v>
                  </c:pt>
                  <c:pt idx="133">
                    <c:v>2024</c:v>
                  </c:pt>
                  <c:pt idx="134">
                    <c:v>2024</c:v>
                  </c:pt>
                  <c:pt idx="135">
                    <c:v>2024</c:v>
                  </c:pt>
                  <c:pt idx="136">
                    <c:v>2024</c:v>
                  </c:pt>
                  <c:pt idx="137">
                    <c:v>2024</c:v>
                  </c:pt>
                  <c:pt idx="138">
                    <c:v>2024</c:v>
                  </c:pt>
                  <c:pt idx="139">
                    <c:v>2024</c:v>
                  </c:pt>
                  <c:pt idx="140">
                    <c:v>2024</c:v>
                  </c:pt>
                  <c:pt idx="141">
                    <c:v>2024</c:v>
                  </c:pt>
                  <c:pt idx="142">
                    <c:v>2024</c:v>
                  </c:pt>
                  <c:pt idx="143">
                    <c:v>2024</c:v>
                  </c:pt>
                  <c:pt idx="144">
                    <c:v>2025</c:v>
                  </c:pt>
                  <c:pt idx="145">
                    <c:v>2025</c:v>
                  </c:pt>
                  <c:pt idx="146">
                    <c:v>2025</c:v>
                  </c:pt>
                  <c:pt idx="147">
                    <c:v>2025</c:v>
                  </c:pt>
                  <c:pt idx="148">
                    <c:v>2025</c:v>
                  </c:pt>
                  <c:pt idx="149">
                    <c:v>2025</c:v>
                  </c:pt>
                  <c:pt idx="150">
                    <c:v>2025</c:v>
                  </c:pt>
                  <c:pt idx="151">
                    <c:v>2025</c:v>
                  </c:pt>
                  <c:pt idx="152">
                    <c:v>2025</c:v>
                  </c:pt>
                  <c:pt idx="153">
                    <c:v>2025</c:v>
                  </c:pt>
                  <c:pt idx="154">
                    <c:v>2025</c:v>
                  </c:pt>
                  <c:pt idx="155">
                    <c:v>2025</c:v>
                  </c:pt>
                  <c:pt idx="156">
                    <c:v>2026</c:v>
                  </c:pt>
                  <c:pt idx="157">
                    <c:v>2026</c:v>
                  </c:pt>
                  <c:pt idx="158">
                    <c:v>2026</c:v>
                  </c:pt>
                  <c:pt idx="159">
                    <c:v>2026</c:v>
                  </c:pt>
                  <c:pt idx="160">
                    <c:v>2026</c:v>
                  </c:pt>
                  <c:pt idx="161">
                    <c:v>2026</c:v>
                  </c:pt>
                  <c:pt idx="162">
                    <c:v>2026</c:v>
                  </c:pt>
                </c:lvl>
              </c:multiLvlStrCache>
            </c:multiLvlStrRef>
          </c:cat>
          <c:val>
            <c:numRef>
              <c:f>Sheet1!$C$2:$C$164</c:f>
              <c:numCache>
                <c:formatCode>General</c:formatCode>
                <c:ptCount val="163"/>
                <c:pt idx="0">
                  <c:v>9.82</c:v>
                </c:pt>
                <c:pt idx="1">
                  <c:v>10.07</c:v>
                </c:pt>
                <c:pt idx="2">
                  <c:v>10.24</c:v>
                </c:pt>
                <c:pt idx="3">
                  <c:v>9.46</c:v>
                </c:pt>
                <c:pt idx="4">
                  <c:v>8.69</c:v>
                </c:pt>
                <c:pt idx="5">
                  <c:v>8.23</c:v>
                </c:pt>
                <c:pt idx="6">
                  <c:v>7.75</c:v>
                </c:pt>
                <c:pt idx="7">
                  <c:v>7.86</c:v>
                </c:pt>
                <c:pt idx="8">
                  <c:v>7.94</c:v>
                </c:pt>
                <c:pt idx="9">
                  <c:v>8.41</c:v>
                </c:pt>
                <c:pt idx="10">
                  <c:v>9.97</c:v>
                </c:pt>
                <c:pt idx="11">
                  <c:v>10.28</c:v>
                </c:pt>
                <c:pt idx="12">
                  <c:v>9.72</c:v>
                </c:pt>
                <c:pt idx="13">
                  <c:v>8.76</c:v>
                </c:pt>
                <c:pt idx="14">
                  <c:v>8.84</c:v>
                </c:pt>
                <c:pt idx="15">
                  <c:v>9.47</c:v>
                </c:pt>
                <c:pt idx="16">
                  <c:v>9.75</c:v>
                </c:pt>
                <c:pt idx="17">
                  <c:v>9.45</c:v>
                </c:pt>
                <c:pt idx="18">
                  <c:v>8.08</c:v>
                </c:pt>
                <c:pt idx="19">
                  <c:v>7.5</c:v>
                </c:pt>
                <c:pt idx="20">
                  <c:v>7.56</c:v>
                </c:pt>
                <c:pt idx="21">
                  <c:v>7.5</c:v>
                </c:pt>
                <c:pt idx="22">
                  <c:v>7.15</c:v>
                </c:pt>
                <c:pt idx="23">
                  <c:v>7.06</c:v>
                </c:pt>
                <c:pt idx="24">
                  <c:v>6.88</c:v>
                </c:pt>
                <c:pt idx="25">
                  <c:v>6.99</c:v>
                </c:pt>
                <c:pt idx="26">
                  <c:v>7.01</c:v>
                </c:pt>
                <c:pt idx="27">
                  <c:v>6.84</c:v>
                </c:pt>
                <c:pt idx="28">
                  <c:v>7.09</c:v>
                </c:pt>
                <c:pt idx="29">
                  <c:v>7.39</c:v>
                </c:pt>
                <c:pt idx="30">
                  <c:v>7.58</c:v>
                </c:pt>
                <c:pt idx="31">
                  <c:v>6.9</c:v>
                </c:pt>
                <c:pt idx="32">
                  <c:v>7.19</c:v>
                </c:pt>
                <c:pt idx="33">
                  <c:v>8.2</c:v>
                </c:pt>
                <c:pt idx="34">
                  <c:v>10.44</c:v>
                </c:pt>
                <c:pt idx="35">
                  <c:v>11.57</c:v>
                </c:pt>
                <c:pt idx="36">
                  <c:v>12.05</c:v>
                </c:pt>
                <c:pt idx="37">
                  <c:v>11.29</c:v>
                </c:pt>
                <c:pt idx="38">
                  <c:v>10.24</c:v>
                </c:pt>
                <c:pt idx="39">
                  <c:v>9.7</c:v>
                </c:pt>
                <c:pt idx="40">
                  <c:v>10.05</c:v>
                </c:pt>
                <c:pt idx="41">
                  <c:v>11.13</c:v>
                </c:pt>
                <c:pt idx="42">
                  <c:v>10.44</c:v>
                </c:pt>
                <c:pt idx="43">
                  <c:v>8.62</c:v>
                </c:pt>
                <c:pt idx="44">
                  <c:v>7.89</c:v>
                </c:pt>
                <c:pt idx="45">
                  <c:v>6.73</c:v>
                </c:pt>
                <c:pt idx="46">
                  <c:v>4.75</c:v>
                </c:pt>
                <c:pt idx="47">
                  <c:v>3.83</c:v>
                </c:pt>
                <c:pt idx="48">
                  <c:v>2.74</c:v>
                </c:pt>
                <c:pt idx="49">
                  <c:v>3.1</c:v>
                </c:pt>
                <c:pt idx="50">
                  <c:v>3.35</c:v>
                </c:pt>
                <c:pt idx="51">
                  <c:v>3.59</c:v>
                </c:pt>
                <c:pt idx="52">
                  <c:v>3.46</c:v>
                </c:pt>
                <c:pt idx="53">
                  <c:v>2.87</c:v>
                </c:pt>
                <c:pt idx="54">
                  <c:v>2.99</c:v>
                </c:pt>
                <c:pt idx="55">
                  <c:v>1.21</c:v>
                </c:pt>
                <c:pt idx="56">
                  <c:v>2.32</c:v>
                </c:pt>
                <c:pt idx="57">
                  <c:v>1.87</c:v>
                </c:pt>
                <c:pt idx="58">
                  <c:v>2.55</c:v>
                </c:pt>
                <c:pt idx="59">
                  <c:v>3.41</c:v>
                </c:pt>
                <c:pt idx="60">
                  <c:v>4</c:v>
                </c:pt>
                <c:pt idx="61">
                  <c:v>4.99</c:v>
                </c:pt>
                <c:pt idx="62">
                  <c:v>5.56</c:v>
                </c:pt>
                <c:pt idx="63">
                  <c:v>5.28</c:v>
                </c:pt>
                <c:pt idx="64">
                  <c:v>4.08</c:v>
                </c:pt>
                <c:pt idx="65">
                  <c:v>4.12</c:v>
                </c:pt>
                <c:pt idx="66">
                  <c:v>4.58</c:v>
                </c:pt>
                <c:pt idx="67">
                  <c:v>4.19</c:v>
                </c:pt>
                <c:pt idx="68">
                  <c:v>3.65</c:v>
                </c:pt>
                <c:pt idx="69">
                  <c:v>4.68</c:v>
                </c:pt>
                <c:pt idx="70">
                  <c:v>4.15</c:v>
                </c:pt>
                <c:pt idx="71">
                  <c:v>3.71</c:v>
                </c:pt>
                <c:pt idx="72">
                  <c:v>4.58</c:v>
                </c:pt>
                <c:pt idx="73">
                  <c:v>4.35</c:v>
                </c:pt>
                <c:pt idx="74">
                  <c:v>4.2</c:v>
                </c:pt>
                <c:pt idx="75">
                  <c:v>4.44</c:v>
                </c:pt>
                <c:pt idx="76">
                  <c:v>5.29</c:v>
                </c:pt>
                <c:pt idx="77">
                  <c:v>6.16</c:v>
                </c:pt>
                <c:pt idx="78">
                  <c:v>6.02</c:v>
                </c:pt>
                <c:pt idx="79">
                  <c:v>6.95</c:v>
                </c:pt>
                <c:pt idx="80">
                  <c:v>6.16</c:v>
                </c:pt>
                <c:pt idx="81">
                  <c:v>6.2</c:v>
                </c:pt>
                <c:pt idx="82">
                  <c:v>5.76</c:v>
                </c:pt>
                <c:pt idx="83">
                  <c:v>6.55</c:v>
                </c:pt>
                <c:pt idx="84">
                  <c:v>6.82</c:v>
                </c:pt>
                <c:pt idx="85">
                  <c:v>6.87</c:v>
                </c:pt>
                <c:pt idx="86">
                  <c:v>6.7</c:v>
                </c:pt>
                <c:pt idx="87">
                  <c:v>6.74</c:v>
                </c:pt>
                <c:pt idx="88">
                  <c:v>5.83</c:v>
                </c:pt>
                <c:pt idx="89">
                  <c:v>4.54</c:v>
                </c:pt>
                <c:pt idx="90">
                  <c:v>4.78</c:v>
                </c:pt>
                <c:pt idx="91">
                  <c:v>3.49</c:v>
                </c:pt>
                <c:pt idx="92">
                  <c:v>4.52</c:v>
                </c:pt>
                <c:pt idx="93">
                  <c:v>3.79</c:v>
                </c:pt>
                <c:pt idx="94">
                  <c:v>4.05</c:v>
                </c:pt>
                <c:pt idx="95">
                  <c:v>2.93</c:v>
                </c:pt>
                <c:pt idx="96">
                  <c:v>3.32</c:v>
                </c:pt>
                <c:pt idx="97">
                  <c:v>2.7</c:v>
                </c:pt>
                <c:pt idx="98">
                  <c:v>3.03</c:v>
                </c:pt>
                <c:pt idx="99">
                  <c:v>3.1</c:v>
                </c:pt>
                <c:pt idx="100">
                  <c:v>3.65</c:v>
                </c:pt>
                <c:pt idx="101">
                  <c:v>4.19</c:v>
                </c:pt>
                <c:pt idx="102">
                  <c:v>4.19</c:v>
                </c:pt>
                <c:pt idx="103">
                  <c:v>4.35</c:v>
                </c:pt>
                <c:pt idx="104">
                  <c:v>3.49</c:v>
                </c:pt>
                <c:pt idx="105">
                  <c:v>4.24</c:v>
                </c:pt>
                <c:pt idx="106">
                  <c:v>6.04</c:v>
                </c:pt>
                <c:pt idx="107">
                  <c:v>7.11</c:v>
                </c:pt>
                <c:pt idx="108">
                  <c:v>5.89</c:v>
                </c:pt>
                <c:pt idx="109">
                  <c:v>6.24</c:v>
                </c:pt>
                <c:pt idx="110">
                  <c:v>7.14</c:v>
                </c:pt>
                <c:pt idx="111">
                  <c:v>7.28</c:v>
                </c:pt>
                <c:pt idx="112">
                  <c:v>7.87</c:v>
                </c:pt>
                <c:pt idx="113">
                  <c:v>8.56</c:v>
                </c:pt>
                <c:pt idx="114">
                  <c:v>8.08</c:v>
                </c:pt>
                <c:pt idx="115">
                  <c:v>8.26</c:v>
                </c:pt>
                <c:pt idx="116">
                  <c:v>8.64</c:v>
                </c:pt>
                <c:pt idx="117">
                  <c:v>8.5</c:v>
                </c:pt>
                <c:pt idx="118">
                  <c:v>8.08</c:v>
                </c:pt>
                <c:pt idx="119">
                  <c:v>7.38</c:v>
                </c:pt>
                <c:pt idx="120">
                  <c:v>7.26</c:v>
                </c:pt>
                <c:pt idx="121">
                  <c:v>7.88</c:v>
                </c:pt>
                <c:pt idx="122">
                  <c:v>7.44</c:v>
                </c:pt>
                <c:pt idx="123">
                  <c:v>7.76</c:v>
                </c:pt>
                <c:pt idx="124">
                  <c:v>7.41</c:v>
                </c:pt>
                <c:pt idx="125">
                  <c:v>6.83</c:v>
                </c:pt>
                <c:pt idx="126">
                  <c:v>7.44</c:v>
                </c:pt>
                <c:pt idx="127">
                  <c:v>7.52</c:v>
                </c:pt>
                <c:pt idx="128">
                  <c:v>8.19</c:v>
                </c:pt>
                <c:pt idx="129">
                  <c:v>7.5</c:v>
                </c:pt>
                <c:pt idx="130">
                  <c:v>5.38</c:v>
                </c:pt>
                <c:pt idx="131">
                  <c:v>4.95</c:v>
                </c:pt>
                <c:pt idx="132">
                  <c:v>5.26</c:v>
                </c:pt>
                <c:pt idx="133">
                  <c:v>5.01</c:v>
                </c:pt>
                <c:pt idx="134">
                  <c:v>4.82</c:v>
                </c:pt>
                <c:pt idx="135">
                  <c:v>4.61</c:v>
                </c:pt>
                <c:pt idx="136">
                  <c:v>4.4</c:v>
                </c:pt>
                <c:pt idx="137">
                  <c:v>4.17</c:v>
                </c:pt>
                <c:pt idx="138">
                  <c:v>3.57</c:v>
                </c:pt>
                <c:pt idx="139">
                  <c:v>4.09</c:v>
                </c:pt>
                <c:pt idx="140">
                  <c:v>3.86</c:v>
                </c:pt>
                <c:pt idx="141">
                  <c:v>4.82</c:v>
                </c:pt>
                <c:pt idx="142">
                  <c:v>5.6</c:v>
                </c:pt>
                <c:pt idx="143">
                  <c:v>6.05</c:v>
                </c:pt>
                <c:pt idx="144">
                  <c:v>5.41</c:v>
                </c:pt>
                <c:pt idx="145">
                  <c:v>4.16</c:v>
                </c:pt>
                <c:pt idx="146">
                  <c:v>3.75</c:v>
                </c:pt>
                <c:pt idx="147">
                  <c:v>3.39</c:v>
                </c:pt>
                <c:pt idx="148">
                  <c:v>2.77</c:v>
                </c:pt>
                <c:pt idx="149">
                  <c:v>2.72</c:v>
                </c:pt>
                <c:pt idx="150">
                  <c:v>2.2</c:v>
                </c:pt>
                <c:pt idx="151">
                  <c:v>1.68</c:v>
                </c:pt>
                <c:pt idx="152">
                  <c:v>1.87</c:v>
                </c:pt>
                <c:pt idx="153">
                  <c:v>1.47</c:v>
                </c:pt>
                <c:pt idx="154">
                  <c:v>1.11</c:v>
                </c:pt>
                <c:pt idx="155">
                  <c:v>1.63</c:v>
                </c:pt>
                <c:pt idx="156">
                  <c:v>2.42</c:v>
                </c:pt>
                <c:pt idx="157">
                  <c:v>3.25</c:v>
                </c:pt>
                <c:pt idx="158">
                  <c:v>3.62</c:v>
                </c:pt>
                <c:pt idx="159">
                  <c:v/>
                </c:pt>
                <c:pt idx="160">
                  <c:v/>
                </c:pt>
                <c:pt idx="161">
                  <c:v/>
                </c:pt>
                <c:pt idx="162">
                  <c:v/>
                </c:pt>
              </c:numCache>
            </c:numRef>
          </c:val>
          <c:smooth val="0"/>
        </c:ser>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1B1F2A"/>
                </a:solidFill>
                <a:latin typeface="+mn-lt"/>
              </a:defRPr>
            </a:pPr>
            <a:endParaRPr lang="en-US"/>
          </a:p>
        </c:txPr>
        <c:crossAx val="2094734552"/>
        <c:crosses val="autoZero"/>
        <c:auto val="1"/>
        <c:lblAlgn val="ctr"/>
        <c:noMultiLvlLbl val="1"/>
        <c:tickLblSkip val="24"/>
      </c:catAx>
      <c:valAx>
        <c:axId val="2094734552"/>
        <c:scaling>
          <c:orientation val="minMax"/>
          <c:max val="12"/>
          <c:min val="0"/>
        </c:scaling>
        <c:delete val="0"/>
        <c:axPos val="l"/>
        <c:majorGridlines>
          <c:spPr>
            <a:ln w="6350" cap="flat">
              <a:solidFill>
                <a:srgbClr val="D9DCE1"/>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8F98"/>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Policy rates, percent, month end, 2016 to July 2026</a:t>
            </a:r>
          </a:p>
        </c:rich>
      </c:tx>
      <c:layout/>
      <c:overlay val="0"/>
    </c:title>
    <c:autoTitleDeleted val="0"/>
    <c:plotArea>
      <c:layout/>
      <c:lineChart>
        <c:varyColors val="0"/>
        <c:ser>
          <c:idx val="0"/>
          <c:order val="0"/>
          <c:tx>
            <c:strRef>
              <c:f>Sheet1!$B$1</c:f>
              <c:strCache>
                <c:ptCount val="1"/>
                <c:pt idx="0">
                  <c:v>RBI repo rate</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Sheet1!$A$2:$A$128</c:f>
              <c:multiLvlStrCache>
                <c:ptCount val="127"/>
                <c:lvl>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pt idx="48">
                    <c:v>2020</c:v>
                  </c:pt>
                  <c:pt idx="49">
                    <c:v>2020</c:v>
                  </c:pt>
                  <c:pt idx="50">
                    <c:v>2020</c:v>
                  </c:pt>
                  <c:pt idx="51">
                    <c:v>2020</c:v>
                  </c:pt>
                  <c:pt idx="52">
                    <c:v>2020</c:v>
                  </c:pt>
                  <c:pt idx="53">
                    <c:v>2020</c:v>
                  </c:pt>
                  <c:pt idx="54">
                    <c:v>2020</c:v>
                  </c:pt>
                  <c:pt idx="55">
                    <c:v>2020</c:v>
                  </c:pt>
                  <c:pt idx="56">
                    <c:v>2020</c:v>
                  </c:pt>
                  <c:pt idx="57">
                    <c:v>2020</c:v>
                  </c:pt>
                  <c:pt idx="58">
                    <c:v>2020</c:v>
                  </c:pt>
                  <c:pt idx="59">
                    <c:v>2020</c:v>
                  </c:pt>
                  <c:pt idx="60">
                    <c:v>2021</c:v>
                  </c:pt>
                  <c:pt idx="61">
                    <c:v>2021</c:v>
                  </c:pt>
                  <c:pt idx="62">
                    <c:v>2021</c:v>
                  </c:pt>
                  <c:pt idx="63">
                    <c:v>2021</c:v>
                  </c:pt>
                  <c:pt idx="64">
                    <c:v>2021</c:v>
                  </c:pt>
                  <c:pt idx="65">
                    <c:v>2021</c:v>
                  </c:pt>
                  <c:pt idx="66">
                    <c:v>2021</c:v>
                  </c:pt>
                  <c:pt idx="67">
                    <c:v>2021</c:v>
                  </c:pt>
                  <c:pt idx="68">
                    <c:v>2021</c:v>
                  </c:pt>
                  <c:pt idx="69">
                    <c:v>2021</c:v>
                  </c:pt>
                  <c:pt idx="70">
                    <c:v>2021</c:v>
                  </c:pt>
                  <c:pt idx="71">
                    <c:v>2021</c:v>
                  </c:pt>
                  <c:pt idx="72">
                    <c:v>2022</c:v>
                  </c:pt>
                  <c:pt idx="73">
                    <c:v>2022</c:v>
                  </c:pt>
                  <c:pt idx="74">
                    <c:v>2022</c:v>
                  </c:pt>
                  <c:pt idx="75">
                    <c:v>2022</c:v>
                  </c:pt>
                  <c:pt idx="76">
                    <c:v>2022</c:v>
                  </c:pt>
                  <c:pt idx="77">
                    <c:v>2022</c:v>
                  </c:pt>
                  <c:pt idx="78">
                    <c:v>2022</c:v>
                  </c:pt>
                  <c:pt idx="79">
                    <c:v>2022</c:v>
                  </c:pt>
                  <c:pt idx="80">
                    <c:v>2022</c:v>
                  </c:pt>
                  <c:pt idx="81">
                    <c:v>2022</c:v>
                  </c:pt>
                  <c:pt idx="82">
                    <c:v>2022</c:v>
                  </c:pt>
                  <c:pt idx="83">
                    <c:v>2022</c:v>
                  </c:pt>
                  <c:pt idx="84">
                    <c:v>2023</c:v>
                  </c:pt>
                  <c:pt idx="85">
                    <c:v>2023</c:v>
                  </c:pt>
                  <c:pt idx="86">
                    <c:v>2023</c:v>
                  </c:pt>
                  <c:pt idx="87">
                    <c:v>2023</c:v>
                  </c:pt>
                  <c:pt idx="88">
                    <c:v>2023</c:v>
                  </c:pt>
                  <c:pt idx="89">
                    <c:v>2023</c:v>
                  </c:pt>
                  <c:pt idx="90">
                    <c:v>2023</c:v>
                  </c:pt>
                  <c:pt idx="91">
                    <c:v>2023</c:v>
                  </c:pt>
                  <c:pt idx="92">
                    <c:v>2023</c:v>
                  </c:pt>
                  <c:pt idx="93">
                    <c:v>2023</c:v>
                  </c:pt>
                  <c:pt idx="94">
                    <c:v>2023</c:v>
                  </c:pt>
                  <c:pt idx="95">
                    <c:v>2023</c:v>
                  </c:pt>
                  <c:pt idx="96">
                    <c:v>2024</c:v>
                  </c:pt>
                  <c:pt idx="97">
                    <c:v>2024</c:v>
                  </c:pt>
                  <c:pt idx="98">
                    <c:v>2024</c:v>
                  </c:pt>
                  <c:pt idx="99">
                    <c:v>2024</c:v>
                  </c:pt>
                  <c:pt idx="100">
                    <c:v>2024</c:v>
                  </c:pt>
                  <c:pt idx="101">
                    <c:v>2024</c:v>
                  </c:pt>
                  <c:pt idx="102">
                    <c:v>2024</c:v>
                  </c:pt>
                  <c:pt idx="103">
                    <c:v>2024</c:v>
                  </c:pt>
                  <c:pt idx="104">
                    <c:v>2024</c:v>
                  </c:pt>
                  <c:pt idx="105">
                    <c:v>2024</c:v>
                  </c:pt>
                  <c:pt idx="106">
                    <c:v>2024</c:v>
                  </c:pt>
                  <c:pt idx="107">
                    <c:v>2024</c:v>
                  </c:pt>
                  <c:pt idx="108">
                    <c:v>2025</c:v>
                  </c:pt>
                  <c:pt idx="109">
                    <c:v>2025</c:v>
                  </c:pt>
                  <c:pt idx="110">
                    <c:v>2025</c:v>
                  </c:pt>
                  <c:pt idx="111">
                    <c:v>2025</c:v>
                  </c:pt>
                  <c:pt idx="112">
                    <c:v>2025</c:v>
                  </c:pt>
                  <c:pt idx="113">
                    <c:v>2025</c:v>
                  </c:pt>
                  <c:pt idx="114">
                    <c:v>2025</c:v>
                  </c:pt>
                  <c:pt idx="115">
                    <c:v>2025</c:v>
                  </c:pt>
                  <c:pt idx="116">
                    <c:v>2025</c:v>
                  </c:pt>
                  <c:pt idx="117">
                    <c:v>2025</c:v>
                  </c:pt>
                  <c:pt idx="118">
                    <c:v>2025</c:v>
                  </c:pt>
                  <c:pt idx="119">
                    <c:v>2025</c:v>
                  </c:pt>
                  <c:pt idx="120">
                    <c:v>2026</c:v>
                  </c:pt>
                  <c:pt idx="121">
                    <c:v>2026</c:v>
                  </c:pt>
                  <c:pt idx="122">
                    <c:v>2026</c:v>
                  </c:pt>
                  <c:pt idx="123">
                    <c:v>2026</c:v>
                  </c:pt>
                  <c:pt idx="124">
                    <c:v>2026</c:v>
                  </c:pt>
                  <c:pt idx="125">
                    <c:v>2026</c:v>
                  </c:pt>
                  <c:pt idx="126">
                    <c:v>2026</c:v>
                  </c:pt>
                </c:lvl>
              </c:multiLvlStrCache>
            </c:multiLvlStrRef>
          </c:cat>
          <c:val>
            <c:numRef>
              <c:f>Sheet1!$B$2:$B$128</c:f>
              <c:numCache>
                <c:formatCode>General</c:formatCode>
                <c:ptCount val="127"/>
                <c:pt idx="0">
                  <c:v>6.75</c:v>
                </c:pt>
                <c:pt idx="1">
                  <c:v>6.75</c:v>
                </c:pt>
                <c:pt idx="2">
                  <c:v>6.75</c:v>
                </c:pt>
                <c:pt idx="3">
                  <c:v>6.5</c:v>
                </c:pt>
                <c:pt idx="4">
                  <c:v>6.5</c:v>
                </c:pt>
                <c:pt idx="5">
                  <c:v>6.5</c:v>
                </c:pt>
                <c:pt idx="6">
                  <c:v>6.5</c:v>
                </c:pt>
                <c:pt idx="7">
                  <c:v>6.5</c:v>
                </c:pt>
                <c:pt idx="8">
                  <c:v>6.5</c:v>
                </c:pt>
                <c:pt idx="9">
                  <c:v>6.25</c:v>
                </c:pt>
                <c:pt idx="10">
                  <c:v>6.25</c:v>
                </c:pt>
                <c:pt idx="11">
                  <c:v>6.25</c:v>
                </c:pt>
                <c:pt idx="12">
                  <c:v>6.25</c:v>
                </c:pt>
                <c:pt idx="13">
                  <c:v>6.25</c:v>
                </c:pt>
                <c:pt idx="14">
                  <c:v>6.25</c:v>
                </c:pt>
                <c:pt idx="15">
                  <c:v>6.25</c:v>
                </c:pt>
                <c:pt idx="16">
                  <c:v>6.25</c:v>
                </c:pt>
                <c:pt idx="17">
                  <c:v>6.25</c:v>
                </c:pt>
                <c:pt idx="18">
                  <c:v>6.25</c:v>
                </c:pt>
                <c:pt idx="19">
                  <c:v>6</c:v>
                </c:pt>
                <c:pt idx="20">
                  <c:v>6</c:v>
                </c:pt>
                <c:pt idx="21">
                  <c:v>6</c:v>
                </c:pt>
                <c:pt idx="22">
                  <c:v>6</c:v>
                </c:pt>
                <c:pt idx="23">
                  <c:v>6</c:v>
                </c:pt>
                <c:pt idx="24">
                  <c:v>6</c:v>
                </c:pt>
                <c:pt idx="25">
                  <c:v>6</c:v>
                </c:pt>
                <c:pt idx="26">
                  <c:v>6</c:v>
                </c:pt>
                <c:pt idx="27">
                  <c:v>6</c:v>
                </c:pt>
                <c:pt idx="28">
                  <c:v>6</c:v>
                </c:pt>
                <c:pt idx="29">
                  <c:v>6.25</c:v>
                </c:pt>
                <c:pt idx="30">
                  <c:v>6.25</c:v>
                </c:pt>
                <c:pt idx="31">
                  <c:v>6.5</c:v>
                </c:pt>
                <c:pt idx="32">
                  <c:v>6.5</c:v>
                </c:pt>
                <c:pt idx="33">
                  <c:v>6.5</c:v>
                </c:pt>
                <c:pt idx="34">
                  <c:v>6.5</c:v>
                </c:pt>
                <c:pt idx="35">
                  <c:v>6.5</c:v>
                </c:pt>
                <c:pt idx="36">
                  <c:v>6.5</c:v>
                </c:pt>
                <c:pt idx="37">
                  <c:v>6.25</c:v>
                </c:pt>
                <c:pt idx="38">
                  <c:v>6.25</c:v>
                </c:pt>
                <c:pt idx="39">
                  <c:v>6</c:v>
                </c:pt>
                <c:pt idx="40">
                  <c:v>6</c:v>
                </c:pt>
                <c:pt idx="41">
                  <c:v>5.75</c:v>
                </c:pt>
                <c:pt idx="42">
                  <c:v>5.75</c:v>
                </c:pt>
                <c:pt idx="43">
                  <c:v>5.4</c:v>
                </c:pt>
                <c:pt idx="44">
                  <c:v>5.4</c:v>
                </c:pt>
                <c:pt idx="45">
                  <c:v>5.15</c:v>
                </c:pt>
                <c:pt idx="46">
                  <c:v>5.15</c:v>
                </c:pt>
                <c:pt idx="47">
                  <c:v>5.15</c:v>
                </c:pt>
                <c:pt idx="48">
                  <c:v>5.15</c:v>
                </c:pt>
                <c:pt idx="49">
                  <c:v>5.15</c:v>
                </c:pt>
                <c:pt idx="50">
                  <c:v>4.4</c:v>
                </c:pt>
                <c:pt idx="51">
                  <c:v>4.4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4.4</c:v>
                </c:pt>
                <c:pt idx="77">
                  <c:v>4.9</c:v>
                </c:pt>
                <c:pt idx="78">
                  <c:v>4.9</c:v>
                </c:pt>
                <c:pt idx="79">
                  <c:v>5.4</c:v>
                </c:pt>
                <c:pt idx="80">
                  <c:v>5.9</c:v>
                </c:pt>
                <c:pt idx="81">
                  <c:v>5.9</c:v>
                </c:pt>
                <c:pt idx="82">
                  <c:v>5.9</c:v>
                </c:pt>
                <c:pt idx="83">
                  <c:v>6.25</c:v>
                </c:pt>
                <c:pt idx="84">
                  <c:v>6.25</c:v>
                </c:pt>
                <c:pt idx="85">
                  <c:v>6.5</c:v>
                </c:pt>
                <c:pt idx="86">
                  <c:v>6.5</c:v>
                </c:pt>
                <c:pt idx="87">
                  <c:v>6.5</c:v>
                </c:pt>
                <c:pt idx="88">
                  <c:v>6.5</c:v>
                </c:pt>
                <c:pt idx="89">
                  <c:v>6.5</c:v>
                </c:pt>
                <c:pt idx="90">
                  <c:v>6.5</c:v>
                </c:pt>
                <c:pt idx="91">
                  <c:v>6.5</c:v>
                </c:pt>
                <c:pt idx="92">
                  <c:v>6.5</c:v>
                </c:pt>
                <c:pt idx="93">
                  <c:v>6.5</c:v>
                </c:pt>
                <c:pt idx="94">
                  <c:v>6.5</c:v>
                </c:pt>
                <c:pt idx="95">
                  <c:v>6.5</c:v>
                </c:pt>
                <c:pt idx="96">
                  <c:v>6.5</c:v>
                </c:pt>
                <c:pt idx="97">
                  <c:v>6.5</c:v>
                </c:pt>
                <c:pt idx="98">
                  <c:v>6.5</c:v>
                </c:pt>
                <c:pt idx="99">
                  <c:v>6.5</c:v>
                </c:pt>
                <c:pt idx="100">
                  <c:v>6.5</c:v>
                </c:pt>
                <c:pt idx="101">
                  <c:v>6.5</c:v>
                </c:pt>
                <c:pt idx="102">
                  <c:v>6.5</c:v>
                </c:pt>
                <c:pt idx="103">
                  <c:v>6.5</c:v>
                </c:pt>
                <c:pt idx="104">
                  <c:v>6.5</c:v>
                </c:pt>
                <c:pt idx="105">
                  <c:v>6.5</c:v>
                </c:pt>
                <c:pt idx="106">
                  <c:v>6.5</c:v>
                </c:pt>
                <c:pt idx="107">
                  <c:v>6.5</c:v>
                </c:pt>
                <c:pt idx="108">
                  <c:v>6.5</c:v>
                </c:pt>
                <c:pt idx="109">
                  <c:v>6.25</c:v>
                </c:pt>
                <c:pt idx="110">
                  <c:v>6.25</c:v>
                </c:pt>
                <c:pt idx="111">
                  <c:v>6</c:v>
                </c:pt>
                <c:pt idx="112">
                  <c:v>6</c:v>
                </c:pt>
                <c:pt idx="113">
                  <c:v>5.5</c:v>
                </c:pt>
                <c:pt idx="114">
                  <c:v>5.5</c:v>
                </c:pt>
                <c:pt idx="115">
                  <c:v>5.5</c:v>
                </c:pt>
                <c:pt idx="116">
                  <c:v>5.5</c:v>
                </c:pt>
                <c:pt idx="117">
                  <c:v>5.5</c:v>
                </c:pt>
                <c:pt idx="118">
                  <c:v>5.5</c:v>
                </c:pt>
                <c:pt idx="119">
                  <c:v>5.25</c:v>
                </c:pt>
                <c:pt idx="120">
                  <c:v>5.25</c:v>
                </c:pt>
                <c:pt idx="121">
                  <c:v>5.25</c:v>
                </c:pt>
                <c:pt idx="122">
                  <c:v>5.25</c:v>
                </c:pt>
                <c:pt idx="123">
                  <c:v>5.25</c:v>
                </c:pt>
                <c:pt idx="124">
                  <c:v>5.25</c:v>
                </c:pt>
                <c:pt idx="125">
                  <c:v>5.25</c:v>
                </c:pt>
                <c:pt idx="126">
                  <c:v>5.25</c:v>
                </c:pt>
              </c:numCache>
            </c:numRef>
          </c:val>
          <c:smooth val="0"/>
        </c:ser>
        <c:ser>
          <c:idx val="1"/>
          <c:order val="1"/>
          <c:tx>
            <c:strRef>
              <c:f>Sheet1!$C$1</c:f>
              <c:strCache>
                <c:ptCount val="1"/>
                <c:pt idx="0">
                  <c:v>NRB bank rate, corridor ceiling</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Sheet1!$A$2:$A$128</c:f>
              <c:multiLvlStrCache>
                <c:ptCount val="127"/>
                <c:lvl>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pt idx="48">
                    <c:v>2020</c:v>
                  </c:pt>
                  <c:pt idx="49">
                    <c:v>2020</c:v>
                  </c:pt>
                  <c:pt idx="50">
                    <c:v>2020</c:v>
                  </c:pt>
                  <c:pt idx="51">
                    <c:v>2020</c:v>
                  </c:pt>
                  <c:pt idx="52">
                    <c:v>2020</c:v>
                  </c:pt>
                  <c:pt idx="53">
                    <c:v>2020</c:v>
                  </c:pt>
                  <c:pt idx="54">
                    <c:v>2020</c:v>
                  </c:pt>
                  <c:pt idx="55">
                    <c:v>2020</c:v>
                  </c:pt>
                  <c:pt idx="56">
                    <c:v>2020</c:v>
                  </c:pt>
                  <c:pt idx="57">
                    <c:v>2020</c:v>
                  </c:pt>
                  <c:pt idx="58">
                    <c:v>2020</c:v>
                  </c:pt>
                  <c:pt idx="59">
                    <c:v>2020</c:v>
                  </c:pt>
                  <c:pt idx="60">
                    <c:v>2021</c:v>
                  </c:pt>
                  <c:pt idx="61">
                    <c:v>2021</c:v>
                  </c:pt>
                  <c:pt idx="62">
                    <c:v>2021</c:v>
                  </c:pt>
                  <c:pt idx="63">
                    <c:v>2021</c:v>
                  </c:pt>
                  <c:pt idx="64">
                    <c:v>2021</c:v>
                  </c:pt>
                  <c:pt idx="65">
                    <c:v>2021</c:v>
                  </c:pt>
                  <c:pt idx="66">
                    <c:v>2021</c:v>
                  </c:pt>
                  <c:pt idx="67">
                    <c:v>2021</c:v>
                  </c:pt>
                  <c:pt idx="68">
                    <c:v>2021</c:v>
                  </c:pt>
                  <c:pt idx="69">
                    <c:v>2021</c:v>
                  </c:pt>
                  <c:pt idx="70">
                    <c:v>2021</c:v>
                  </c:pt>
                  <c:pt idx="71">
                    <c:v>2021</c:v>
                  </c:pt>
                  <c:pt idx="72">
                    <c:v>2022</c:v>
                  </c:pt>
                  <c:pt idx="73">
                    <c:v>2022</c:v>
                  </c:pt>
                  <c:pt idx="74">
                    <c:v>2022</c:v>
                  </c:pt>
                  <c:pt idx="75">
                    <c:v>2022</c:v>
                  </c:pt>
                  <c:pt idx="76">
                    <c:v>2022</c:v>
                  </c:pt>
                  <c:pt idx="77">
                    <c:v>2022</c:v>
                  </c:pt>
                  <c:pt idx="78">
                    <c:v>2022</c:v>
                  </c:pt>
                  <c:pt idx="79">
                    <c:v>2022</c:v>
                  </c:pt>
                  <c:pt idx="80">
                    <c:v>2022</c:v>
                  </c:pt>
                  <c:pt idx="81">
                    <c:v>2022</c:v>
                  </c:pt>
                  <c:pt idx="82">
                    <c:v>2022</c:v>
                  </c:pt>
                  <c:pt idx="83">
                    <c:v>2022</c:v>
                  </c:pt>
                  <c:pt idx="84">
                    <c:v>2023</c:v>
                  </c:pt>
                  <c:pt idx="85">
                    <c:v>2023</c:v>
                  </c:pt>
                  <c:pt idx="86">
                    <c:v>2023</c:v>
                  </c:pt>
                  <c:pt idx="87">
                    <c:v>2023</c:v>
                  </c:pt>
                  <c:pt idx="88">
                    <c:v>2023</c:v>
                  </c:pt>
                  <c:pt idx="89">
                    <c:v>2023</c:v>
                  </c:pt>
                  <c:pt idx="90">
                    <c:v>2023</c:v>
                  </c:pt>
                  <c:pt idx="91">
                    <c:v>2023</c:v>
                  </c:pt>
                  <c:pt idx="92">
                    <c:v>2023</c:v>
                  </c:pt>
                  <c:pt idx="93">
                    <c:v>2023</c:v>
                  </c:pt>
                  <c:pt idx="94">
                    <c:v>2023</c:v>
                  </c:pt>
                  <c:pt idx="95">
                    <c:v>2023</c:v>
                  </c:pt>
                  <c:pt idx="96">
                    <c:v>2024</c:v>
                  </c:pt>
                  <c:pt idx="97">
                    <c:v>2024</c:v>
                  </c:pt>
                  <c:pt idx="98">
                    <c:v>2024</c:v>
                  </c:pt>
                  <c:pt idx="99">
                    <c:v>2024</c:v>
                  </c:pt>
                  <c:pt idx="100">
                    <c:v>2024</c:v>
                  </c:pt>
                  <c:pt idx="101">
                    <c:v>2024</c:v>
                  </c:pt>
                  <c:pt idx="102">
                    <c:v>2024</c:v>
                  </c:pt>
                  <c:pt idx="103">
                    <c:v>2024</c:v>
                  </c:pt>
                  <c:pt idx="104">
                    <c:v>2024</c:v>
                  </c:pt>
                  <c:pt idx="105">
                    <c:v>2024</c:v>
                  </c:pt>
                  <c:pt idx="106">
                    <c:v>2024</c:v>
                  </c:pt>
                  <c:pt idx="107">
                    <c:v>2024</c:v>
                  </c:pt>
                  <c:pt idx="108">
                    <c:v>2025</c:v>
                  </c:pt>
                  <c:pt idx="109">
                    <c:v>2025</c:v>
                  </c:pt>
                  <c:pt idx="110">
                    <c:v>2025</c:v>
                  </c:pt>
                  <c:pt idx="111">
                    <c:v>2025</c:v>
                  </c:pt>
                  <c:pt idx="112">
                    <c:v>2025</c:v>
                  </c:pt>
                  <c:pt idx="113">
                    <c:v>2025</c:v>
                  </c:pt>
                  <c:pt idx="114">
                    <c:v>2025</c:v>
                  </c:pt>
                  <c:pt idx="115">
                    <c:v>2025</c:v>
                  </c:pt>
                  <c:pt idx="116">
                    <c:v>2025</c:v>
                  </c:pt>
                  <c:pt idx="117">
                    <c:v>2025</c:v>
                  </c:pt>
                  <c:pt idx="118">
                    <c:v>2025</c:v>
                  </c:pt>
                  <c:pt idx="119">
                    <c:v>2025</c:v>
                  </c:pt>
                  <c:pt idx="120">
                    <c:v>2026</c:v>
                  </c:pt>
                  <c:pt idx="121">
                    <c:v>2026</c:v>
                  </c:pt>
                  <c:pt idx="122">
                    <c:v>2026</c:v>
                  </c:pt>
                  <c:pt idx="123">
                    <c:v>2026</c:v>
                  </c:pt>
                  <c:pt idx="124">
                    <c:v>2026</c:v>
                  </c:pt>
                  <c:pt idx="125">
                    <c:v>2026</c:v>
                  </c:pt>
                  <c:pt idx="126">
                    <c:v>2026</c:v>
                  </c:pt>
                </c:lvl>
              </c:multiLvlStrCache>
            </c:multiLvlStrRef>
          </c:cat>
          <c:val>
            <c:numRef>
              <c:f>Sheet1!$C$2:$C$128</c:f>
              <c:numCache>
                <c:formatCode>General</c:formatCode>
                <c:ptCount val="127"/>
                <c:pt idx="0">
                  <c:v>7</c:v>
                </c:pt>
                <c:pt idx="1">
                  <c:v>7</c:v>
                </c:pt>
                <c:pt idx="2">
                  <c:v>7</c:v>
                </c:pt>
                <c:pt idx="3">
                  <c:v>7</c:v>
                </c:pt>
                <c:pt idx="4">
                  <c:v>7</c:v>
                </c:pt>
                <c:pt idx="5">
                  <c:v>7</c:v>
                </c:pt>
                <c:pt idx="6">
                  <c:v>7</c:v>
                </c:pt>
                <c:pt idx="7">
                  <c:v>7</c:v>
                </c:pt>
                <c:pt idx="8">
                  <c:v>7</c:v>
                </c:pt>
                <c:pt idx="9">
                  <c:v>7</c:v>
                </c:pt>
                <c:pt idx="10">
                  <c:v>7</c:v>
                </c:pt>
                <c:pt idx="11">
                  <c:v>7</c:v>
                </c:pt>
                <c:pt idx="12">
                  <c:v>7</c:v>
                </c:pt>
                <c:pt idx="13">
                  <c:v>7</c:v>
                </c:pt>
                <c:pt idx="14">
                  <c:v>7</c:v>
                </c:pt>
                <c:pt idx="15">
                  <c:v>7</c:v>
                </c:pt>
                <c:pt idx="16">
                  <c:v>7</c:v>
                </c:pt>
                <c:pt idx="17">
                  <c:v>7</c:v>
                </c:pt>
                <c:pt idx="18">
                  <c:v>7</c:v>
                </c:pt>
                <c:pt idx="19">
                  <c:v>7</c:v>
                </c:pt>
                <c:pt idx="20">
                  <c:v>7</c:v>
                </c:pt>
                <c:pt idx="21">
                  <c:v>7</c:v>
                </c:pt>
                <c:pt idx="22">
                  <c:v>7</c:v>
                </c:pt>
                <c:pt idx="23">
                  <c:v>7</c:v>
                </c:pt>
                <c:pt idx="24">
                  <c:v>7</c:v>
                </c:pt>
                <c:pt idx="25">
                  <c:v>7</c:v>
                </c:pt>
                <c:pt idx="26">
                  <c:v>7</c:v>
                </c:pt>
                <c:pt idx="27">
                  <c:v>7</c:v>
                </c:pt>
                <c:pt idx="28">
                  <c:v>7</c:v>
                </c:pt>
                <c:pt idx="29">
                  <c:v>7</c:v>
                </c:pt>
                <c:pt idx="30">
                  <c:v>7</c:v>
                </c:pt>
                <c:pt idx="31">
                  <c:v>6.5</c:v>
                </c:pt>
                <c:pt idx="32">
                  <c:v>6.5</c:v>
                </c:pt>
                <c:pt idx="33">
                  <c:v>6.5</c:v>
                </c:pt>
                <c:pt idx="34">
                  <c:v>6.5</c:v>
                </c:pt>
                <c:pt idx="35">
                  <c:v>6.5</c:v>
                </c:pt>
                <c:pt idx="36">
                  <c:v>6.5</c:v>
                </c:pt>
                <c:pt idx="37">
                  <c:v>6.5</c:v>
                </c:pt>
                <c:pt idx="38">
                  <c:v>6.5</c:v>
                </c:pt>
                <c:pt idx="39">
                  <c:v>6.5</c:v>
                </c:pt>
                <c:pt idx="40">
                  <c:v>6.5</c:v>
                </c:pt>
                <c:pt idx="41">
                  <c:v>6.5</c:v>
                </c:pt>
                <c:pt idx="42">
                  <c:v>6.5</c:v>
                </c:pt>
                <c:pt idx="43">
                  <c:v>6.5</c:v>
                </c:pt>
                <c:pt idx="44">
                  <c:v>6.5</c:v>
                </c:pt>
                <c:pt idx="45">
                  <c:v>6</c:v>
                </c:pt>
                <c:pt idx="46">
                  <c:v>6</c:v>
                </c:pt>
                <c:pt idx="47">
                  <c:v>6</c:v>
                </c:pt>
                <c:pt idx="48">
                  <c:v>6</c:v>
                </c:pt>
                <c:pt idx="49">
                  <c:v>6</c:v>
                </c:pt>
                <c:pt idx="50">
                  <c:v>6</c:v>
                </c:pt>
                <c:pt idx="51">
                  <c:v>6</c:v>
                </c:pt>
                <c:pt idx="52">
                  <c:v>5</c:v>
                </c:pt>
                <c:pt idx="53">
                  <c:v>5</c:v>
                </c:pt>
                <c:pt idx="54">
                  <c:v>5</c:v>
                </c:pt>
                <c:pt idx="55">
                  <c:v>5</c:v>
                </c:pt>
                <c:pt idx="56">
                  <c:v>5</c:v>
                </c:pt>
                <c:pt idx="57">
                  <c:v>5</c:v>
                </c:pt>
                <c:pt idx="58">
                  <c:v>5</c:v>
                </c:pt>
                <c:pt idx="59">
                  <c:v>5</c:v>
                </c:pt>
                <c:pt idx="60">
                  <c:v>5</c:v>
                </c:pt>
                <c:pt idx="61">
                  <c:v>5</c:v>
                </c:pt>
                <c:pt idx="62">
                  <c:v>5</c:v>
                </c:pt>
                <c:pt idx="63">
                  <c:v>5</c:v>
                </c:pt>
                <c:pt idx="64">
                  <c:v>5</c:v>
                </c:pt>
                <c:pt idx="65">
                  <c:v>5</c:v>
                </c:pt>
                <c:pt idx="66">
                  <c:v>5</c:v>
                </c:pt>
                <c:pt idx="67">
                  <c:v>5</c:v>
                </c:pt>
                <c:pt idx="68">
                  <c:v>5</c:v>
                </c:pt>
                <c:pt idx="69">
                  <c:v>5</c:v>
                </c:pt>
                <c:pt idx="70">
                  <c:v>5</c:v>
                </c:pt>
                <c:pt idx="71">
                  <c:v>5</c:v>
                </c:pt>
                <c:pt idx="72">
                  <c:v>5</c:v>
                </c:pt>
                <c:pt idx="73">
                  <c:v>5</c:v>
                </c:pt>
                <c:pt idx="74">
                  <c:v>7</c:v>
                </c:pt>
                <c:pt idx="75">
                  <c:v>7</c:v>
                </c:pt>
                <c:pt idx="76">
                  <c:v>7</c:v>
                </c:pt>
                <c:pt idx="77">
                  <c:v>7</c:v>
                </c:pt>
                <c:pt idx="78">
                  <c:v>7</c:v>
                </c:pt>
                <c:pt idx="79">
                  <c:v>8.5</c:v>
                </c:pt>
                <c:pt idx="80">
                  <c:v>8.5</c:v>
                </c:pt>
                <c:pt idx="81">
                  <c:v>8.5</c:v>
                </c:pt>
                <c:pt idx="82">
                  <c:v>8.5</c:v>
                </c:pt>
                <c:pt idx="83">
                  <c:v>8.5</c:v>
                </c:pt>
                <c:pt idx="84">
                  <c:v>8.5</c:v>
                </c:pt>
                <c:pt idx="85">
                  <c:v>8.5</c:v>
                </c:pt>
                <c:pt idx="86">
                  <c:v>8.5</c:v>
                </c:pt>
                <c:pt idx="87">
                  <c:v>8.5</c:v>
                </c:pt>
                <c:pt idx="88">
                  <c:v>8.5</c:v>
                </c:pt>
                <c:pt idx="89">
                  <c:v>7.5</c:v>
                </c:pt>
                <c:pt idx="90">
                  <c:v>7.5</c:v>
                </c:pt>
                <c:pt idx="91">
                  <c:v>7.5</c:v>
                </c:pt>
                <c:pt idx="92">
                  <c:v>7.5</c:v>
                </c:pt>
                <c:pt idx="93">
                  <c:v>7.5</c:v>
                </c:pt>
                <c:pt idx="94">
                  <c:v>7.5</c:v>
                </c:pt>
                <c:pt idx="95">
                  <c:v>7</c:v>
                </c:pt>
                <c:pt idx="96">
                  <c:v>7</c:v>
                </c:pt>
                <c:pt idx="97">
                  <c:v>7</c:v>
                </c:pt>
                <c:pt idx="98">
                  <c:v>7</c:v>
                </c:pt>
                <c:pt idx="99">
                  <c:v>7</c:v>
                </c:pt>
                <c:pt idx="100">
                  <c:v>7</c:v>
                </c:pt>
                <c:pt idx="101">
                  <c:v>7</c:v>
                </c:pt>
                <c:pt idx="102">
                  <c:v>7</c:v>
                </c:pt>
                <c:pt idx="103">
                  <c:v>6.5</c:v>
                </c:pt>
                <c:pt idx="104">
                  <c:v>6.5</c:v>
                </c:pt>
                <c:pt idx="105">
                  <c:v>6.5</c:v>
                </c:pt>
                <c:pt idx="106">
                  <c:v>6.5</c:v>
                </c:pt>
                <c:pt idx="107">
                  <c:v>6.5</c:v>
                </c:pt>
                <c:pt idx="108">
                  <c:v>6.5</c:v>
                </c:pt>
                <c:pt idx="109">
                  <c:v>6.5</c:v>
                </c:pt>
                <c:pt idx="110">
                  <c:v>6.5</c:v>
                </c:pt>
                <c:pt idx="111">
                  <c:v>6.5</c:v>
                </c:pt>
                <c:pt idx="112">
                  <c:v>6.5</c:v>
                </c:pt>
                <c:pt idx="113">
                  <c:v>6.5</c:v>
                </c:pt>
                <c:pt idx="114">
                  <c:v>6.5</c:v>
                </c:pt>
                <c:pt idx="115">
                  <c:v>6</c:v>
                </c:pt>
                <c:pt idx="116">
                  <c:v>6</c:v>
                </c:pt>
                <c:pt idx="117">
                  <c:v>6</c:v>
                </c:pt>
                <c:pt idx="118">
                  <c:v>6</c:v>
                </c:pt>
                <c:pt idx="119">
                  <c:v>5.75</c:v>
                </c:pt>
                <c:pt idx="120">
                  <c:v>5.75</c:v>
                </c:pt>
                <c:pt idx="121">
                  <c:v>5.75</c:v>
                </c:pt>
                <c:pt idx="122">
                  <c:v>5.75</c:v>
                </c:pt>
                <c:pt idx="123">
                  <c:v>5.75</c:v>
                </c:pt>
                <c:pt idx="124">
                  <c:v>5.75</c:v>
                </c:pt>
                <c:pt idx="125">
                  <c:v>5.75</c:v>
                </c:pt>
                <c:pt idx="126">
                  <c:v>5.75</c:v>
                </c:pt>
              </c:numCache>
            </c:numRef>
          </c:val>
          <c:smooth val="0"/>
        </c:ser>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1B1F2A"/>
                </a:solidFill>
                <a:latin typeface="+mn-lt"/>
              </a:defRPr>
            </a:pPr>
            <a:endParaRPr lang="en-US"/>
          </a:p>
        </c:txPr>
        <c:crossAx val="2094734552"/>
        <c:crosses val="autoZero"/>
        <c:auto val="1"/>
        <c:lblAlgn val="ctr"/>
        <c:noMultiLvlLbl val="1"/>
        <c:tickLblSkip val="24"/>
      </c:catAx>
      <c:valAx>
        <c:axId val="2094734552"/>
        <c:scaling>
          <c:orientation val="minMax"/>
          <c:max val="9"/>
          <c:min val="3"/>
        </c:scaling>
        <c:delete val="0"/>
        <c:axPos val="l"/>
        <c:majorGridlines>
          <c:spPr>
            <a:ln w="6350" cap="flat">
              <a:solidFill>
                <a:srgbClr val="D9DCE1"/>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8F98"/>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Lean three months ahead against moves over 0.5 point</a:t>
            </a:r>
          </a:p>
        </c:rich>
      </c:tx>
      <c:layout/>
      <c:overlay val="0"/>
    </c:title>
    <c:autoTitleDeleted val="0"/>
    <c:plotArea>
      <c:layout/>
      <c:barChart>
        <c:barDir val="col"/>
        <c:grouping val="stacked"/>
        <c:varyColors val="0"/>
        <c:ser>
          <c:idx val="0"/>
          <c:order val="0"/>
          <c:tx>
            <c:strRef>
              <c:f>Sheet1!$B$1</c:f>
              <c:strCache>
                <c:ptCount val="1"/>
                <c:pt idx="0">
                  <c:v>Actual rise</c:v>
                </c:pt>
              </c:strCache>
            </c:strRef>
          </c:tx>
          <c:spPr>
            <a:solidFill>
              <a:srgbClr val="F4B08E"/>
            </a:solidFill>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cat>
            <c:multiLvlStrRef>
              <c:f>Sheet1!$A$2:$A$219</c:f>
              <c:multiLvlStrCache>
                <c:ptCount val="218"/>
                <c:lvl>
                  <c:pt idx="0">
                    <c:v>2008</c:v>
                  </c:pt>
                  <c:pt idx="1">
                    <c:v>2008</c:v>
                  </c:pt>
                  <c:pt idx="2">
                    <c:v>2008</c:v>
                  </c:pt>
                  <c:pt idx="3">
                    <c:v>2008</c:v>
                  </c:pt>
                  <c:pt idx="4">
                    <c:v>2009</c:v>
                  </c:pt>
                  <c:pt idx="5">
                    <c:v>2009</c:v>
                  </c:pt>
                  <c:pt idx="6">
                    <c:v>2009</c:v>
                  </c:pt>
                  <c:pt idx="7">
                    <c:v>2009</c:v>
                  </c:pt>
                  <c:pt idx="8">
                    <c:v>2009</c:v>
                  </c:pt>
                  <c:pt idx="9">
                    <c:v>2009</c:v>
                  </c:pt>
                  <c:pt idx="10">
                    <c:v>2009</c:v>
                  </c:pt>
                  <c:pt idx="11">
                    <c:v>2009</c:v>
                  </c:pt>
                  <c:pt idx="12">
                    <c:v>2009</c:v>
                  </c:pt>
                  <c:pt idx="13">
                    <c:v>2009</c:v>
                  </c:pt>
                  <c:pt idx="14">
                    <c:v>2009</c:v>
                  </c:pt>
                  <c:pt idx="15">
                    <c:v>2009</c:v>
                  </c:pt>
                  <c:pt idx="16">
                    <c:v>2010</c:v>
                  </c:pt>
                  <c:pt idx="17">
                    <c:v>2010</c:v>
                  </c:pt>
                  <c:pt idx="18">
                    <c:v>2010</c:v>
                  </c:pt>
                  <c:pt idx="19">
                    <c:v>2010</c:v>
                  </c:pt>
                  <c:pt idx="20">
                    <c:v>2010</c:v>
                  </c:pt>
                  <c:pt idx="21">
                    <c:v>2010</c:v>
                  </c:pt>
                  <c:pt idx="22">
                    <c:v>2010</c:v>
                  </c:pt>
                  <c:pt idx="23">
                    <c:v>2010</c:v>
                  </c:pt>
                  <c:pt idx="24">
                    <c:v>2010</c:v>
                  </c:pt>
                  <c:pt idx="25">
                    <c:v>2010</c:v>
                  </c:pt>
                  <c:pt idx="26">
                    <c:v>2010</c:v>
                  </c:pt>
                  <c:pt idx="27">
                    <c:v>2010</c:v>
                  </c:pt>
                  <c:pt idx="28">
                    <c:v>2011</c:v>
                  </c:pt>
                  <c:pt idx="29">
                    <c:v>2011</c:v>
                  </c:pt>
                  <c:pt idx="30">
                    <c:v>2011</c:v>
                  </c:pt>
                  <c:pt idx="31">
                    <c:v>2011</c:v>
                  </c:pt>
                  <c:pt idx="32">
                    <c:v>2011</c:v>
                  </c:pt>
                  <c:pt idx="33">
                    <c:v>2011</c:v>
                  </c:pt>
                  <c:pt idx="34">
                    <c:v>2011</c:v>
                  </c:pt>
                  <c:pt idx="35">
                    <c:v>2011</c:v>
                  </c:pt>
                  <c:pt idx="36">
                    <c:v>2011</c:v>
                  </c:pt>
                  <c:pt idx="37">
                    <c:v>2011</c:v>
                  </c:pt>
                  <c:pt idx="38">
                    <c:v>2011</c:v>
                  </c:pt>
                  <c:pt idx="39">
                    <c:v>2011</c:v>
                  </c:pt>
                  <c:pt idx="40">
                    <c:v>2012</c:v>
                  </c:pt>
                  <c:pt idx="41">
                    <c:v>2012</c:v>
                  </c:pt>
                  <c:pt idx="42">
                    <c:v>2012</c:v>
                  </c:pt>
                  <c:pt idx="43">
                    <c:v>2012</c:v>
                  </c:pt>
                  <c:pt idx="44">
                    <c:v>2012</c:v>
                  </c:pt>
                  <c:pt idx="45">
                    <c:v>2012</c:v>
                  </c:pt>
                  <c:pt idx="46">
                    <c:v>2012</c:v>
                  </c:pt>
                  <c:pt idx="47">
                    <c:v>2012</c:v>
                  </c:pt>
                  <c:pt idx="48">
                    <c:v>2012</c:v>
                  </c:pt>
                  <c:pt idx="49">
                    <c:v>2012</c:v>
                  </c:pt>
                  <c:pt idx="50">
                    <c:v>2012</c:v>
                  </c:pt>
                  <c:pt idx="51">
                    <c:v>2012</c:v>
                  </c:pt>
                  <c:pt idx="52">
                    <c:v>2013</c:v>
                  </c:pt>
                  <c:pt idx="53">
                    <c:v>2013</c:v>
                  </c:pt>
                  <c:pt idx="54">
                    <c:v>2013</c:v>
                  </c:pt>
                  <c:pt idx="55">
                    <c:v>2013</c:v>
                  </c:pt>
                  <c:pt idx="56">
                    <c:v>2013</c:v>
                  </c:pt>
                  <c:pt idx="57">
                    <c:v>2013</c:v>
                  </c:pt>
                  <c:pt idx="58">
                    <c:v>2013</c:v>
                  </c:pt>
                  <c:pt idx="59">
                    <c:v>2013</c:v>
                  </c:pt>
                  <c:pt idx="60">
                    <c:v>2013</c:v>
                  </c:pt>
                  <c:pt idx="61">
                    <c:v>2013</c:v>
                  </c:pt>
                  <c:pt idx="62">
                    <c:v>2013</c:v>
                  </c:pt>
                  <c:pt idx="63">
                    <c:v>2013</c:v>
                  </c:pt>
                  <c:pt idx="64">
                    <c:v>2014</c:v>
                  </c:pt>
                  <c:pt idx="65">
                    <c:v>2014</c:v>
                  </c:pt>
                  <c:pt idx="66">
                    <c:v>2014</c:v>
                  </c:pt>
                  <c:pt idx="67">
                    <c:v>2014</c:v>
                  </c:pt>
                  <c:pt idx="68">
                    <c:v>2014</c:v>
                  </c:pt>
                  <c:pt idx="69">
                    <c:v>2014</c:v>
                  </c:pt>
                  <c:pt idx="70">
                    <c:v>2014</c:v>
                  </c:pt>
                  <c:pt idx="71">
                    <c:v>2014</c:v>
                  </c:pt>
                  <c:pt idx="72">
                    <c:v>2014</c:v>
                  </c:pt>
                  <c:pt idx="73">
                    <c:v>2014</c:v>
                  </c:pt>
                  <c:pt idx="74">
                    <c:v>2014</c:v>
                  </c:pt>
                  <c:pt idx="75">
                    <c:v>2014</c:v>
                  </c:pt>
                  <c:pt idx="76">
                    <c:v>2015</c:v>
                  </c:pt>
                  <c:pt idx="77">
                    <c:v>2015</c:v>
                  </c:pt>
                  <c:pt idx="78">
                    <c:v>2015</c:v>
                  </c:pt>
                  <c:pt idx="79">
                    <c:v>2015</c:v>
                  </c:pt>
                  <c:pt idx="80">
                    <c:v>2015</c:v>
                  </c:pt>
                  <c:pt idx="81">
                    <c:v>2015</c:v>
                  </c:pt>
                  <c:pt idx="82">
                    <c:v>2015</c:v>
                  </c:pt>
                  <c:pt idx="83">
                    <c:v>2015</c:v>
                  </c:pt>
                  <c:pt idx="84">
                    <c:v>2015</c:v>
                  </c:pt>
                  <c:pt idx="85">
                    <c:v>2015</c:v>
                  </c:pt>
                  <c:pt idx="86">
                    <c:v>2015</c:v>
                  </c:pt>
                  <c:pt idx="87">
                    <c:v>2015</c:v>
                  </c:pt>
                  <c:pt idx="88">
                    <c:v>2016</c:v>
                  </c:pt>
                  <c:pt idx="89">
                    <c:v>2016</c:v>
                  </c:pt>
                  <c:pt idx="90">
                    <c:v>2016</c:v>
                  </c:pt>
                  <c:pt idx="91">
                    <c:v>2016</c:v>
                  </c:pt>
                  <c:pt idx="92">
                    <c:v>2016</c:v>
                  </c:pt>
                  <c:pt idx="93">
                    <c:v>2016</c:v>
                  </c:pt>
                  <c:pt idx="94">
                    <c:v>2016</c:v>
                  </c:pt>
                  <c:pt idx="95">
                    <c:v>2016</c:v>
                  </c:pt>
                  <c:pt idx="96">
                    <c:v>2016</c:v>
                  </c:pt>
                  <c:pt idx="97">
                    <c:v>2016</c:v>
                  </c:pt>
                  <c:pt idx="98">
                    <c:v>2016</c:v>
                  </c:pt>
                  <c:pt idx="99">
                    <c:v>2016</c:v>
                  </c:pt>
                  <c:pt idx="100">
                    <c:v>2017</c:v>
                  </c:pt>
                  <c:pt idx="101">
                    <c:v>2017</c:v>
                  </c:pt>
                  <c:pt idx="102">
                    <c:v>2017</c:v>
                  </c:pt>
                  <c:pt idx="103">
                    <c:v>2017</c:v>
                  </c:pt>
                  <c:pt idx="104">
                    <c:v>2017</c:v>
                  </c:pt>
                  <c:pt idx="105">
                    <c:v>2017</c:v>
                  </c:pt>
                  <c:pt idx="106">
                    <c:v>2017</c:v>
                  </c:pt>
                  <c:pt idx="107">
                    <c:v>2017</c:v>
                  </c:pt>
                  <c:pt idx="108">
                    <c:v>2017</c:v>
                  </c:pt>
                  <c:pt idx="109">
                    <c:v>2017</c:v>
                  </c:pt>
                  <c:pt idx="110">
                    <c:v>2017</c:v>
                  </c:pt>
                  <c:pt idx="111">
                    <c:v>2017</c:v>
                  </c:pt>
                  <c:pt idx="112">
                    <c:v>2018</c:v>
                  </c:pt>
                  <c:pt idx="113">
                    <c:v>2018</c:v>
                  </c:pt>
                  <c:pt idx="114">
                    <c:v>2018</c:v>
                  </c:pt>
                  <c:pt idx="115">
                    <c:v>2018</c:v>
                  </c:pt>
                  <c:pt idx="116">
                    <c:v>2018</c:v>
                  </c:pt>
                  <c:pt idx="117">
                    <c:v>2018</c:v>
                  </c:pt>
                  <c:pt idx="118">
                    <c:v>2018</c:v>
                  </c:pt>
                  <c:pt idx="119">
                    <c:v>2018</c:v>
                  </c:pt>
                  <c:pt idx="120">
                    <c:v>2018</c:v>
                  </c:pt>
                  <c:pt idx="121">
                    <c:v>2018</c:v>
                  </c:pt>
                  <c:pt idx="122">
                    <c:v>2018</c:v>
                  </c:pt>
                  <c:pt idx="123">
                    <c:v>2018</c:v>
                  </c:pt>
                  <c:pt idx="124">
                    <c:v>2019</c:v>
                  </c:pt>
                  <c:pt idx="125">
                    <c:v>2019</c:v>
                  </c:pt>
                  <c:pt idx="126">
                    <c:v>2019</c:v>
                  </c:pt>
                  <c:pt idx="127">
                    <c:v>2019</c:v>
                  </c:pt>
                  <c:pt idx="128">
                    <c:v>2019</c:v>
                  </c:pt>
                  <c:pt idx="129">
                    <c:v>2019</c:v>
                  </c:pt>
                  <c:pt idx="130">
                    <c:v>2019</c:v>
                  </c:pt>
                  <c:pt idx="131">
                    <c:v>2019</c:v>
                  </c:pt>
                  <c:pt idx="132">
                    <c:v>2019</c:v>
                  </c:pt>
                  <c:pt idx="133">
                    <c:v>2019</c:v>
                  </c:pt>
                  <c:pt idx="134">
                    <c:v>2019</c:v>
                  </c:pt>
                  <c:pt idx="135">
                    <c:v>2019</c:v>
                  </c:pt>
                  <c:pt idx="136">
                    <c:v>2020</c:v>
                  </c:pt>
                  <c:pt idx="137">
                    <c:v>2020</c:v>
                  </c:pt>
                  <c:pt idx="138">
                    <c:v>2020</c:v>
                  </c:pt>
                  <c:pt idx="139">
                    <c:v>2020</c:v>
                  </c:pt>
                  <c:pt idx="140">
                    <c:v>2020</c:v>
                  </c:pt>
                  <c:pt idx="141">
                    <c:v>2020</c:v>
                  </c:pt>
                  <c:pt idx="142">
                    <c:v>2020</c:v>
                  </c:pt>
                  <c:pt idx="143">
                    <c:v>2020</c:v>
                  </c:pt>
                  <c:pt idx="144">
                    <c:v>2020</c:v>
                  </c:pt>
                  <c:pt idx="145">
                    <c:v>2020</c:v>
                  </c:pt>
                  <c:pt idx="146">
                    <c:v>2020</c:v>
                  </c:pt>
                  <c:pt idx="147">
                    <c:v>2020</c:v>
                  </c:pt>
                  <c:pt idx="148">
                    <c:v>2021</c:v>
                  </c:pt>
                  <c:pt idx="149">
                    <c:v>2021</c:v>
                  </c:pt>
                  <c:pt idx="150">
                    <c:v>2021</c:v>
                  </c:pt>
                  <c:pt idx="151">
                    <c:v>2021</c:v>
                  </c:pt>
                  <c:pt idx="152">
                    <c:v>2021</c:v>
                  </c:pt>
                  <c:pt idx="153">
                    <c:v>2021</c:v>
                  </c:pt>
                  <c:pt idx="154">
                    <c:v>2021</c:v>
                  </c:pt>
                  <c:pt idx="155">
                    <c:v>2021</c:v>
                  </c:pt>
                  <c:pt idx="156">
                    <c:v>2021</c:v>
                  </c:pt>
                  <c:pt idx="157">
                    <c:v>2021</c:v>
                  </c:pt>
                  <c:pt idx="158">
                    <c:v>2021</c:v>
                  </c:pt>
                  <c:pt idx="159">
                    <c:v>2021</c:v>
                  </c:pt>
                  <c:pt idx="160">
                    <c:v>2022</c:v>
                  </c:pt>
                  <c:pt idx="161">
                    <c:v>2022</c:v>
                  </c:pt>
                  <c:pt idx="162">
                    <c:v>2022</c:v>
                  </c:pt>
                  <c:pt idx="163">
                    <c:v>2022</c:v>
                  </c:pt>
                  <c:pt idx="164">
                    <c:v>2022</c:v>
                  </c:pt>
                  <c:pt idx="165">
                    <c:v>2022</c:v>
                  </c:pt>
                  <c:pt idx="166">
                    <c:v>2022</c:v>
                  </c:pt>
                  <c:pt idx="167">
                    <c:v>2022</c:v>
                  </c:pt>
                  <c:pt idx="168">
                    <c:v>2022</c:v>
                  </c:pt>
                  <c:pt idx="169">
                    <c:v>2022</c:v>
                  </c:pt>
                  <c:pt idx="170">
                    <c:v>2022</c:v>
                  </c:pt>
                  <c:pt idx="171">
                    <c:v>2022</c:v>
                  </c:pt>
                  <c:pt idx="172">
                    <c:v>2023</c:v>
                  </c:pt>
                  <c:pt idx="173">
                    <c:v>2023</c:v>
                  </c:pt>
                  <c:pt idx="174">
                    <c:v>2023</c:v>
                  </c:pt>
                  <c:pt idx="175">
                    <c:v>2023</c:v>
                  </c:pt>
                  <c:pt idx="176">
                    <c:v>2023</c:v>
                  </c:pt>
                  <c:pt idx="177">
                    <c:v>2023</c:v>
                  </c:pt>
                  <c:pt idx="178">
                    <c:v>2023</c:v>
                  </c:pt>
                  <c:pt idx="179">
                    <c:v>2023</c:v>
                  </c:pt>
                  <c:pt idx="180">
                    <c:v>2023</c:v>
                  </c:pt>
                  <c:pt idx="181">
                    <c:v>2023</c:v>
                  </c:pt>
                  <c:pt idx="182">
                    <c:v>2023</c:v>
                  </c:pt>
                  <c:pt idx="183">
                    <c:v>2023</c:v>
                  </c:pt>
                  <c:pt idx="184">
                    <c:v>2024</c:v>
                  </c:pt>
                  <c:pt idx="185">
                    <c:v>2024</c:v>
                  </c:pt>
                  <c:pt idx="186">
                    <c:v>2024</c:v>
                  </c:pt>
                  <c:pt idx="187">
                    <c:v>2024</c:v>
                  </c:pt>
                  <c:pt idx="188">
                    <c:v>2024</c:v>
                  </c:pt>
                  <c:pt idx="189">
                    <c:v>2024</c:v>
                  </c:pt>
                  <c:pt idx="190">
                    <c:v>2024</c:v>
                  </c:pt>
                  <c:pt idx="191">
                    <c:v>2024</c:v>
                  </c:pt>
                  <c:pt idx="192">
                    <c:v>2024</c:v>
                  </c:pt>
                  <c:pt idx="193">
                    <c:v>2024</c:v>
                  </c:pt>
                  <c:pt idx="194">
                    <c:v>2024</c:v>
                  </c:pt>
                  <c:pt idx="195">
                    <c:v>2024</c:v>
                  </c:pt>
                  <c:pt idx="196">
                    <c:v>2025</c:v>
                  </c:pt>
                  <c:pt idx="197">
                    <c:v>2025</c:v>
                  </c:pt>
                  <c:pt idx="198">
                    <c:v>2025</c:v>
                  </c:pt>
                  <c:pt idx="199">
                    <c:v>2025</c:v>
                  </c:pt>
                  <c:pt idx="200">
                    <c:v>2025</c:v>
                  </c:pt>
                  <c:pt idx="201">
                    <c:v>2025</c:v>
                  </c:pt>
                  <c:pt idx="202">
                    <c:v>2025</c:v>
                  </c:pt>
                  <c:pt idx="203">
                    <c:v>2025</c:v>
                  </c:pt>
                  <c:pt idx="204">
                    <c:v>2025</c:v>
                  </c:pt>
                  <c:pt idx="205">
                    <c:v>2025</c:v>
                  </c:pt>
                  <c:pt idx="206">
                    <c:v>2025</c:v>
                  </c:pt>
                  <c:pt idx="207">
                    <c:v>2025</c:v>
                  </c:pt>
                  <c:pt idx="208">
                    <c:v>2026</c:v>
                  </c:pt>
                  <c:pt idx="209">
                    <c:v>2026</c:v>
                  </c:pt>
                  <c:pt idx="210">
                    <c:v>2026</c:v>
                  </c:pt>
                  <c:pt idx="211">
                    <c:v>2026</c:v>
                  </c:pt>
                  <c:pt idx="212">
                    <c:v>2026</c:v>
                  </c:pt>
                  <c:pt idx="213">
                    <c:v>2026</c:v>
                  </c:pt>
                  <c:pt idx="214">
                    <c:v>2026</c:v>
                  </c:pt>
                  <c:pt idx="215">
                    <c:v>2026</c:v>
                  </c:pt>
                  <c:pt idx="216">
                    <c:v>2026</c:v>
                  </c:pt>
                  <c:pt idx="217">
                    <c:v>2026</c:v>
                  </c:pt>
                </c:lvl>
              </c:multiLvlStrCache>
            </c:multiLvlStrRef>
          </c:cat>
          <c:val>
            <c:numRef>
              <c:f>Sheet1!$B$2:$B$219</c:f>
              <c:numCache>
                <c:formatCode>General</c:formatCode>
                <c:ptCount val="218"/>
                <c:pt idx="0">
                  <c:v>0</c:v>
                </c:pt>
                <c:pt idx="1">
                  <c:v>1</c:v>
                </c:pt>
                <c:pt idx="2">
                  <c:v>0</c:v>
                </c:pt>
                <c:pt idx="3">
                  <c:v>0</c:v>
                </c:pt>
                <c:pt idx="4">
                  <c:v>0</c:v>
                </c:pt>
                <c:pt idx="5">
                  <c:v>1</c:v>
                </c:pt>
                <c:pt idx="6">
                  <c:v>1</c:v>
                </c:pt>
                <c:pt idx="7">
                  <c:v>1</c:v>
                </c:pt>
                <c:pt idx="8">
                  <c:v>0</c:v>
                </c:pt>
                <c:pt idx="9">
                  <c:v>0</c:v>
                </c:pt>
                <c:pt idx="10">
                  <c:v>0</c:v>
                </c:pt>
                <c:pt idx="11">
                  <c:v>0</c:v>
                </c:pt>
                <c:pt idx="12">
                  <c:v>0</c:v>
                </c:pt>
                <c:pt idx="13">
                  <c:v>1</c:v>
                </c:pt>
                <c:pt idx="14">
                  <c:v>1</c:v>
                </c:pt>
                <c:pt idx="15">
                  <c:v>1</c:v>
                </c:pt>
                <c:pt idx="16">
                  <c:v>1</c:v>
                </c:pt>
                <c:pt idx="17">
                  <c:v>1</c:v>
                </c:pt>
                <c:pt idx="18">
                  <c:v>0</c:v>
                </c:pt>
                <c:pt idx="19">
                  <c:v>0</c:v>
                </c:pt>
                <c:pt idx="20">
                  <c:v>0</c:v>
                </c:pt>
                <c:pt idx="21">
                  <c:v>0</c:v>
                </c:pt>
                <c:pt idx="22">
                  <c:v>0</c:v>
                </c:pt>
                <c:pt idx="23">
                  <c:v>0</c:v>
                </c:pt>
                <c:pt idx="24">
                  <c:v>0</c:v>
                </c:pt>
                <c:pt idx="25">
                  <c:v>0</c:v>
                </c:pt>
                <c:pt idx="26">
                  <c:v>1</c:v>
                </c:pt>
                <c:pt idx="27">
                  <c:v>1</c:v>
                </c:pt>
                <c:pt idx="28">
                  <c:v>1</c:v>
                </c:pt>
                <c:pt idx="29">
                  <c:v>0</c:v>
                </c:pt>
                <c:pt idx="30">
                  <c:v>1</c:v>
                </c:pt>
                <c:pt idx="31">
                  <c:v>0</c:v>
                </c:pt>
                <c:pt idx="32">
                  <c:v>1</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1</c:v>
                </c:pt>
                <c:pt idx="54">
                  <c:v>1</c:v>
                </c:pt>
                <c:pt idx="55">
                  <c:v>1</c:v>
                </c:pt>
                <c:pt idx="56">
                  <c:v>1</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1</c:v>
                </c:pt>
                <c:pt idx="74">
                  <c:v>0</c:v>
                </c:pt>
                <c:pt idx="75">
                  <c:v>0</c:v>
                </c:pt>
                <c:pt idx="76">
                  <c:v>0</c:v>
                </c:pt>
                <c:pt idx="77">
                  <c:v>1</c:v>
                </c:pt>
                <c:pt idx="78">
                  <c:v>1</c:v>
                </c:pt>
                <c:pt idx="79">
                  <c:v>0</c:v>
                </c:pt>
                <c:pt idx="80">
                  <c:v>0</c:v>
                </c:pt>
                <c:pt idx="81">
                  <c:v>0</c:v>
                </c:pt>
                <c:pt idx="82">
                  <c:v>0</c:v>
                </c:pt>
                <c:pt idx="83">
                  <c:v>0</c:v>
                </c:pt>
                <c:pt idx="84">
                  <c:v>1</c:v>
                </c:pt>
                <c:pt idx="85">
                  <c:v>0</c:v>
                </c:pt>
                <c:pt idx="86">
                  <c:v>0</c:v>
                </c:pt>
                <c:pt idx="87">
                  <c:v>0</c:v>
                </c:pt>
                <c:pt idx="88">
                  <c:v>0</c:v>
                </c:pt>
                <c:pt idx="89">
                  <c:v>0</c:v>
                </c:pt>
                <c:pt idx="90">
                  <c:v>0</c:v>
                </c:pt>
                <c:pt idx="91">
                  <c:v>1</c:v>
                </c:pt>
                <c:pt idx="92">
                  <c:v>1</c:v>
                </c:pt>
                <c:pt idx="93">
                  <c:v>0</c:v>
                </c:pt>
                <c:pt idx="94">
                  <c:v>0</c:v>
                </c:pt>
                <c:pt idx="95">
                  <c:v>0</c:v>
                </c:pt>
                <c:pt idx="96">
                  <c:v>1</c:v>
                </c:pt>
                <c:pt idx="97">
                  <c:v>1</c:v>
                </c:pt>
                <c:pt idx="98">
                  <c:v>1</c:v>
                </c:pt>
                <c:pt idx="99">
                  <c:v>0</c:v>
                </c:pt>
                <c:pt idx="100">
                  <c:v>0</c:v>
                </c:pt>
                <c:pt idx="101">
                  <c:v>1</c:v>
                </c:pt>
                <c:pt idx="102">
                  <c:v>0</c:v>
                </c:pt>
                <c:pt idx="103">
                  <c:v>0</c:v>
                </c:pt>
                <c:pt idx="104">
                  <c:v>0</c:v>
                </c:pt>
                <c:pt idx="105">
                  <c:v>1</c:v>
                </c:pt>
                <c:pt idx="106">
                  <c:v>0</c:v>
                </c:pt>
                <c:pt idx="107">
                  <c:v>0</c:v>
                </c:pt>
                <c:pt idx="108">
                  <c:v>0</c:v>
                </c:pt>
                <c:pt idx="109">
                  <c:v>0</c:v>
                </c:pt>
                <c:pt idx="110">
                  <c:v>1</c:v>
                </c:pt>
                <c:pt idx="111">
                  <c:v>1</c:v>
                </c:pt>
                <c:pt idx="112">
                  <c:v>1</c:v>
                </c:pt>
                <c:pt idx="113">
                  <c:v>1</c:v>
                </c:pt>
                <c:pt idx="114">
                  <c:v>0</c:v>
                </c:pt>
                <c:pt idx="115">
                  <c:v>0</c:v>
                </c:pt>
                <c:pt idx="116">
                  <c:v>0</c:v>
                </c:pt>
                <c:pt idx="117">
                  <c:v>0</c:v>
                </c:pt>
                <c:pt idx="118">
                  <c:v>0</c:v>
                </c:pt>
                <c:pt idx="119">
                  <c:v>0</c:v>
                </c:pt>
                <c:pt idx="120">
                  <c:v>0</c:v>
                </c:pt>
                <c:pt idx="121">
                  <c:v>0</c:v>
                </c:pt>
                <c:pt idx="122">
                  <c:v>0</c:v>
                </c:pt>
                <c:pt idx="123">
                  <c:v>0</c:v>
                </c:pt>
                <c:pt idx="124">
                  <c:v>1</c:v>
                </c:pt>
                <c:pt idx="125">
                  <c:v>1</c:v>
                </c:pt>
                <c:pt idx="126">
                  <c:v>1</c:v>
                </c:pt>
                <c:pt idx="127">
                  <c:v>1</c:v>
                </c:pt>
                <c:pt idx="128">
                  <c:v>0</c:v>
                </c:pt>
                <c:pt idx="129">
                  <c:v>1</c:v>
                </c:pt>
                <c:pt idx="130">
                  <c:v>0</c:v>
                </c:pt>
                <c:pt idx="131">
                  <c:v>0</c:v>
                </c:pt>
                <c:pt idx="132">
                  <c:v>0</c:v>
                </c:pt>
                <c:pt idx="133">
                  <c:v>0</c:v>
                </c:pt>
                <c:pt idx="134">
                  <c:v>1</c:v>
                </c:pt>
                <c:pt idx="135">
                  <c:v>0</c:v>
                </c:pt>
                <c:pt idx="136">
                  <c:v>0</c:v>
                </c:pt>
                <c:pt idx="137">
                  <c:v>1</c:v>
                </c:pt>
                <c:pt idx="138">
                  <c:v>1</c:v>
                </c:pt>
                <c:pt idx="139">
                  <c:v>0</c:v>
                </c:pt>
                <c:pt idx="140">
                  <c:v>0</c:v>
                </c:pt>
                <c:pt idx="141">
                  <c:v>0</c:v>
                </c:pt>
                <c:pt idx="142">
                  <c:v>0</c:v>
                </c:pt>
                <c:pt idx="143">
                  <c:v>0</c:v>
                </c:pt>
                <c:pt idx="144">
                  <c:v>0</c:v>
                </c:pt>
                <c:pt idx="145">
                  <c:v>0</c:v>
                </c:pt>
                <c:pt idx="146">
                  <c:v>0</c:v>
                </c:pt>
                <c:pt idx="147">
                  <c:v>0</c:v>
                </c:pt>
                <c:pt idx="148">
                  <c:v>0</c:v>
                </c:pt>
                <c:pt idx="149">
                  <c:v>0</c:v>
                </c:pt>
                <c:pt idx="150">
                  <c:v>1</c:v>
                </c:pt>
                <c:pt idx="151">
                  <c:v>1</c:v>
                </c:pt>
                <c:pt idx="152">
                  <c:v>1</c:v>
                </c:pt>
                <c:pt idx="153">
                  <c:v>1</c:v>
                </c:pt>
                <c:pt idx="154">
                  <c:v>1</c:v>
                </c:pt>
                <c:pt idx="155">
                  <c:v>0</c:v>
                </c:pt>
                <c:pt idx="156">
                  <c:v>1</c:v>
                </c:pt>
                <c:pt idx="157">
                  <c:v>1</c:v>
                </c:pt>
                <c:pt idx="158">
                  <c:v>1</c:v>
                </c:pt>
                <c:pt idx="159">
                  <c:v>0</c:v>
                </c:pt>
                <c:pt idx="160">
                  <c:v>0</c:v>
                </c:pt>
                <c:pt idx="161">
                  <c:v>0</c:v>
                </c:pt>
                <c:pt idx="162">
                  <c:v>1</c:v>
                </c:pt>
                <c:pt idx="163">
                  <c:v>1</c:v>
                </c:pt>
                <c:pt idx="164">
                  <c:v>1</c:v>
                </c:pt>
                <c:pt idx="165">
                  <c:v>0</c:v>
                </c:pt>
                <c:pt idx="166">
                  <c:v>0</c:v>
                </c:pt>
                <c:pt idx="167">
                  <c:v>1</c:v>
                </c:pt>
                <c:pt idx="168">
                  <c:v>1</c:v>
                </c:pt>
                <c:pt idx="169">
                  <c:v>1</c:v>
                </c:pt>
                <c:pt idx="170">
                  <c:v>0</c:v>
                </c:pt>
                <c:pt idx="171">
                  <c:v>0</c:v>
                </c:pt>
                <c:pt idx="172">
                  <c:v>0</c:v>
                </c:pt>
                <c:pt idx="173">
                  <c:v>0</c:v>
                </c:pt>
                <c:pt idx="174">
                  <c:v>0</c:v>
                </c:pt>
                <c:pt idx="175">
                  <c:v>0</c:v>
                </c:pt>
                <c:pt idx="176">
                  <c:v>1</c:v>
                </c:pt>
                <c:pt idx="177">
                  <c:v>0</c:v>
                </c:pt>
                <c:pt idx="178">
                  <c:v>0</c:v>
                </c:pt>
                <c:pt idx="179">
                  <c:v>0</c:v>
                </c:pt>
                <c:pt idx="180">
                  <c:v>0</c:v>
                </c:pt>
                <c:pt idx="181">
                  <c:v>0</c:v>
                </c:pt>
                <c:pt idx="182">
                  <c:v>0</c:v>
                </c:pt>
                <c:pt idx="183">
                  <c:v>0</c:v>
                </c:pt>
                <c:pt idx="184">
                  <c:v>1</c:v>
                </c:pt>
                <c:pt idx="185">
                  <c:v>0</c:v>
                </c:pt>
                <c:pt idx="186">
                  <c:v>1</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numCache>
            </c:numRef>
          </c:val>
        </c:ser>
        <c:ser>
          <c:idx val="1"/>
          <c:order val="1"/>
          <c:tx>
            <c:strRef>
              <c:f>Sheet1!$C$1</c:f>
              <c:strCache>
                <c:ptCount val="1"/>
                <c:pt idx="0">
                  <c:v>Actual fall</c:v>
                </c:pt>
              </c:strCache>
            </c:strRef>
          </c:tx>
          <c:spPr>
            <a:solidFill>
              <a:srgbClr val="9DB9DE"/>
            </a:solidFill>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cat>
            <c:multiLvlStrRef>
              <c:f>Sheet1!$A$2:$A$219</c:f>
              <c:multiLvlStrCache>
                <c:ptCount val="218"/>
                <c:lvl>
                  <c:pt idx="0">
                    <c:v>2008</c:v>
                  </c:pt>
                  <c:pt idx="1">
                    <c:v>2008</c:v>
                  </c:pt>
                  <c:pt idx="2">
                    <c:v>2008</c:v>
                  </c:pt>
                  <c:pt idx="3">
                    <c:v>2008</c:v>
                  </c:pt>
                  <c:pt idx="4">
                    <c:v>2009</c:v>
                  </c:pt>
                  <c:pt idx="5">
                    <c:v>2009</c:v>
                  </c:pt>
                  <c:pt idx="6">
                    <c:v>2009</c:v>
                  </c:pt>
                  <c:pt idx="7">
                    <c:v>2009</c:v>
                  </c:pt>
                  <c:pt idx="8">
                    <c:v>2009</c:v>
                  </c:pt>
                  <c:pt idx="9">
                    <c:v>2009</c:v>
                  </c:pt>
                  <c:pt idx="10">
                    <c:v>2009</c:v>
                  </c:pt>
                  <c:pt idx="11">
                    <c:v>2009</c:v>
                  </c:pt>
                  <c:pt idx="12">
                    <c:v>2009</c:v>
                  </c:pt>
                  <c:pt idx="13">
                    <c:v>2009</c:v>
                  </c:pt>
                  <c:pt idx="14">
                    <c:v>2009</c:v>
                  </c:pt>
                  <c:pt idx="15">
                    <c:v>2009</c:v>
                  </c:pt>
                  <c:pt idx="16">
                    <c:v>2010</c:v>
                  </c:pt>
                  <c:pt idx="17">
                    <c:v>2010</c:v>
                  </c:pt>
                  <c:pt idx="18">
                    <c:v>2010</c:v>
                  </c:pt>
                  <c:pt idx="19">
                    <c:v>2010</c:v>
                  </c:pt>
                  <c:pt idx="20">
                    <c:v>2010</c:v>
                  </c:pt>
                  <c:pt idx="21">
                    <c:v>2010</c:v>
                  </c:pt>
                  <c:pt idx="22">
                    <c:v>2010</c:v>
                  </c:pt>
                  <c:pt idx="23">
                    <c:v>2010</c:v>
                  </c:pt>
                  <c:pt idx="24">
                    <c:v>2010</c:v>
                  </c:pt>
                  <c:pt idx="25">
                    <c:v>2010</c:v>
                  </c:pt>
                  <c:pt idx="26">
                    <c:v>2010</c:v>
                  </c:pt>
                  <c:pt idx="27">
                    <c:v>2010</c:v>
                  </c:pt>
                  <c:pt idx="28">
                    <c:v>2011</c:v>
                  </c:pt>
                  <c:pt idx="29">
                    <c:v>2011</c:v>
                  </c:pt>
                  <c:pt idx="30">
                    <c:v>2011</c:v>
                  </c:pt>
                  <c:pt idx="31">
                    <c:v>2011</c:v>
                  </c:pt>
                  <c:pt idx="32">
                    <c:v>2011</c:v>
                  </c:pt>
                  <c:pt idx="33">
                    <c:v>2011</c:v>
                  </c:pt>
                  <c:pt idx="34">
                    <c:v>2011</c:v>
                  </c:pt>
                  <c:pt idx="35">
                    <c:v>2011</c:v>
                  </c:pt>
                  <c:pt idx="36">
                    <c:v>2011</c:v>
                  </c:pt>
                  <c:pt idx="37">
                    <c:v>2011</c:v>
                  </c:pt>
                  <c:pt idx="38">
                    <c:v>2011</c:v>
                  </c:pt>
                  <c:pt idx="39">
                    <c:v>2011</c:v>
                  </c:pt>
                  <c:pt idx="40">
                    <c:v>2012</c:v>
                  </c:pt>
                  <c:pt idx="41">
                    <c:v>2012</c:v>
                  </c:pt>
                  <c:pt idx="42">
                    <c:v>2012</c:v>
                  </c:pt>
                  <c:pt idx="43">
                    <c:v>2012</c:v>
                  </c:pt>
                  <c:pt idx="44">
                    <c:v>2012</c:v>
                  </c:pt>
                  <c:pt idx="45">
                    <c:v>2012</c:v>
                  </c:pt>
                  <c:pt idx="46">
                    <c:v>2012</c:v>
                  </c:pt>
                  <c:pt idx="47">
                    <c:v>2012</c:v>
                  </c:pt>
                  <c:pt idx="48">
                    <c:v>2012</c:v>
                  </c:pt>
                  <c:pt idx="49">
                    <c:v>2012</c:v>
                  </c:pt>
                  <c:pt idx="50">
                    <c:v>2012</c:v>
                  </c:pt>
                  <c:pt idx="51">
                    <c:v>2012</c:v>
                  </c:pt>
                  <c:pt idx="52">
                    <c:v>2013</c:v>
                  </c:pt>
                  <c:pt idx="53">
                    <c:v>2013</c:v>
                  </c:pt>
                  <c:pt idx="54">
                    <c:v>2013</c:v>
                  </c:pt>
                  <c:pt idx="55">
                    <c:v>2013</c:v>
                  </c:pt>
                  <c:pt idx="56">
                    <c:v>2013</c:v>
                  </c:pt>
                  <c:pt idx="57">
                    <c:v>2013</c:v>
                  </c:pt>
                  <c:pt idx="58">
                    <c:v>2013</c:v>
                  </c:pt>
                  <c:pt idx="59">
                    <c:v>2013</c:v>
                  </c:pt>
                  <c:pt idx="60">
                    <c:v>2013</c:v>
                  </c:pt>
                  <c:pt idx="61">
                    <c:v>2013</c:v>
                  </c:pt>
                  <c:pt idx="62">
                    <c:v>2013</c:v>
                  </c:pt>
                  <c:pt idx="63">
                    <c:v>2013</c:v>
                  </c:pt>
                  <c:pt idx="64">
                    <c:v>2014</c:v>
                  </c:pt>
                  <c:pt idx="65">
                    <c:v>2014</c:v>
                  </c:pt>
                  <c:pt idx="66">
                    <c:v>2014</c:v>
                  </c:pt>
                  <c:pt idx="67">
                    <c:v>2014</c:v>
                  </c:pt>
                  <c:pt idx="68">
                    <c:v>2014</c:v>
                  </c:pt>
                  <c:pt idx="69">
                    <c:v>2014</c:v>
                  </c:pt>
                  <c:pt idx="70">
                    <c:v>2014</c:v>
                  </c:pt>
                  <c:pt idx="71">
                    <c:v>2014</c:v>
                  </c:pt>
                  <c:pt idx="72">
                    <c:v>2014</c:v>
                  </c:pt>
                  <c:pt idx="73">
                    <c:v>2014</c:v>
                  </c:pt>
                  <c:pt idx="74">
                    <c:v>2014</c:v>
                  </c:pt>
                  <c:pt idx="75">
                    <c:v>2014</c:v>
                  </c:pt>
                  <c:pt idx="76">
                    <c:v>2015</c:v>
                  </c:pt>
                  <c:pt idx="77">
                    <c:v>2015</c:v>
                  </c:pt>
                  <c:pt idx="78">
                    <c:v>2015</c:v>
                  </c:pt>
                  <c:pt idx="79">
                    <c:v>2015</c:v>
                  </c:pt>
                  <c:pt idx="80">
                    <c:v>2015</c:v>
                  </c:pt>
                  <c:pt idx="81">
                    <c:v>2015</c:v>
                  </c:pt>
                  <c:pt idx="82">
                    <c:v>2015</c:v>
                  </c:pt>
                  <c:pt idx="83">
                    <c:v>2015</c:v>
                  </c:pt>
                  <c:pt idx="84">
                    <c:v>2015</c:v>
                  </c:pt>
                  <c:pt idx="85">
                    <c:v>2015</c:v>
                  </c:pt>
                  <c:pt idx="86">
                    <c:v>2015</c:v>
                  </c:pt>
                  <c:pt idx="87">
                    <c:v>2015</c:v>
                  </c:pt>
                  <c:pt idx="88">
                    <c:v>2016</c:v>
                  </c:pt>
                  <c:pt idx="89">
                    <c:v>2016</c:v>
                  </c:pt>
                  <c:pt idx="90">
                    <c:v>2016</c:v>
                  </c:pt>
                  <c:pt idx="91">
                    <c:v>2016</c:v>
                  </c:pt>
                  <c:pt idx="92">
                    <c:v>2016</c:v>
                  </c:pt>
                  <c:pt idx="93">
                    <c:v>2016</c:v>
                  </c:pt>
                  <c:pt idx="94">
                    <c:v>2016</c:v>
                  </c:pt>
                  <c:pt idx="95">
                    <c:v>2016</c:v>
                  </c:pt>
                  <c:pt idx="96">
                    <c:v>2016</c:v>
                  </c:pt>
                  <c:pt idx="97">
                    <c:v>2016</c:v>
                  </c:pt>
                  <c:pt idx="98">
                    <c:v>2016</c:v>
                  </c:pt>
                  <c:pt idx="99">
                    <c:v>2016</c:v>
                  </c:pt>
                  <c:pt idx="100">
                    <c:v>2017</c:v>
                  </c:pt>
                  <c:pt idx="101">
                    <c:v>2017</c:v>
                  </c:pt>
                  <c:pt idx="102">
                    <c:v>2017</c:v>
                  </c:pt>
                  <c:pt idx="103">
                    <c:v>2017</c:v>
                  </c:pt>
                  <c:pt idx="104">
                    <c:v>2017</c:v>
                  </c:pt>
                  <c:pt idx="105">
                    <c:v>2017</c:v>
                  </c:pt>
                  <c:pt idx="106">
                    <c:v>2017</c:v>
                  </c:pt>
                  <c:pt idx="107">
                    <c:v>2017</c:v>
                  </c:pt>
                  <c:pt idx="108">
                    <c:v>2017</c:v>
                  </c:pt>
                  <c:pt idx="109">
                    <c:v>2017</c:v>
                  </c:pt>
                  <c:pt idx="110">
                    <c:v>2017</c:v>
                  </c:pt>
                  <c:pt idx="111">
                    <c:v>2017</c:v>
                  </c:pt>
                  <c:pt idx="112">
                    <c:v>2018</c:v>
                  </c:pt>
                  <c:pt idx="113">
                    <c:v>2018</c:v>
                  </c:pt>
                  <c:pt idx="114">
                    <c:v>2018</c:v>
                  </c:pt>
                  <c:pt idx="115">
                    <c:v>2018</c:v>
                  </c:pt>
                  <c:pt idx="116">
                    <c:v>2018</c:v>
                  </c:pt>
                  <c:pt idx="117">
                    <c:v>2018</c:v>
                  </c:pt>
                  <c:pt idx="118">
                    <c:v>2018</c:v>
                  </c:pt>
                  <c:pt idx="119">
                    <c:v>2018</c:v>
                  </c:pt>
                  <c:pt idx="120">
                    <c:v>2018</c:v>
                  </c:pt>
                  <c:pt idx="121">
                    <c:v>2018</c:v>
                  </c:pt>
                  <c:pt idx="122">
                    <c:v>2018</c:v>
                  </c:pt>
                  <c:pt idx="123">
                    <c:v>2018</c:v>
                  </c:pt>
                  <c:pt idx="124">
                    <c:v>2019</c:v>
                  </c:pt>
                  <c:pt idx="125">
                    <c:v>2019</c:v>
                  </c:pt>
                  <c:pt idx="126">
                    <c:v>2019</c:v>
                  </c:pt>
                  <c:pt idx="127">
                    <c:v>2019</c:v>
                  </c:pt>
                  <c:pt idx="128">
                    <c:v>2019</c:v>
                  </c:pt>
                  <c:pt idx="129">
                    <c:v>2019</c:v>
                  </c:pt>
                  <c:pt idx="130">
                    <c:v>2019</c:v>
                  </c:pt>
                  <c:pt idx="131">
                    <c:v>2019</c:v>
                  </c:pt>
                  <c:pt idx="132">
                    <c:v>2019</c:v>
                  </c:pt>
                  <c:pt idx="133">
                    <c:v>2019</c:v>
                  </c:pt>
                  <c:pt idx="134">
                    <c:v>2019</c:v>
                  </c:pt>
                  <c:pt idx="135">
                    <c:v>2019</c:v>
                  </c:pt>
                  <c:pt idx="136">
                    <c:v>2020</c:v>
                  </c:pt>
                  <c:pt idx="137">
                    <c:v>2020</c:v>
                  </c:pt>
                  <c:pt idx="138">
                    <c:v>2020</c:v>
                  </c:pt>
                  <c:pt idx="139">
                    <c:v>2020</c:v>
                  </c:pt>
                  <c:pt idx="140">
                    <c:v>2020</c:v>
                  </c:pt>
                  <c:pt idx="141">
                    <c:v>2020</c:v>
                  </c:pt>
                  <c:pt idx="142">
                    <c:v>2020</c:v>
                  </c:pt>
                  <c:pt idx="143">
                    <c:v>2020</c:v>
                  </c:pt>
                  <c:pt idx="144">
                    <c:v>2020</c:v>
                  </c:pt>
                  <c:pt idx="145">
                    <c:v>2020</c:v>
                  </c:pt>
                  <c:pt idx="146">
                    <c:v>2020</c:v>
                  </c:pt>
                  <c:pt idx="147">
                    <c:v>2020</c:v>
                  </c:pt>
                  <c:pt idx="148">
                    <c:v>2021</c:v>
                  </c:pt>
                  <c:pt idx="149">
                    <c:v>2021</c:v>
                  </c:pt>
                  <c:pt idx="150">
                    <c:v>2021</c:v>
                  </c:pt>
                  <c:pt idx="151">
                    <c:v>2021</c:v>
                  </c:pt>
                  <c:pt idx="152">
                    <c:v>2021</c:v>
                  </c:pt>
                  <c:pt idx="153">
                    <c:v>2021</c:v>
                  </c:pt>
                  <c:pt idx="154">
                    <c:v>2021</c:v>
                  </c:pt>
                  <c:pt idx="155">
                    <c:v>2021</c:v>
                  </c:pt>
                  <c:pt idx="156">
                    <c:v>2021</c:v>
                  </c:pt>
                  <c:pt idx="157">
                    <c:v>2021</c:v>
                  </c:pt>
                  <c:pt idx="158">
                    <c:v>2021</c:v>
                  </c:pt>
                  <c:pt idx="159">
                    <c:v>2021</c:v>
                  </c:pt>
                  <c:pt idx="160">
                    <c:v>2022</c:v>
                  </c:pt>
                  <c:pt idx="161">
                    <c:v>2022</c:v>
                  </c:pt>
                  <c:pt idx="162">
                    <c:v>2022</c:v>
                  </c:pt>
                  <c:pt idx="163">
                    <c:v>2022</c:v>
                  </c:pt>
                  <c:pt idx="164">
                    <c:v>2022</c:v>
                  </c:pt>
                  <c:pt idx="165">
                    <c:v>2022</c:v>
                  </c:pt>
                  <c:pt idx="166">
                    <c:v>2022</c:v>
                  </c:pt>
                  <c:pt idx="167">
                    <c:v>2022</c:v>
                  </c:pt>
                  <c:pt idx="168">
                    <c:v>2022</c:v>
                  </c:pt>
                  <c:pt idx="169">
                    <c:v>2022</c:v>
                  </c:pt>
                  <c:pt idx="170">
                    <c:v>2022</c:v>
                  </c:pt>
                  <c:pt idx="171">
                    <c:v>2022</c:v>
                  </c:pt>
                  <c:pt idx="172">
                    <c:v>2023</c:v>
                  </c:pt>
                  <c:pt idx="173">
                    <c:v>2023</c:v>
                  </c:pt>
                  <c:pt idx="174">
                    <c:v>2023</c:v>
                  </c:pt>
                  <c:pt idx="175">
                    <c:v>2023</c:v>
                  </c:pt>
                  <c:pt idx="176">
                    <c:v>2023</c:v>
                  </c:pt>
                  <c:pt idx="177">
                    <c:v>2023</c:v>
                  </c:pt>
                  <c:pt idx="178">
                    <c:v>2023</c:v>
                  </c:pt>
                  <c:pt idx="179">
                    <c:v>2023</c:v>
                  </c:pt>
                  <c:pt idx="180">
                    <c:v>2023</c:v>
                  </c:pt>
                  <c:pt idx="181">
                    <c:v>2023</c:v>
                  </c:pt>
                  <c:pt idx="182">
                    <c:v>2023</c:v>
                  </c:pt>
                  <c:pt idx="183">
                    <c:v>2023</c:v>
                  </c:pt>
                  <c:pt idx="184">
                    <c:v>2024</c:v>
                  </c:pt>
                  <c:pt idx="185">
                    <c:v>2024</c:v>
                  </c:pt>
                  <c:pt idx="186">
                    <c:v>2024</c:v>
                  </c:pt>
                  <c:pt idx="187">
                    <c:v>2024</c:v>
                  </c:pt>
                  <c:pt idx="188">
                    <c:v>2024</c:v>
                  </c:pt>
                  <c:pt idx="189">
                    <c:v>2024</c:v>
                  </c:pt>
                  <c:pt idx="190">
                    <c:v>2024</c:v>
                  </c:pt>
                  <c:pt idx="191">
                    <c:v>2024</c:v>
                  </c:pt>
                  <c:pt idx="192">
                    <c:v>2024</c:v>
                  </c:pt>
                  <c:pt idx="193">
                    <c:v>2024</c:v>
                  </c:pt>
                  <c:pt idx="194">
                    <c:v>2024</c:v>
                  </c:pt>
                  <c:pt idx="195">
                    <c:v>2024</c:v>
                  </c:pt>
                  <c:pt idx="196">
                    <c:v>2025</c:v>
                  </c:pt>
                  <c:pt idx="197">
                    <c:v>2025</c:v>
                  </c:pt>
                  <c:pt idx="198">
                    <c:v>2025</c:v>
                  </c:pt>
                  <c:pt idx="199">
                    <c:v>2025</c:v>
                  </c:pt>
                  <c:pt idx="200">
                    <c:v>2025</c:v>
                  </c:pt>
                  <c:pt idx="201">
                    <c:v>2025</c:v>
                  </c:pt>
                  <c:pt idx="202">
                    <c:v>2025</c:v>
                  </c:pt>
                  <c:pt idx="203">
                    <c:v>2025</c:v>
                  </c:pt>
                  <c:pt idx="204">
                    <c:v>2025</c:v>
                  </c:pt>
                  <c:pt idx="205">
                    <c:v>2025</c:v>
                  </c:pt>
                  <c:pt idx="206">
                    <c:v>2025</c:v>
                  </c:pt>
                  <c:pt idx="207">
                    <c:v>2025</c:v>
                  </c:pt>
                  <c:pt idx="208">
                    <c:v>2026</c:v>
                  </c:pt>
                  <c:pt idx="209">
                    <c:v>2026</c:v>
                  </c:pt>
                  <c:pt idx="210">
                    <c:v>2026</c:v>
                  </c:pt>
                  <c:pt idx="211">
                    <c:v>2026</c:v>
                  </c:pt>
                  <c:pt idx="212">
                    <c:v>2026</c:v>
                  </c:pt>
                  <c:pt idx="213">
                    <c:v>2026</c:v>
                  </c:pt>
                  <c:pt idx="214">
                    <c:v>2026</c:v>
                  </c:pt>
                  <c:pt idx="215">
                    <c:v>2026</c:v>
                  </c:pt>
                  <c:pt idx="216">
                    <c:v>2026</c:v>
                  </c:pt>
                  <c:pt idx="217">
                    <c:v>2026</c:v>
                  </c:pt>
                </c:lvl>
              </c:multiLvlStrCache>
            </c:multiLvlStrRef>
          </c:cat>
          <c:val>
            <c:numRef>
              <c:f>Sheet1!$C$2:$C$219</c:f>
              <c:numCache>
                <c:formatCode>General</c:formatCode>
                <c:ptCount val="218"/>
                <c:pt idx="0">
                  <c:v>-1</c:v>
                </c:pt>
                <c:pt idx="1">
                  <c:v>0</c:v>
                </c:pt>
                <c:pt idx="2">
                  <c:v>0</c:v>
                </c:pt>
                <c:pt idx="3">
                  <c:v>0</c:v>
                </c:pt>
                <c:pt idx="4">
                  <c:v>-1</c:v>
                </c:pt>
                <c:pt idx="5">
                  <c:v>0</c:v>
                </c:pt>
                <c:pt idx="6">
                  <c:v>0</c:v>
                </c:pt>
                <c:pt idx="7">
                  <c:v>0</c:v>
                </c:pt>
                <c:pt idx="8">
                  <c:v>-1</c:v>
                </c:pt>
                <c:pt idx="9">
                  <c:v>-1</c:v>
                </c:pt>
                <c:pt idx="10">
                  <c:v>-1</c:v>
                </c:pt>
                <c:pt idx="11">
                  <c:v>-1</c:v>
                </c:pt>
                <c:pt idx="12">
                  <c:v>-1</c:v>
                </c:pt>
                <c:pt idx="13">
                  <c:v>0</c:v>
                </c:pt>
                <c:pt idx="14">
                  <c:v>0</c:v>
                </c:pt>
                <c:pt idx="15">
                  <c:v>0</c:v>
                </c:pt>
                <c:pt idx="16">
                  <c:v>0</c:v>
                </c:pt>
                <c:pt idx="17">
                  <c:v>0</c:v>
                </c:pt>
                <c:pt idx="18">
                  <c:v>-1</c:v>
                </c:pt>
                <c:pt idx="19">
                  <c:v>-1</c:v>
                </c:pt>
                <c:pt idx="20">
                  <c:v>-1</c:v>
                </c:pt>
                <c:pt idx="21">
                  <c:v>-1</c:v>
                </c:pt>
                <c:pt idx="22">
                  <c:v>-1</c:v>
                </c:pt>
                <c:pt idx="23">
                  <c:v>-1</c:v>
                </c:pt>
                <c:pt idx="24">
                  <c:v>-1</c:v>
                </c:pt>
                <c:pt idx="25">
                  <c:v>-1</c:v>
                </c:pt>
                <c:pt idx="26">
                  <c:v>0</c:v>
                </c:pt>
                <c:pt idx="27">
                  <c:v>0</c:v>
                </c:pt>
                <c:pt idx="28">
                  <c:v>0</c:v>
                </c:pt>
                <c:pt idx="29">
                  <c:v>-1</c:v>
                </c:pt>
                <c:pt idx="30">
                  <c:v>0</c:v>
                </c:pt>
                <c:pt idx="31">
                  <c:v>-1</c:v>
                </c:pt>
                <c:pt idx="32">
                  <c:v>0</c:v>
                </c:pt>
                <c:pt idx="33">
                  <c:v>0</c:v>
                </c:pt>
                <c:pt idx="34">
                  <c:v>-1</c:v>
                </c:pt>
                <c:pt idx="35">
                  <c:v>-1</c:v>
                </c:pt>
                <c:pt idx="36">
                  <c:v>-1</c:v>
                </c:pt>
                <c:pt idx="37">
                  <c:v>-1</c:v>
                </c:pt>
                <c:pt idx="38">
                  <c:v>-1</c:v>
                </c:pt>
                <c:pt idx="39">
                  <c:v>0</c:v>
                </c:pt>
                <c:pt idx="40">
                  <c:v>0</c:v>
                </c:pt>
                <c:pt idx="41">
                  <c:v>0</c:v>
                </c:pt>
                <c:pt idx="42">
                  <c:v>0</c:v>
                </c:pt>
                <c:pt idx="43">
                  <c:v>0</c:v>
                </c:pt>
                <c:pt idx="44">
                  <c:v>0</c:v>
                </c:pt>
                <c:pt idx="45">
                  <c:v>0</c:v>
                </c:pt>
                <c:pt idx="46">
                  <c:v>0</c:v>
                </c:pt>
                <c:pt idx="47">
                  <c:v>0</c:v>
                </c:pt>
                <c:pt idx="48">
                  <c:v>0</c:v>
                </c:pt>
                <c:pt idx="49">
                  <c:v>-1</c:v>
                </c:pt>
                <c:pt idx="50">
                  <c:v>0</c:v>
                </c:pt>
                <c:pt idx="51">
                  <c:v>0</c:v>
                </c:pt>
                <c:pt idx="52">
                  <c:v>0</c:v>
                </c:pt>
                <c:pt idx="53">
                  <c:v>0</c:v>
                </c:pt>
                <c:pt idx="54">
                  <c:v>0</c:v>
                </c:pt>
                <c:pt idx="55">
                  <c:v>0</c:v>
                </c:pt>
                <c:pt idx="56">
                  <c:v>0</c:v>
                </c:pt>
                <c:pt idx="57">
                  <c:v>-1</c:v>
                </c:pt>
                <c:pt idx="58">
                  <c:v>-1</c:v>
                </c:pt>
                <c:pt idx="59">
                  <c:v>-1</c:v>
                </c:pt>
                <c:pt idx="60">
                  <c:v>-1</c:v>
                </c:pt>
                <c:pt idx="61">
                  <c:v>-1</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-1</c:v>
                </c:pt>
                <c:pt idx="77">
                  <c:v>0</c:v>
                </c:pt>
                <c:pt idx="78">
                  <c:v>0</c:v>
                </c:pt>
                <c:pt idx="79">
                  <c:v>0</c:v>
                </c:pt>
                <c:pt idx="80">
                  <c:v>-1</c:v>
                </c:pt>
                <c:pt idx="81">
                  <c:v>-1</c:v>
                </c:pt>
                <c:pt idx="82">
                  <c:v>0</c:v>
                </c:pt>
                <c:pt idx="83">
                  <c:v>0</c:v>
                </c:pt>
                <c:pt idx="84">
                  <c:v>0</c:v>
                </c:pt>
                <c:pt idx="85">
                  <c:v>0</c:v>
                </c:pt>
                <c:pt idx="86">
                  <c:v>0</c:v>
                </c:pt>
                <c:pt idx="87">
                  <c:v>-1</c:v>
                </c:pt>
                <c:pt idx="88">
                  <c:v>0</c:v>
                </c:pt>
                <c:pt idx="89">
                  <c:v>0</c:v>
                </c:pt>
                <c:pt idx="90">
                  <c:v>0</c:v>
                </c:pt>
                <c:pt idx="91">
                  <c:v>0</c:v>
                </c:pt>
                <c:pt idx="92">
                  <c:v>0</c:v>
                </c:pt>
                <c:pt idx="93">
                  <c:v>0</c:v>
                </c:pt>
                <c:pt idx="94">
                  <c:v>-1</c:v>
                </c:pt>
                <c:pt idx="95">
                  <c:v>-1</c:v>
                </c:pt>
                <c:pt idx="96">
                  <c:v>0</c:v>
                </c:pt>
                <c:pt idx="97">
                  <c:v>0</c:v>
                </c:pt>
                <c:pt idx="98">
                  <c:v>0</c:v>
                </c:pt>
                <c:pt idx="99">
                  <c:v>0</c:v>
                </c:pt>
                <c:pt idx="100">
                  <c:v>-1</c:v>
                </c:pt>
                <c:pt idx="101">
                  <c:v>0</c:v>
                </c:pt>
                <c:pt idx="102">
                  <c:v>-1</c:v>
                </c:pt>
                <c:pt idx="103">
                  <c:v>-1</c:v>
                </c:pt>
                <c:pt idx="104">
                  <c:v>-1</c:v>
                </c:pt>
                <c:pt idx="105">
                  <c:v>0</c:v>
                </c:pt>
                <c:pt idx="106">
                  <c:v>0</c:v>
                </c:pt>
                <c:pt idx="107">
                  <c:v>-1</c:v>
                </c:pt>
                <c:pt idx="108">
                  <c:v>-1</c:v>
                </c:pt>
                <c:pt idx="109">
                  <c:v>0</c:v>
                </c:pt>
                <c:pt idx="110">
                  <c:v>0</c:v>
                </c:pt>
                <c:pt idx="111">
                  <c:v>0</c:v>
                </c:pt>
                <c:pt idx="112">
                  <c:v>0</c:v>
                </c:pt>
                <c:pt idx="113">
                  <c:v>0</c:v>
                </c:pt>
                <c:pt idx="114">
                  <c:v>0</c:v>
                </c:pt>
                <c:pt idx="115">
                  <c:v>0</c:v>
                </c:pt>
                <c:pt idx="116">
                  <c:v>0</c:v>
                </c:pt>
                <c:pt idx="117">
                  <c:v>-1</c:v>
                </c:pt>
                <c:pt idx="118">
                  <c:v>-1</c:v>
                </c:pt>
                <c:pt idx="119">
                  <c:v>-1</c:v>
                </c:pt>
                <c:pt idx="120">
                  <c:v>-1</c:v>
                </c:pt>
                <c:pt idx="121">
                  <c:v>-1</c:v>
                </c:pt>
                <c:pt idx="122">
                  <c:v>0</c:v>
                </c:pt>
                <c:pt idx="123">
                  <c:v>0</c:v>
                </c:pt>
                <c:pt idx="124">
                  <c:v>0</c:v>
                </c:pt>
                <c:pt idx="125">
                  <c:v>0</c:v>
                </c:pt>
                <c:pt idx="126">
                  <c:v>0</c:v>
                </c:pt>
                <c:pt idx="127">
                  <c:v>0</c:v>
                </c:pt>
                <c:pt idx="128">
                  <c:v>0</c:v>
                </c:pt>
                <c:pt idx="129">
                  <c:v>0</c:v>
                </c:pt>
                <c:pt idx="130">
                  <c:v>-1</c:v>
                </c:pt>
                <c:pt idx="131">
                  <c:v>-1</c:v>
                </c:pt>
                <c:pt idx="132">
                  <c:v>-1</c:v>
                </c:pt>
                <c:pt idx="133">
                  <c:v>0</c:v>
                </c:pt>
                <c:pt idx="134">
                  <c:v>0</c:v>
                </c:pt>
                <c:pt idx="135">
                  <c:v>-1</c:v>
                </c:pt>
                <c:pt idx="136">
                  <c:v>-1</c:v>
                </c:pt>
                <c:pt idx="137">
                  <c:v>0</c:v>
                </c:pt>
                <c:pt idx="138">
                  <c:v>0</c:v>
                </c:pt>
                <c:pt idx="139">
                  <c:v>0</c:v>
                </c:pt>
                <c:pt idx="140">
                  <c:v>-1</c:v>
                </c:pt>
                <c:pt idx="141">
                  <c:v>-1</c:v>
                </c:pt>
                <c:pt idx="142">
                  <c:v>-1</c:v>
                </c:pt>
                <c:pt idx="143">
                  <c:v>-1</c:v>
                </c:pt>
                <c:pt idx="144">
                  <c:v>-1</c:v>
                </c:pt>
                <c:pt idx="145">
                  <c:v>0</c:v>
                </c:pt>
                <c:pt idx="146">
                  <c:v>0</c:v>
                </c:pt>
                <c:pt idx="147">
                  <c:v>0</c:v>
                </c:pt>
                <c:pt idx="148">
                  <c:v>0</c:v>
                </c:pt>
                <c:pt idx="149">
                  <c:v>0</c:v>
                </c:pt>
                <c:pt idx="150">
                  <c:v>0</c:v>
                </c:pt>
                <c:pt idx="151">
                  <c:v>0</c:v>
                </c:pt>
                <c:pt idx="152">
                  <c:v>0</c:v>
                </c:pt>
                <c:pt idx="153">
                  <c:v>0</c:v>
                </c:pt>
                <c:pt idx="154">
                  <c:v>0</c:v>
                </c:pt>
                <c:pt idx="155">
                  <c:v>-1</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-1</c:v>
                </c:pt>
                <c:pt idx="172">
                  <c:v>-1</c:v>
                </c:pt>
                <c:pt idx="173">
                  <c:v>-1</c:v>
                </c:pt>
                <c:pt idx="174">
                  <c:v>-1</c:v>
                </c:pt>
                <c:pt idx="175">
                  <c:v>0</c:v>
                </c:pt>
                <c:pt idx="176">
                  <c:v>0</c:v>
                </c:pt>
                <c:pt idx="177">
                  <c:v>-1</c:v>
                </c:pt>
                <c:pt idx="178">
                  <c:v>-1</c:v>
                </c:pt>
                <c:pt idx="179">
                  <c:v>-1</c:v>
                </c:pt>
                <c:pt idx="180">
                  <c:v>-1</c:v>
                </c:pt>
                <c:pt idx="181">
                  <c:v>-1</c:v>
                </c:pt>
                <c:pt idx="182">
                  <c:v>-1</c:v>
                </c:pt>
                <c:pt idx="183">
                  <c:v>-1</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numCache>
            </c:numRef>
          </c:val>
        </c:ser>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gapWidth val="20"/>
        <c:overlap val="100"/>
        <c:axId val="2094734554"/>
        <c:axId val="2094734552"/>
        <c:axId val="2094734556"/>
      </c:barChart>
      <c:lineChart>
        <c:varyColors val="0"/>
        <c:ser>
          <c:idx val="2"/>
          <c:order val="2"/>
          <c:tx>
            <c:strRef>
              <c:f>Sheet1!$D$1</c:f>
              <c:strCache>
                <c:ptCount val="1"/>
                <c:pt idx="0">
                  <c:v>Model lean, P(up) minus P(down)</c:v>
                </c:pt>
              </c:strCache>
            </c:strRef>
          </c:tx>
          <c:spPr>
            <a:solidFill>
              <a:srgbClr val="1F2D4A"/>
            </a:solidFill>
            <a:ln w="25400" cap="flat">
              <a:solidFill>
                <a:srgbClr val="1F2D4A"/>
              </a:solidFill>
              <a:prstDash val="solid"/>
              <a:round/>
            </a:ln>
            <a:effectLst/>
          </c:spPr>
          <c:invertIfNegative val="0"/>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c:symbol val="none"/>
            <c:size val="6"/>
            <c:spPr>
              <a:solidFill>
                <a:srgbClr val="1F2D4A"/>
              </a:solidFill>
              <a:ln w="9525" cap="flat">
                <a:solidFill>
                  <a:srgbClr val="1F2D4A"/>
                </a:solidFill>
                <a:prstDash val="solid"/>
                <a:round/>
              </a:ln>
              <a:effectLst/>
            </c:spPr>
          </c:marker>
          <c:cat>
            <c:multiLvlStrRef>
              <c:f>Sheet1!$A$2:$A$219</c:f>
              <c:multiLvlStrCache>
                <c:ptCount val="218"/>
                <c:lvl>
                  <c:pt idx="0">
                    <c:v>2008</c:v>
                  </c:pt>
                  <c:pt idx="1">
                    <c:v>2008</c:v>
                  </c:pt>
                  <c:pt idx="2">
                    <c:v>2008</c:v>
                  </c:pt>
                  <c:pt idx="3">
                    <c:v>2008</c:v>
                  </c:pt>
                  <c:pt idx="4">
                    <c:v>2009</c:v>
                  </c:pt>
                  <c:pt idx="5">
                    <c:v>2009</c:v>
                  </c:pt>
                  <c:pt idx="6">
                    <c:v>2009</c:v>
                  </c:pt>
                  <c:pt idx="7">
                    <c:v>2009</c:v>
                  </c:pt>
                  <c:pt idx="8">
                    <c:v>2009</c:v>
                  </c:pt>
                  <c:pt idx="9">
                    <c:v>2009</c:v>
                  </c:pt>
                  <c:pt idx="10">
                    <c:v>2009</c:v>
                  </c:pt>
                  <c:pt idx="11">
                    <c:v>2009</c:v>
                  </c:pt>
                  <c:pt idx="12">
                    <c:v>2009</c:v>
                  </c:pt>
                  <c:pt idx="13">
                    <c:v>2009</c:v>
                  </c:pt>
                  <c:pt idx="14">
                    <c:v>2009</c:v>
                  </c:pt>
                  <c:pt idx="15">
                    <c:v>2009</c:v>
                  </c:pt>
                  <c:pt idx="16">
                    <c:v>2010</c:v>
                  </c:pt>
                  <c:pt idx="17">
                    <c:v>2010</c:v>
                  </c:pt>
                  <c:pt idx="18">
                    <c:v>2010</c:v>
                  </c:pt>
                  <c:pt idx="19">
                    <c:v>2010</c:v>
                  </c:pt>
                  <c:pt idx="20">
                    <c:v>2010</c:v>
                  </c:pt>
                  <c:pt idx="21">
                    <c:v>2010</c:v>
                  </c:pt>
                  <c:pt idx="22">
                    <c:v>2010</c:v>
                  </c:pt>
                  <c:pt idx="23">
                    <c:v>2010</c:v>
                  </c:pt>
                  <c:pt idx="24">
                    <c:v>2010</c:v>
                  </c:pt>
                  <c:pt idx="25">
                    <c:v>2010</c:v>
                  </c:pt>
                  <c:pt idx="26">
                    <c:v>2010</c:v>
                  </c:pt>
                  <c:pt idx="27">
                    <c:v>2010</c:v>
                  </c:pt>
                  <c:pt idx="28">
                    <c:v>2011</c:v>
                  </c:pt>
                  <c:pt idx="29">
                    <c:v>2011</c:v>
                  </c:pt>
                  <c:pt idx="30">
                    <c:v>2011</c:v>
                  </c:pt>
                  <c:pt idx="31">
                    <c:v>2011</c:v>
                  </c:pt>
                  <c:pt idx="32">
                    <c:v>2011</c:v>
                  </c:pt>
                  <c:pt idx="33">
                    <c:v>2011</c:v>
                  </c:pt>
                  <c:pt idx="34">
                    <c:v>2011</c:v>
                  </c:pt>
                  <c:pt idx="35">
                    <c:v>2011</c:v>
                  </c:pt>
                  <c:pt idx="36">
                    <c:v>2011</c:v>
                  </c:pt>
                  <c:pt idx="37">
                    <c:v>2011</c:v>
                  </c:pt>
                  <c:pt idx="38">
                    <c:v>2011</c:v>
                  </c:pt>
                  <c:pt idx="39">
                    <c:v>2011</c:v>
                  </c:pt>
                  <c:pt idx="40">
                    <c:v>2012</c:v>
                  </c:pt>
                  <c:pt idx="41">
                    <c:v>2012</c:v>
                  </c:pt>
                  <c:pt idx="42">
                    <c:v>2012</c:v>
                  </c:pt>
                  <c:pt idx="43">
                    <c:v>2012</c:v>
                  </c:pt>
                  <c:pt idx="44">
                    <c:v>2012</c:v>
                  </c:pt>
                  <c:pt idx="45">
                    <c:v>2012</c:v>
                  </c:pt>
                  <c:pt idx="46">
                    <c:v>2012</c:v>
                  </c:pt>
                  <c:pt idx="47">
                    <c:v>2012</c:v>
                  </c:pt>
                  <c:pt idx="48">
                    <c:v>2012</c:v>
                  </c:pt>
                  <c:pt idx="49">
                    <c:v>2012</c:v>
                  </c:pt>
                  <c:pt idx="50">
                    <c:v>2012</c:v>
                  </c:pt>
                  <c:pt idx="51">
                    <c:v>2012</c:v>
                  </c:pt>
                  <c:pt idx="52">
                    <c:v>2013</c:v>
                  </c:pt>
                  <c:pt idx="53">
                    <c:v>2013</c:v>
                  </c:pt>
                  <c:pt idx="54">
                    <c:v>2013</c:v>
                  </c:pt>
                  <c:pt idx="55">
                    <c:v>2013</c:v>
                  </c:pt>
                  <c:pt idx="56">
                    <c:v>2013</c:v>
                  </c:pt>
                  <c:pt idx="57">
                    <c:v>2013</c:v>
                  </c:pt>
                  <c:pt idx="58">
                    <c:v>2013</c:v>
                  </c:pt>
                  <c:pt idx="59">
                    <c:v>2013</c:v>
                  </c:pt>
                  <c:pt idx="60">
                    <c:v>2013</c:v>
                  </c:pt>
                  <c:pt idx="61">
                    <c:v>2013</c:v>
                  </c:pt>
                  <c:pt idx="62">
                    <c:v>2013</c:v>
                  </c:pt>
                  <c:pt idx="63">
                    <c:v>2013</c:v>
                  </c:pt>
                  <c:pt idx="64">
                    <c:v>2014</c:v>
                  </c:pt>
                  <c:pt idx="65">
                    <c:v>2014</c:v>
                  </c:pt>
                  <c:pt idx="66">
                    <c:v>2014</c:v>
                  </c:pt>
                  <c:pt idx="67">
                    <c:v>2014</c:v>
                  </c:pt>
                  <c:pt idx="68">
                    <c:v>2014</c:v>
                  </c:pt>
                  <c:pt idx="69">
                    <c:v>2014</c:v>
                  </c:pt>
                  <c:pt idx="70">
                    <c:v>2014</c:v>
                  </c:pt>
                  <c:pt idx="71">
                    <c:v>2014</c:v>
                  </c:pt>
                  <c:pt idx="72">
                    <c:v>2014</c:v>
                  </c:pt>
                  <c:pt idx="73">
                    <c:v>2014</c:v>
                  </c:pt>
                  <c:pt idx="74">
                    <c:v>2014</c:v>
                  </c:pt>
                  <c:pt idx="75">
                    <c:v>2014</c:v>
                  </c:pt>
                  <c:pt idx="76">
                    <c:v>2015</c:v>
                  </c:pt>
                  <c:pt idx="77">
                    <c:v>2015</c:v>
                  </c:pt>
                  <c:pt idx="78">
                    <c:v>2015</c:v>
                  </c:pt>
                  <c:pt idx="79">
                    <c:v>2015</c:v>
                  </c:pt>
                  <c:pt idx="80">
                    <c:v>2015</c:v>
                  </c:pt>
                  <c:pt idx="81">
                    <c:v>2015</c:v>
                  </c:pt>
                  <c:pt idx="82">
                    <c:v>2015</c:v>
                  </c:pt>
                  <c:pt idx="83">
                    <c:v>2015</c:v>
                  </c:pt>
                  <c:pt idx="84">
                    <c:v>2015</c:v>
                  </c:pt>
                  <c:pt idx="85">
                    <c:v>2015</c:v>
                  </c:pt>
                  <c:pt idx="86">
                    <c:v>2015</c:v>
                  </c:pt>
                  <c:pt idx="87">
                    <c:v>2015</c:v>
                  </c:pt>
                  <c:pt idx="88">
                    <c:v>2016</c:v>
                  </c:pt>
                  <c:pt idx="89">
                    <c:v>2016</c:v>
                  </c:pt>
                  <c:pt idx="90">
                    <c:v>2016</c:v>
                  </c:pt>
                  <c:pt idx="91">
                    <c:v>2016</c:v>
                  </c:pt>
                  <c:pt idx="92">
                    <c:v>2016</c:v>
                  </c:pt>
                  <c:pt idx="93">
                    <c:v>2016</c:v>
                  </c:pt>
                  <c:pt idx="94">
                    <c:v>2016</c:v>
                  </c:pt>
                  <c:pt idx="95">
                    <c:v>2016</c:v>
                  </c:pt>
                  <c:pt idx="96">
                    <c:v>2016</c:v>
                  </c:pt>
                  <c:pt idx="97">
                    <c:v>2016</c:v>
                  </c:pt>
                  <c:pt idx="98">
                    <c:v>2016</c:v>
                  </c:pt>
                  <c:pt idx="99">
                    <c:v>2016</c:v>
                  </c:pt>
                  <c:pt idx="100">
                    <c:v>2017</c:v>
                  </c:pt>
                  <c:pt idx="101">
                    <c:v>2017</c:v>
                  </c:pt>
                  <c:pt idx="102">
                    <c:v>2017</c:v>
                  </c:pt>
                  <c:pt idx="103">
                    <c:v>2017</c:v>
                  </c:pt>
                  <c:pt idx="104">
                    <c:v>2017</c:v>
                  </c:pt>
                  <c:pt idx="105">
                    <c:v>2017</c:v>
                  </c:pt>
                  <c:pt idx="106">
                    <c:v>2017</c:v>
                  </c:pt>
                  <c:pt idx="107">
                    <c:v>2017</c:v>
                  </c:pt>
                  <c:pt idx="108">
                    <c:v>2017</c:v>
                  </c:pt>
                  <c:pt idx="109">
                    <c:v>2017</c:v>
                  </c:pt>
                  <c:pt idx="110">
                    <c:v>2017</c:v>
                  </c:pt>
                  <c:pt idx="111">
                    <c:v>2017</c:v>
                  </c:pt>
                  <c:pt idx="112">
                    <c:v>2018</c:v>
                  </c:pt>
                  <c:pt idx="113">
                    <c:v>2018</c:v>
                  </c:pt>
                  <c:pt idx="114">
                    <c:v>2018</c:v>
                  </c:pt>
                  <c:pt idx="115">
                    <c:v>2018</c:v>
                  </c:pt>
                  <c:pt idx="116">
                    <c:v>2018</c:v>
                  </c:pt>
                  <c:pt idx="117">
                    <c:v>2018</c:v>
                  </c:pt>
                  <c:pt idx="118">
                    <c:v>2018</c:v>
                  </c:pt>
                  <c:pt idx="119">
                    <c:v>2018</c:v>
                  </c:pt>
                  <c:pt idx="120">
                    <c:v>2018</c:v>
                  </c:pt>
                  <c:pt idx="121">
                    <c:v>2018</c:v>
                  </c:pt>
                  <c:pt idx="122">
                    <c:v>2018</c:v>
                  </c:pt>
                  <c:pt idx="123">
                    <c:v>2018</c:v>
                  </c:pt>
                  <c:pt idx="124">
                    <c:v>2019</c:v>
                  </c:pt>
                  <c:pt idx="125">
                    <c:v>2019</c:v>
                  </c:pt>
                  <c:pt idx="126">
                    <c:v>2019</c:v>
                  </c:pt>
                  <c:pt idx="127">
                    <c:v>2019</c:v>
                  </c:pt>
                  <c:pt idx="128">
                    <c:v>2019</c:v>
                  </c:pt>
                  <c:pt idx="129">
                    <c:v>2019</c:v>
                  </c:pt>
                  <c:pt idx="130">
                    <c:v>2019</c:v>
                  </c:pt>
                  <c:pt idx="131">
                    <c:v>2019</c:v>
                  </c:pt>
                  <c:pt idx="132">
                    <c:v>2019</c:v>
                  </c:pt>
                  <c:pt idx="133">
                    <c:v>2019</c:v>
                  </c:pt>
                  <c:pt idx="134">
                    <c:v>2019</c:v>
                  </c:pt>
                  <c:pt idx="135">
                    <c:v>2019</c:v>
                  </c:pt>
                  <c:pt idx="136">
                    <c:v>2020</c:v>
                  </c:pt>
                  <c:pt idx="137">
                    <c:v>2020</c:v>
                  </c:pt>
                  <c:pt idx="138">
                    <c:v>2020</c:v>
                  </c:pt>
                  <c:pt idx="139">
                    <c:v>2020</c:v>
                  </c:pt>
                  <c:pt idx="140">
                    <c:v>2020</c:v>
                  </c:pt>
                  <c:pt idx="141">
                    <c:v>2020</c:v>
                  </c:pt>
                  <c:pt idx="142">
                    <c:v>2020</c:v>
                  </c:pt>
                  <c:pt idx="143">
                    <c:v>2020</c:v>
                  </c:pt>
                  <c:pt idx="144">
                    <c:v>2020</c:v>
                  </c:pt>
                  <c:pt idx="145">
                    <c:v>2020</c:v>
                  </c:pt>
                  <c:pt idx="146">
                    <c:v>2020</c:v>
                  </c:pt>
                  <c:pt idx="147">
                    <c:v>2020</c:v>
                  </c:pt>
                  <c:pt idx="148">
                    <c:v>2021</c:v>
                  </c:pt>
                  <c:pt idx="149">
                    <c:v>2021</c:v>
                  </c:pt>
                  <c:pt idx="150">
                    <c:v>2021</c:v>
                  </c:pt>
                  <c:pt idx="151">
                    <c:v>2021</c:v>
                  </c:pt>
                  <c:pt idx="152">
                    <c:v>2021</c:v>
                  </c:pt>
                  <c:pt idx="153">
                    <c:v>2021</c:v>
                  </c:pt>
                  <c:pt idx="154">
                    <c:v>2021</c:v>
                  </c:pt>
                  <c:pt idx="155">
                    <c:v>2021</c:v>
                  </c:pt>
                  <c:pt idx="156">
                    <c:v>2021</c:v>
                  </c:pt>
                  <c:pt idx="157">
                    <c:v>2021</c:v>
                  </c:pt>
                  <c:pt idx="158">
                    <c:v>2021</c:v>
                  </c:pt>
                  <c:pt idx="159">
                    <c:v>2021</c:v>
                  </c:pt>
                  <c:pt idx="160">
                    <c:v>2022</c:v>
                  </c:pt>
                  <c:pt idx="161">
                    <c:v>2022</c:v>
                  </c:pt>
                  <c:pt idx="162">
                    <c:v>2022</c:v>
                  </c:pt>
                  <c:pt idx="163">
                    <c:v>2022</c:v>
                  </c:pt>
                  <c:pt idx="164">
                    <c:v>2022</c:v>
                  </c:pt>
                  <c:pt idx="165">
                    <c:v>2022</c:v>
                  </c:pt>
                  <c:pt idx="166">
                    <c:v>2022</c:v>
                  </c:pt>
                  <c:pt idx="167">
                    <c:v>2022</c:v>
                  </c:pt>
                  <c:pt idx="168">
                    <c:v>2022</c:v>
                  </c:pt>
                  <c:pt idx="169">
                    <c:v>2022</c:v>
                  </c:pt>
                  <c:pt idx="170">
                    <c:v>2022</c:v>
                  </c:pt>
                  <c:pt idx="171">
                    <c:v>2022</c:v>
                  </c:pt>
                  <c:pt idx="172">
                    <c:v>2023</c:v>
                  </c:pt>
                  <c:pt idx="173">
                    <c:v>2023</c:v>
                  </c:pt>
                  <c:pt idx="174">
                    <c:v>2023</c:v>
                  </c:pt>
                  <c:pt idx="175">
                    <c:v>2023</c:v>
                  </c:pt>
                  <c:pt idx="176">
                    <c:v>2023</c:v>
                  </c:pt>
                  <c:pt idx="177">
                    <c:v>2023</c:v>
                  </c:pt>
                  <c:pt idx="178">
                    <c:v>2023</c:v>
                  </c:pt>
                  <c:pt idx="179">
                    <c:v>2023</c:v>
                  </c:pt>
                  <c:pt idx="180">
                    <c:v>2023</c:v>
                  </c:pt>
                  <c:pt idx="181">
                    <c:v>2023</c:v>
                  </c:pt>
                  <c:pt idx="182">
                    <c:v>2023</c:v>
                  </c:pt>
                  <c:pt idx="183">
                    <c:v>2023</c:v>
                  </c:pt>
                  <c:pt idx="184">
                    <c:v>2024</c:v>
                  </c:pt>
                  <c:pt idx="185">
                    <c:v>2024</c:v>
                  </c:pt>
                  <c:pt idx="186">
                    <c:v>2024</c:v>
                  </c:pt>
                  <c:pt idx="187">
                    <c:v>2024</c:v>
                  </c:pt>
                  <c:pt idx="188">
                    <c:v>2024</c:v>
                  </c:pt>
                  <c:pt idx="189">
                    <c:v>2024</c:v>
                  </c:pt>
                  <c:pt idx="190">
                    <c:v>2024</c:v>
                  </c:pt>
                  <c:pt idx="191">
                    <c:v>2024</c:v>
                  </c:pt>
                  <c:pt idx="192">
                    <c:v>2024</c:v>
                  </c:pt>
                  <c:pt idx="193">
                    <c:v>2024</c:v>
                  </c:pt>
                  <c:pt idx="194">
                    <c:v>2024</c:v>
                  </c:pt>
                  <c:pt idx="195">
                    <c:v>2024</c:v>
                  </c:pt>
                  <c:pt idx="196">
                    <c:v>2025</c:v>
                  </c:pt>
                  <c:pt idx="197">
                    <c:v>2025</c:v>
                  </c:pt>
                  <c:pt idx="198">
                    <c:v>2025</c:v>
                  </c:pt>
                  <c:pt idx="199">
                    <c:v>2025</c:v>
                  </c:pt>
                  <c:pt idx="200">
                    <c:v>2025</c:v>
                  </c:pt>
                  <c:pt idx="201">
                    <c:v>2025</c:v>
                  </c:pt>
                  <c:pt idx="202">
                    <c:v>2025</c:v>
                  </c:pt>
                  <c:pt idx="203">
                    <c:v>2025</c:v>
                  </c:pt>
                  <c:pt idx="204">
                    <c:v>2025</c:v>
                  </c:pt>
                  <c:pt idx="205">
                    <c:v>2025</c:v>
                  </c:pt>
                  <c:pt idx="206">
                    <c:v>2025</c:v>
                  </c:pt>
                  <c:pt idx="207">
                    <c:v>2025</c:v>
                  </c:pt>
                  <c:pt idx="208">
                    <c:v>2026</c:v>
                  </c:pt>
                  <c:pt idx="209">
                    <c:v>2026</c:v>
                  </c:pt>
                  <c:pt idx="210">
                    <c:v>2026</c:v>
                  </c:pt>
                  <c:pt idx="211">
                    <c:v>2026</c:v>
                  </c:pt>
                  <c:pt idx="212">
                    <c:v>2026</c:v>
                  </c:pt>
                  <c:pt idx="213">
                    <c:v>2026</c:v>
                  </c:pt>
                  <c:pt idx="214">
                    <c:v>2026</c:v>
                  </c:pt>
                  <c:pt idx="215">
                    <c:v>2026</c:v>
                  </c:pt>
                  <c:pt idx="216">
                    <c:v>2026</c:v>
                  </c:pt>
                  <c:pt idx="217">
                    <c:v>2026</c:v>
                  </c:pt>
                </c:lvl>
              </c:multiLvlStrCache>
            </c:multiLvlStrRef>
          </c:cat>
          <c:val>
            <c:numRef>
              <c:f>Sheet1!$D$2:$D$219</c:f>
              <c:numCache>
                <c:formatCode>General</c:formatCode>
                <c:ptCount val="218"/>
                <c:pt idx="0">
                  <c:v>-0.925</c:v>
                </c:pt>
                <c:pt idx="1">
                  <c:v>-0.619</c:v>
                </c:pt>
                <c:pt idx="2">
                  <c:v>0.203</c:v>
                </c:pt>
                <c:pt idx="3">
                  <c:v>0.048</c:v>
                </c:pt>
                <c:pt idx="4">
                  <c:v>0.593</c:v>
                </c:pt>
                <c:pt idx="5">
                  <c:v>-0.344</c:v>
                </c:pt>
                <c:pt idx="6">
                  <c:v>-0.849</c:v>
                </c:pt>
                <c:pt idx="7">
                  <c:v>-0.921</c:v>
                </c:pt>
                <c:pt idx="8">
                  <c:v>-0.711</c:v>
                </c:pt>
                <c:pt idx="9">
                  <c:v>-0.765</c:v>
                </c:pt>
                <c:pt idx="10">
                  <c:v>0.289</c:v>
                </c:pt>
                <c:pt idx="11">
                  <c:v>-0.071</c:v>
                </c:pt>
                <c:pt idx="12">
                  <c:v>-0.795</c:v>
                </c:pt>
                <c:pt idx="13">
                  <c:v>-0.35</c:v>
                </c:pt>
                <c:pt idx="14">
                  <c:v>-0.15</c:v>
                </c:pt>
                <c:pt idx="15">
                  <c:v>0.469</c:v>
                </c:pt>
                <c:pt idx="16">
                  <c:v>0.448</c:v>
                </c:pt>
                <c:pt idx="17">
                  <c:v>0.656</c:v>
                </c:pt>
                <c:pt idx="18">
                  <c:v>-0.12</c:v>
                </c:pt>
                <c:pt idx="19">
                  <c:v>-0.78</c:v>
                </c:pt>
                <c:pt idx="20">
                  <c:v>-0.906</c:v>
                </c:pt>
                <c:pt idx="21">
                  <c:v>-0.946</c:v>
                </c:pt>
                <c:pt idx="22">
                  <c:v>-0.847</c:v>
                </c:pt>
                <c:pt idx="23">
                  <c:v>-0.939</c:v>
                </c:pt>
                <c:pt idx="24">
                  <c:v>-0.891</c:v>
                </c:pt>
                <c:pt idx="25">
                  <c:v>-0.51</c:v>
                </c:pt>
                <c:pt idx="26">
                  <c:v>-0.363</c:v>
                </c:pt>
                <c:pt idx="27">
                  <c:v>0.33</c:v>
                </c:pt>
                <c:pt idx="28">
                  <c:v>0.185</c:v>
                </c:pt>
                <c:pt idx="29">
                  <c:v>-0.344</c:v>
                </c:pt>
                <c:pt idx="30">
                  <c:v>-0.822</c:v>
                </c:pt>
                <c:pt idx="31">
                  <c:v>-0.895</c:v>
                </c:pt>
                <c:pt idx="32">
                  <c:v>-0.93</c:v>
                </c:pt>
                <c:pt idx="33">
                  <c:v>-0.86</c:v>
                </c:pt>
                <c:pt idx="34">
                  <c:v>-0.805</c:v>
                </c:pt>
                <c:pt idx="35">
                  <c:v>-0.918</c:v>
                </c:pt>
                <c:pt idx="36">
                  <c:v>-0.839</c:v>
                </c:pt>
                <c:pt idx="37">
                  <c:v>-0.687</c:v>
                </c:pt>
                <c:pt idx="38">
                  <c:v>-0.178</c:v>
                </c:pt>
                <c:pt idx="39">
                  <c:v>0.419</c:v>
                </c:pt>
                <c:pt idx="40">
                  <c:v>0.489</c:v>
                </c:pt>
                <c:pt idx="41">
                  <c:v>0.624</c:v>
                </c:pt>
                <c:pt idx="42">
                  <c:v>0.783</c:v>
                </c:pt>
                <c:pt idx="43">
                  <c:v>0.622</c:v>
                </c:pt>
                <c:pt idx="44">
                  <c:v>0.722</c:v>
                </c:pt>
                <c:pt idx="45">
                  <c:v>0.606</c:v>
                </c:pt>
                <c:pt idx="46">
                  <c:v>0.662</c:v>
                </c:pt>
                <c:pt idx="47">
                  <c:v>0.246</c:v>
                </c:pt>
                <c:pt idx="48">
                  <c:v>0.193</c:v>
                </c:pt>
                <c:pt idx="49">
                  <c:v>0.433</c:v>
                </c:pt>
                <c:pt idx="50">
                  <c:v>0.7</c:v>
                </c:pt>
                <c:pt idx="51">
                  <c:v>0.914</c:v>
                </c:pt>
                <c:pt idx="52">
                  <c:v>0.897</c:v>
                </c:pt>
                <c:pt idx="53">
                  <c:v>0.819</c:v>
                </c:pt>
                <c:pt idx="54">
                  <c:v>0.69</c:v>
                </c:pt>
                <c:pt idx="55">
                  <c:v>0.268</c:v>
                </c:pt>
                <c:pt idx="56">
                  <c:v>0.281</c:v>
                </c:pt>
                <c:pt idx="57">
                  <c:v>0.099</c:v>
                </c:pt>
                <c:pt idx="58">
                  <c:v>0.124</c:v>
                </c:pt>
                <c:pt idx="59">
                  <c:v>-0.387</c:v>
                </c:pt>
                <c:pt idx="60">
                  <c:v>-0.552</c:v>
                </c:pt>
                <c:pt idx="61">
                  <c:v>-0.008</c:v>
                </c:pt>
                <c:pt idx="62">
                  <c:v>0.501</c:v>
                </c:pt>
                <c:pt idx="63">
                  <c:v>0.69</c:v>
                </c:pt>
                <c:pt idx="64">
                  <c:v>0.67</c:v>
                </c:pt>
                <c:pt idx="65">
                  <c:v>0.575</c:v>
                </c:pt>
                <c:pt idx="66">
                  <c:v>0.513</c:v>
                </c:pt>
                <c:pt idx="67">
                  <c:v>0.229</c:v>
                </c:pt>
                <c:pt idx="68">
                  <c:v>0.318</c:v>
                </c:pt>
                <c:pt idx="69">
                  <c:v>0.082</c:v>
                </c:pt>
                <c:pt idx="70">
                  <c:v>0.267</c:v>
                </c:pt>
                <c:pt idx="71">
                  <c:v>-0.26</c:v>
                </c:pt>
                <c:pt idx="72">
                  <c:v>-0.069</c:v>
                </c:pt>
                <c:pt idx="73">
                  <c:v>0.186</c:v>
                </c:pt>
                <c:pt idx="74">
                  <c:v>0.584</c:v>
                </c:pt>
                <c:pt idx="75">
                  <c:v>0.676</c:v>
                </c:pt>
                <c:pt idx="76">
                  <c:v>0.621</c:v>
                </c:pt>
                <c:pt idx="77">
                  <c:v>0.53</c:v>
                </c:pt>
                <c:pt idx="78">
                  <c:v>0.462</c:v>
                </c:pt>
                <c:pt idx="79">
                  <c:v>0.151</c:v>
                </c:pt>
                <c:pt idx="80">
                  <c:v>0.165</c:v>
                </c:pt>
                <c:pt idx="81">
                  <c:v>-0.16</c:v>
                </c:pt>
                <c:pt idx="82">
                  <c:v>0.085</c:v>
                </c:pt>
                <c:pt idx="83">
                  <c:v>-0.348</c:v>
                </c:pt>
                <c:pt idx="84">
                  <c:v>-0.226</c:v>
                </c:pt>
                <c:pt idx="85">
                  <c:v>-0.002</c:v>
                </c:pt>
                <c:pt idx="86">
                  <c:v>0.369</c:v>
                </c:pt>
                <c:pt idx="87">
                  <c:v>0.052</c:v>
                </c:pt>
                <c:pt idx="88">
                  <c:v>0.032</c:v>
                </c:pt>
                <c:pt idx="89">
                  <c:v>0.122</c:v>
                </c:pt>
                <c:pt idx="90">
                  <c:v>0.171</c:v>
                </c:pt>
                <c:pt idx="91">
                  <c:v>-0.416</c:v>
                </c:pt>
                <c:pt idx="92">
                  <c:v>-0.331</c:v>
                </c:pt>
                <c:pt idx="93">
                  <c:v>-0.094</c:v>
                </c:pt>
                <c:pt idx="94">
                  <c:v>0.15</c:v>
                </c:pt>
                <c:pt idx="95">
                  <c:v>-0.419</c:v>
                </c:pt>
                <c:pt idx="96">
                  <c:v>-0.225</c:v>
                </c:pt>
                <c:pt idx="97">
                  <c:v>0.455</c:v>
                </c:pt>
                <c:pt idx="98">
                  <c:v>0.72</c:v>
                </c:pt>
                <c:pt idx="99">
                  <c:v>0.494</c:v>
                </c:pt>
                <c:pt idx="100">
                  <c:v>0.304</c:v>
                </c:pt>
                <c:pt idx="101">
                  <c:v>0.245</c:v>
                </c:pt>
                <c:pt idx="102">
                  <c:v>0.476</c:v>
                </c:pt>
                <c:pt idx="103">
                  <c:v>-0.179</c:v>
                </c:pt>
                <c:pt idx="104">
                  <c:v>-0.15</c:v>
                </c:pt>
                <c:pt idx="105">
                  <c:v>-0.419</c:v>
                </c:pt>
                <c:pt idx="106">
                  <c:v>0.067</c:v>
                </c:pt>
                <c:pt idx="107">
                  <c:v>-0.438</c:v>
                </c:pt>
                <c:pt idx="108">
                  <c:v>-0.315</c:v>
                </c:pt>
                <c:pt idx="109">
                  <c:v>0.122</c:v>
                </c:pt>
                <c:pt idx="110">
                  <c:v>0.69</c:v>
                </c:pt>
                <c:pt idx="111">
                  <c:v>0.306</c:v>
                </c:pt>
                <c:pt idx="112">
                  <c:v>0.456</c:v>
                </c:pt>
                <c:pt idx="113">
                  <c:v>0.495</c:v>
                </c:pt>
                <c:pt idx="114">
                  <c:v>0.511</c:v>
                </c:pt>
                <c:pt idx="115">
                  <c:v>-0.167</c:v>
                </c:pt>
                <c:pt idx="116">
                  <c:v>0.048</c:v>
                </c:pt>
                <c:pt idx="117">
                  <c:v>-0.188</c:v>
                </c:pt>
                <c:pt idx="118">
                  <c:v>-0.254</c:v>
                </c:pt>
                <c:pt idx="119">
                  <c:v>-0.76</c:v>
                </c:pt>
                <c:pt idx="120">
                  <c:v>-0.568</c:v>
                </c:pt>
                <c:pt idx="121">
                  <c:v>-0.326</c:v>
                </c:pt>
                <c:pt idx="122">
                  <c:v>0.267</c:v>
                </c:pt>
                <c:pt idx="123">
                  <c:v>-0.07</c:v>
                </c:pt>
                <c:pt idx="124">
                  <c:v>0.051</c:v>
                </c:pt>
                <c:pt idx="125">
                  <c:v>0.157</c:v>
                </c:pt>
                <c:pt idx="126">
                  <c:v>0.339</c:v>
                </c:pt>
                <c:pt idx="127">
                  <c:v>-0.026</c:v>
                </c:pt>
                <c:pt idx="128">
                  <c:v>-0.098</c:v>
                </c:pt>
                <c:pt idx="129">
                  <c:v>-0.295</c:v>
                </c:pt>
                <c:pt idx="130">
                  <c:v>-0.181</c:v>
                </c:pt>
                <c:pt idx="131">
                  <c:v>-0.695</c:v>
                </c:pt>
                <c:pt idx="132">
                  <c:v>-0.579</c:v>
                </c:pt>
                <c:pt idx="133">
                  <c:v>-0.382</c:v>
                </c:pt>
                <c:pt idx="134">
                  <c:v>0.499</c:v>
                </c:pt>
                <c:pt idx="135">
                  <c:v>0.602</c:v>
                </c:pt>
                <c:pt idx="136">
                  <c:v>0.668</c:v>
                </c:pt>
                <c:pt idx="137">
                  <c:v>0.307</c:v>
                </c:pt>
                <c:pt idx="138">
                  <c:v>0.472</c:v>
                </c:pt>
                <c:pt idx="139">
                  <c:v>0.229</c:v>
                </c:pt>
                <c:pt idx="140">
                  <c:v>0.091</c:v>
                </c:pt>
                <c:pt idx="141">
                  <c:v>-0.052</c:v>
                </c:pt>
                <c:pt idx="142">
                  <c:v>0.095</c:v>
                </c:pt>
                <c:pt idx="143">
                  <c:v>-0.462</c:v>
                </c:pt>
                <c:pt idx="144">
                  <c:v>-0.666</c:v>
                </c:pt>
                <c:pt idx="145">
                  <c:v>-0.268</c:v>
                </c:pt>
                <c:pt idx="146">
                  <c:v>0.383</c:v>
                </c:pt>
                <c:pt idx="147">
                  <c:v>0.3</c:v>
                </c:pt>
                <c:pt idx="148">
                  <c:v>0.263</c:v>
                </c:pt>
                <c:pt idx="149">
                  <c:v>0.542</c:v>
                </c:pt>
                <c:pt idx="150">
                  <c:v>0.692</c:v>
                </c:pt>
                <c:pt idx="151">
                  <c:v>0.345</c:v>
                </c:pt>
                <c:pt idx="152">
                  <c:v>0.44</c:v>
                </c:pt>
                <c:pt idx="153">
                  <c:v>0.278</c:v>
                </c:pt>
                <c:pt idx="154">
                  <c:v>0.391</c:v>
                </c:pt>
                <c:pt idx="155">
                  <c:v>-0.357</c:v>
                </c:pt>
                <c:pt idx="156">
                  <c:v>-0.321</c:v>
                </c:pt>
                <c:pt idx="157">
                  <c:v>0.092</c:v>
                </c:pt>
                <c:pt idx="158">
                  <c:v>0.394</c:v>
                </c:pt>
                <c:pt idx="159">
                  <c:v>0.382</c:v>
                </c:pt>
                <c:pt idx="160">
                  <c:v>0.167</c:v>
                </c:pt>
                <c:pt idx="161">
                  <c:v>0.316</c:v>
                </c:pt>
                <c:pt idx="162">
                  <c:v>0.313</c:v>
                </c:pt>
                <c:pt idx="163">
                  <c:v>-0.116</c:v>
                </c:pt>
                <c:pt idx="164">
                  <c:v>-0.074</c:v>
                </c:pt>
                <c:pt idx="165">
                  <c:v>-0.091</c:v>
                </c:pt>
                <c:pt idx="166">
                  <c:v>0.326</c:v>
                </c:pt>
                <c:pt idx="167">
                  <c:v>-0.19</c:v>
                </c:pt>
                <c:pt idx="168">
                  <c:v>-0.011</c:v>
                </c:pt>
                <c:pt idx="169">
                  <c:v>0.353</c:v>
                </c:pt>
                <c:pt idx="170">
                  <c:v>0.693</c:v>
                </c:pt>
                <c:pt idx="171">
                  <c:v>0.876</c:v>
                </c:pt>
                <c:pt idx="172">
                  <c:v>0.632</c:v>
                </c:pt>
                <c:pt idx="173">
                  <c:v>0.73</c:v>
                </c:pt>
                <c:pt idx="174">
                  <c:v>0.634</c:v>
                </c:pt>
                <c:pt idx="175">
                  <c:v>-0.016</c:v>
                </c:pt>
                <c:pt idx="176">
                  <c:v>-0.059</c:v>
                </c:pt>
                <c:pt idx="177">
                  <c:v>-0.227</c:v>
                </c:pt>
                <c:pt idx="178">
                  <c:v>-0.475</c:v>
                </c:pt>
                <c:pt idx="179">
                  <c:v>-0.795</c:v>
                </c:pt>
                <c:pt idx="180">
                  <c:v>-0.576</c:v>
                </c:pt>
                <c:pt idx="181">
                  <c:v>-0.387</c:v>
                </c:pt>
                <c:pt idx="182">
                  <c:v>0.365</c:v>
                </c:pt>
                <c:pt idx="183">
                  <c:v>-0.151</c:v>
                </c:pt>
                <c:pt idx="184">
                  <c:v>-0.109</c:v>
                </c:pt>
                <c:pt idx="185">
                  <c:v>0.335</c:v>
                </c:pt>
                <c:pt idx="186">
                  <c:v>0.126</c:v>
                </c:pt>
                <c:pt idx="187">
                  <c:v>-0.129</c:v>
                </c:pt>
                <c:pt idx="188">
                  <c:v>0.051</c:v>
                </c:pt>
                <c:pt idx="189">
                  <c:v>-0.191</c:v>
                </c:pt>
                <c:pt idx="190">
                  <c:v>-0.077</c:v>
                </c:pt>
                <c:pt idx="191">
                  <c:v>-0.624</c:v>
                </c:pt>
                <c:pt idx="192">
                  <c:v>-0.351</c:v>
                </c:pt>
                <c:pt idx="193">
                  <c:v>0.134</c:v>
                </c:pt>
                <c:pt idx="194">
                  <c:v>0.477</c:v>
                </c:pt>
                <c:pt idx="195">
                  <c:v>0.061</c:v>
                </c:pt>
                <c:pt idx="196">
                  <c:v>0.179</c:v>
                </c:pt>
                <c:pt idx="197">
                  <c:v>0.297</c:v>
                </c:pt>
                <c:pt idx="198">
                  <c:v>0.404</c:v>
                </c:pt>
                <c:pt idx="199">
                  <c:v>0.039</c:v>
                </c:pt>
                <c:pt idx="200">
                  <c:v>0.066</c:v>
                </c:pt>
                <c:pt idx="201">
                  <c:v>0.121</c:v>
                </c:pt>
                <c:pt idx="202">
                  <c:v>0.106</c:v>
                </c:pt>
                <c:pt idx="203">
                  <c:v>-0.439</c:v>
                </c:pt>
                <c:pt idx="204">
                  <c:v>-0.206</c:v>
                </c:pt>
                <c:pt idx="205">
                  <c:v>0.088</c:v>
                </c:pt>
                <c:pt idx="206">
                  <c:v>0.377</c:v>
                </c:pt>
                <c:pt idx="207">
                  <c:v>-0.021</c:v>
                </c:pt>
                <c:pt idx="208">
                  <c:v>0.03</c:v>
                </c:pt>
                <c:pt idx="209">
                  <c:v>0.134</c:v>
                </c:pt>
                <c:pt idx="210">
                  <c:v>0.286</c:v>
                </c:pt>
                <c:pt idx="211">
                  <c:v>-0.043</c:v>
                </c:pt>
                <c:pt idx="212">
                  <c:v>0.023</c:v>
                </c:pt>
                <c:pt idx="213">
                  <c:v>0.041</c:v>
                </c:pt>
                <c:pt idx="214">
                  <c:v>0.052</c:v>
                </c:pt>
                <c:pt idx="215">
                  <c:v>-0.457</c:v>
                </c:pt>
                <c:pt idx="216">
                  <c:v>-0.237</c:v>
                </c:pt>
                <c:pt idx="217">
                  <c:v>0.051</c:v>
                </c:pt>
              </c:numCache>
            </c:numRef>
          </c:val>
          <c:smooth val="0"/>
        </c:ser>
        <c:dLbls>
          <c:numFmt formatCode="#,##0" sourceLinked="0"/>
          <c:txPr>
            <a:bodyPr/>
            <a:lstStyle/>
            <a:p>
              <a:pPr>
                <a:defRPr b="0" i="0" strike="noStrike" sz="1100" u="none">
                  <a:solidFill>
                    <a:srgbClr val="1B1F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1B1F2A"/>
                </a:solidFill>
                <a:latin typeface="+mn-lt"/>
              </a:defRPr>
            </a:pPr>
            <a:endParaRPr lang="en-US"/>
          </a:p>
        </c:txPr>
        <c:crossAx val="2094734552"/>
        <c:crosses val="autoZero"/>
        <c:auto val="1"/>
        <c:lblAlgn val="ctr"/>
        <c:noMultiLvlLbl val="1"/>
        <c:tickLblSkip val="36"/>
      </c:catAx>
      <c:valAx>
        <c:axId val="2094734552"/>
        <c:scaling>
          <c:orientation val="minMax"/>
          <c:max val="1"/>
          <c:min val="-1"/>
        </c:scaling>
        <c:delete val="0"/>
        <c:axPos val="l"/>
        <c:majorGridlines>
          <c:spPr>
            <a:ln w="6350" cap="flat">
              <a:solidFill>
                <a:srgbClr val="D9DCE1"/>
              </a:solidFill>
              <a:prstDash val="solid"/>
              <a:round/>
            </a:ln>
          </c:spPr>
        </c:majorGridlines>
        <c:numFmt formatCode="0.0;&quot;minus &quot;0.0" sourceLinked="0"/>
        <c:majorTickMark val="out"/>
        <c:minorTickMark val="none"/>
        <c:tickLblPos val="nextTo"/>
        <c:spPr>
          <a:ln w="12700" cap="flat">
            <a:noFill/>
            <a:prstDash val="solid"/>
            <a:round/>
          </a:ln>
        </c:spPr>
        <c:txPr>
          <a:bodyPr/>
          <a:lstStyle/>
          <a:p>
            <a:pPr>
              <a:defRPr sz="1000" b="0" i="0" u="none" strike="noStrike">
                <a:solidFill>
                  <a:srgbClr val="8A8F98"/>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95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First, is India entering a new interest rate cycle, and how far will it go? Second, because Nepal's rupee is pegged to India's at 1.6, how does India's cycle carry over into Nepal's prices and interest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the new cycle has already started; the question now is how long it runs. Nepal: the peg carries India's prices across the border. The market rate follows the RBI only half the time, a coin flip, but since the NRB corridor began in 2016 the NRB's own rate has responded at about half the RBI's move, a significant result in a test declared beforehand (D055).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steps run in this order and each one feeds the next. The grey line under each step names the page of the Streamlit dashboard where it can be inspected. Every choice in steps 2 to 7 was written into the decision log before it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ledger is data/source_registry/variable_registry.csv. Used means core or in use; excluded includes one variable that was coded and then not used. Each download is in a manifest under data/source_registry/manifests with its address, time and SHA256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in time rule is enforced in code: features are joined on publication dates, and tests fail if any value is dated after its cutoff. RBI projections were hand coded from the policy statements and count only from the day they were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Nepal gap, or embargo, equals the three month horizon plus the publication lag, so a training label is never one that would still be unknown at the forecast origin. The random forest used fixed shallow settings so that it could not be tuned to the test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Generation 1 was scored on 80 decisions, generations 2 and 3 on 75, because RBI projections start later. Nepal went the same way: a policy style model (0.35) gave way to a liquidity model (0.42) and then to the two yes or no questions (0.64 for rises, 0.73 for falls in the training years). Every step up was declared before it was run, and the failures stay in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permutation test shifts the decision labels in time while keeping their order, which keeps the persistence of policy but breaks the link to the inputs. A coefficient counts as learned only if its sign holds in at least 80 percent of windows, a rule set before the check (D031).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after the freeze that came from designs chosen later, such as the Nepal yes or no questions, are labelled post hoc rather than blind.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cycle is a run of moves in one direction. Since 2005 hiking cycles have had between 2 and 13 hikes. The 2013 cycle followed the taper tantrum and the rupee's fall; 2018 followed oil and the rupee. Source: reports/tables/rbi_decisions.csv and peg_cycles.csv.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Ordered probit on 115 training decisions with six economic inputs. Bars are average marginal effects on the probability of a hike. Orange bars are significant at 1 percent. Inflation gaps are measured from the nominal anchor of each regime: the multiple indicator years, the Patel glide path and the 4 percent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prescribed rate is the estimated policy rule of the suggestion engine: the partial adjustment rule refitted in real time at every decision on inflation gap, projection gap and growth gap. Mean absolute distance from the actual repo: 0.14 point on the 31 blind decisions, 0.19 on the 75 training decisions. Source: reports/tables/suggestions_train.csv, suggestions_blind.csv, figure backtest_blind.png.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Lean is the probability of a hike minus the probability of a cut from the economic ordered probit, refitted at every decision with only data published before it. Bars mark the decision the RBI actually took. Sources: reports/tables/walk_forward_train_econ_predictions.csv and blind_india_predictions.csv.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overfitted model scores much better on the data it was fitted to than on new data. None of the final models shows that pattern. Complex models did: the random forest fell to 0.49 on unseen data and a ten feature probit to 0.44 in training, which is why the small models were kept. Source: reports/tables/fit_gap.csv, decision D051.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D050. The probit was refitted on all 146 known decisions and not otherwise changed. Oil enters through the RBI's own sensitivity: crude 10 percent above baseline adds about 0.3 points to inflation and takes about 0.2 off growth. The December probabilities are recorded and will be scored after the 2 to 4 December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meeting's probabilities are chained: every branch carries its own previous decision and repo level into the next meeting. Source: reports/tables/india_outlook_paths_20261028.csv.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Decisions D057 and D058: the frozen model chained through 12 meetings, shown for the premium persists scenario; the other four peak between 5.63 and 5.81 and all end near 5.2 to 5.26. The first three meetings use the news based inputs of D050. After April 2027 inputs follow declared assumptions: inflation returns to its 2021 to 2026 average of 4.7, the oil effect leaves twelve month inflation from December 2027, and each point of repo above 5.50 lowers inflation by 0.4 point. Beyond a year the assumptions drive the path more than the news, so this is a conditional outlook, not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Nepal's interest rates and prices are treated here as outcomes of India's cycle. Capital controls resolve the impossible trinity: the peg holds, and the NRB keeps room over its own rate, so India's move arrives through prices, through the NRB's own response, and through liquidity. Sources: peg_channels.csv and peg_cycles.csv, decisions D052 and D053.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from the month before the RBI's first move to three months after its last, in percentage points. Same way means a move of more than 0.1 point in the RBI's direction. The monthly test of decision D055 agrees: no significant response of the interbank rate before or during the corridor (p 0.50 and 0.51). Decision D053, reports/tables/peg_cycles.csv.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CPI inflation on both sides; Nepal's series ends in March 2026 and twelve months in 2006 and 2007 that repeated the year before in the IMF file are left missing. Source: reports/tables/peg_channels.csv, decision D052.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from the month before the RBI's first move to three months after its last. Over all twelve complete RBI cycles since 2001 the NRB bank rate moved the same way in 7, the 91 day treasury bill in 7 and the interbank rate in 6; the response became regular once the NRB corridor was in place. Treasury bill changes since 2019: minus 0.65, plus 2.08, minus 0.35. Sources: reports/tables/peg_cycles.csv and peg_policy_response.csv, decisions D053, D055 and D056.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peg the NRB must buy the foreign currency that remittances bring in, and each purchase creates bank reserves. When deposits grow faster than credit, the surplus pushes the interbank rate to the floor of the corridor; when credit outruns deposits, it rises to the ceiling. Slow government spending did not cause the current floor: the fiscal injection was smaller during it. Decision D049.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logistic model of decision D039, refitted at every origin with a four month gap so no training label was unknown at the origin. Lean is P(rise) minus P(fall). Results from November 2021 are labelled post hoc because the design was chosen afterwards. The last three months, August to October 2026, are sealed forecasts awaiting NRB data. Source: reports/tables/nepal_binary_predictions.csv.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NRB estimate applies the corridor era response of decision D056 to the outlook range and is an implication, not a model forecast. The frozen Nepal model's sealed forecast for October 2026 is rise 0.29, fall 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data manifests and the decision log are in the project repository; every number in this deck comes from a committed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606040"/>
            <a:ext cx="8046720" cy="1463040"/>
          </a:xfrm>
          <a:prstGeom prst="rect">
            <a:avLst/>
          </a:prstGeom>
          <a:noFill/>
          <a:ln/>
        </p:spPr>
        <p:txBody>
          <a:bodyPr wrap="square" rtlCol="0"/>
          <a:lstStyle>
            <a:lvl1pPr indent="0" marL="0">
              <a:buNone/>
              <a:defRPr lang="en-US" sz="1800" dirty="0">
                <a:solidFill>
                  <a:srgbClr val="CADCFC"/>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chemeClr val="accent4"/>
                </a:solidFill>
              </a:rPr>
              <a:t>RateCycle India Nepal</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972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Will India enter a new rate cycle, and how does it reach Nepal?</a:t>
            </a:r>
            <a:endParaRPr lang="en-US" sz="4000" dirty="0"/>
          </a:p>
        </p:txBody>
      </p:sp>
      <p:sp>
        <p:nvSpPr>
          <p:cNvPr id="3" name="Text 0"/>
          <p:cNvSpPr/>
          <p:nvPr>
            <p:ph idx="101" type="body" hasCustomPrompt="1"/>
          </p:nvPr>
        </p:nvSpPr>
        <p:spPr>
          <a:xfrm>
            <a:off x="548640" y="2606040"/>
            <a:ext cx="8046720" cy="1463040"/>
          </a:xfrm>
          <a:prstGeom prst="rect">
            <a:avLst/>
          </a:prstGeom>
          <a:noFill/>
          <a:ln/>
        </p:spPr>
        <p:txBody>
          <a:bodyPr wrap="square" lIns="0" tIns="0" rIns="0" bIns="0" rtlCol="0" anchor="t"/>
          <a:lstStyle/>
          <a:p>
            <a:pPr indent="0" marL="0">
              <a:buNone/>
            </a:pPr>
            <a:r>
              <a:rPr lang="en-US" sz="1800" dirty="0">
                <a:solidFill>
                  <a:srgbClr val="CADCFC"/>
                </a:solidFill>
              </a:rPr>
              <a:t>RBI policy cycles, and Nepal's interest rates under the peg of 1.6 Nepali rupees to the Indian rupee</a:t>
            </a:r>
            <a:endParaRPr lang="en-US" sz="1800" dirty="0"/>
          </a:p>
          <a:p>
            <a:pPr indent="0" marL="0">
              <a:buNone/>
            </a:pPr>
            <a:r>
              <a:rPr lang="en-US" sz="1000" dirty="0">
                <a:solidFill>
                  <a:srgbClr val="CADCFC"/>
                </a:solidFill>
              </a:rPr>
              <a:t> </a:t>
            </a:r>
            <a:endParaRPr lang="en-US" sz="1800" dirty="0"/>
          </a:p>
          <a:p>
            <a:pPr indent="0" marL="0">
              <a:buNone/>
            </a:pPr>
            <a:r>
              <a:rPr lang="en-US" sz="1300" dirty="0">
                <a:solidFill>
                  <a:srgbClr val="9FB3D1"/>
                </a:solidFill>
              </a:rPr>
              <a:t>RateCycle India Nepal  |  Macroeconomics project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answers</a:t>
            </a:r>
            <a:endParaRPr lang="en-US" sz="2600" dirty="0"/>
          </a:p>
        </p:txBody>
      </p:sp>
      <p:sp>
        <p:nvSpPr>
          <p:cNvPr id="3" name="stat0"/>
          <p:cNvSpPr/>
          <p:nvPr/>
        </p:nvSpPr>
        <p:spPr>
          <a:xfrm>
            <a:off x="457200" y="1188720"/>
            <a:ext cx="2606040" cy="2331720"/>
          </a:xfrm>
          <a:prstGeom prst="roundRect">
            <a:avLst>
              <a:gd name="adj" fmla="val 3137"/>
            </a:avLst>
          </a:prstGeom>
          <a:solidFill>
            <a:schemeClr val="bg2"/>
          </a:solidFill>
          <a:ln/>
        </p:spPr>
      </p:sp>
      <p:sp>
        <p:nvSpPr>
          <p:cNvPr id="4" name="Text 2"/>
          <p:cNvSpPr txBox="1"/>
          <p:nvPr/>
        </p:nvSpPr>
        <p:spPr>
          <a:xfrm>
            <a:off x="685800" y="1371600"/>
            <a:ext cx="2194560" cy="86868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Yes</a:t>
            </a:r>
            <a:endParaRPr lang="en-US" sz="4400" dirty="0"/>
          </a:p>
        </p:txBody>
      </p:sp>
      <p:sp>
        <p:nvSpPr>
          <p:cNvPr id="5" name="Text 3"/>
          <p:cNvSpPr txBox="1"/>
          <p:nvPr/>
        </p:nvSpPr>
        <p:spPr>
          <a:xfrm>
            <a:off x="685800" y="2331720"/>
            <a:ext cx="2194560" cy="11430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India entered a hiking cycle on 7 October 2026, repo 5.25 to 5.50. Our model gives a second hike in December a 0.56 chance.</a:t>
            </a:r>
            <a:endParaRPr lang="en-US" sz="1250" dirty="0"/>
          </a:p>
        </p:txBody>
      </p:sp>
      <p:sp>
        <p:nvSpPr>
          <p:cNvPr id="6" name="stat1"/>
          <p:cNvSpPr/>
          <p:nvPr/>
        </p:nvSpPr>
        <p:spPr>
          <a:xfrm>
            <a:off x="3264408" y="1188720"/>
            <a:ext cx="2606040" cy="2331720"/>
          </a:xfrm>
          <a:prstGeom prst="roundRect">
            <a:avLst>
              <a:gd name="adj" fmla="val 3137"/>
            </a:avLst>
          </a:prstGeom>
          <a:solidFill>
            <a:schemeClr val="bg2"/>
          </a:solidFill>
          <a:ln/>
        </p:spPr>
      </p:sp>
      <p:sp>
        <p:nvSpPr>
          <p:cNvPr id="7" name="Text 5"/>
          <p:cNvSpPr txBox="1"/>
          <p:nvPr/>
        </p:nvSpPr>
        <p:spPr>
          <a:xfrm>
            <a:off x="3493008" y="1371600"/>
            <a:ext cx="2194560" cy="86868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5.75 to 6.00</a:t>
            </a:r>
            <a:endParaRPr lang="en-US" sz="2800" dirty="0"/>
          </a:p>
        </p:txBody>
      </p:sp>
      <p:sp>
        <p:nvSpPr>
          <p:cNvPr id="8" name="Text 6"/>
          <p:cNvSpPr txBox="1"/>
          <p:nvPr/>
        </p:nvSpPr>
        <p:spPr>
          <a:xfrm>
            <a:off x="3493008" y="2331720"/>
            <a:ext cx="2194560" cy="11430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Most likely end by April 2027: 5.75, or 6.00 if oil stays above 110 dollars. A short cycle like 2013 and 2018.</a:t>
            </a:r>
            <a:endParaRPr lang="en-US" sz="1250" dirty="0"/>
          </a:p>
        </p:txBody>
      </p:sp>
      <p:sp>
        <p:nvSpPr>
          <p:cNvPr id="9" name="stat2"/>
          <p:cNvSpPr/>
          <p:nvPr/>
        </p:nvSpPr>
        <p:spPr>
          <a:xfrm>
            <a:off x="6071616" y="1188720"/>
            <a:ext cx="2606040" cy="2331720"/>
          </a:xfrm>
          <a:prstGeom prst="roundRect">
            <a:avLst>
              <a:gd name="adj" fmla="val 3137"/>
            </a:avLst>
          </a:prstGeom>
          <a:solidFill>
            <a:schemeClr val="bg2"/>
          </a:solidFill>
          <a:ln/>
        </p:spPr>
      </p:sp>
      <p:sp>
        <p:nvSpPr>
          <p:cNvPr id="10" name="Text 8"/>
          <p:cNvSpPr txBox="1"/>
          <p:nvPr/>
        </p:nvSpPr>
        <p:spPr>
          <a:xfrm>
            <a:off x="6300216" y="1371600"/>
            <a:ext cx="2194560" cy="868680"/>
          </a:xfrm>
          <a:prstGeom prst="rect">
            <a:avLst/>
          </a:prstGeom>
          <a:noFill/>
          <a:ln/>
        </p:spPr>
        <p:txBody>
          <a:bodyPr wrap="square" lIns="0" tIns="0" rIns="0" bIns="0" rtlCol="0" anchor="b"/>
          <a:lstStyle/>
          <a:p>
            <a:pPr indent="0" marL="0">
              <a:buNone/>
            </a:pPr>
            <a:r>
              <a:rPr lang="en-US" sz="2100" b="1" dirty="0">
                <a:solidFill>
                  <a:schemeClr val="accent2"/>
                </a:solidFill>
                <a:latin typeface="Cambria" pitchFamily="34" charset="0"/>
                <a:ea typeface="Cambria" pitchFamily="34" charset="-122"/>
                <a:cs typeface="Cambria" pitchFamily="34" charset="-120"/>
              </a:rPr>
              <a:t>6 of 12, then 0.5</a:t>
            </a:r>
            <a:endParaRPr lang="en-US" sz="2100" dirty="0"/>
          </a:p>
        </p:txBody>
      </p:sp>
      <p:sp>
        <p:nvSpPr>
          <p:cNvPr id="11" name="Text 9"/>
          <p:cNvSpPr txBox="1"/>
          <p:nvPr/>
        </p:nvSpPr>
        <p:spPr>
          <a:xfrm>
            <a:off x="6300216" y="2331720"/>
            <a:ext cx="2194560" cy="11430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Nepal's market rate followed only 6 of 12 RBI cycles. Since the 2016 corridor the NRB moves 0.5 point per RBI point (p 0.007).</a:t>
            </a:r>
            <a:endParaRPr lang="en-US" sz="1250" dirty="0"/>
          </a:p>
        </p:txBody>
      </p:sp>
      <p:sp>
        <p:nvSpPr>
          <p:cNvPr id="12" name="Text 10"/>
          <p:cNvSpPr txBox="1"/>
          <p:nvPr/>
        </p:nvSpPr>
        <p:spPr>
          <a:xfrm>
            <a:off x="457200" y="3749040"/>
            <a:ext cx="8229600" cy="822960"/>
          </a:xfrm>
          <a:prstGeom prst="rect">
            <a:avLst/>
          </a:prstGeom>
          <a:noFill/>
          <a:ln/>
        </p:spPr>
        <p:txBody>
          <a:bodyPr wrap="square" lIns="0" tIns="0" rIns="0" bIns="0" rtlCol="0" anchor="ctr"/>
          <a:lstStyle/>
          <a:p>
            <a:pPr indent="0" marL="0">
              <a:buNone/>
            </a:pPr>
            <a:r>
              <a:rPr lang="en-US" sz="1400" i="1" dirty="0">
                <a:solidFill>
                  <a:schemeClr val="tx2"/>
                </a:solidFill>
                <a:latin typeface="Calibri" pitchFamily="34" charset="0"/>
                <a:ea typeface="Calibri" pitchFamily="34" charset="-122"/>
                <a:cs typeface="Calibri" pitchFamily="34" charset="-120"/>
              </a:rPr>
              <a:t>The peg imports India's prices. India's interest rate cycle reaches Nepal through the NRB's own corridor since 2016, while remittance liquidity keeps the market rate on its own path.</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How the models were trained: seven steps</a:t>
            </a:r>
            <a:endParaRPr lang="en-US" sz="2600" dirty="0"/>
          </a:p>
        </p:txBody>
      </p:sp>
      <p:sp>
        <p:nvSpPr>
          <p:cNvPr id="3" name="flowline"/>
          <p:cNvSpPr/>
          <p:nvPr/>
        </p:nvSpPr>
        <p:spPr>
          <a:xfrm>
            <a:off x="777240" y="1426464"/>
            <a:ext cx="7589520" cy="0"/>
          </a:xfrm>
          <a:prstGeom prst="line">
            <a:avLst/>
          </a:prstGeom>
          <a:noFill/>
          <a:ln w="25400">
            <a:solidFill>
              <a:srgbClr val="D9DCE1"/>
            </a:solidFill>
            <a:prstDash val="solid"/>
          </a:ln>
        </p:spPr>
      </p:sp>
      <p:sp>
        <p:nvSpPr>
          <p:cNvPr id="4" name="tdot0"/>
          <p:cNvSpPr/>
          <p:nvPr/>
        </p:nvSpPr>
        <p:spPr>
          <a:xfrm>
            <a:off x="585216" y="1234440"/>
            <a:ext cx="384048" cy="384048"/>
          </a:xfrm>
          <a:prstGeom prst="ellipse">
            <a:avLst/>
          </a:prstGeom>
          <a:solidFill>
            <a:schemeClr val="tx2"/>
          </a:solidFill>
          <a:ln/>
        </p:spPr>
      </p:sp>
      <p:sp>
        <p:nvSpPr>
          <p:cNvPr id="5" name="Text 3"/>
          <p:cNvSpPr txBox="1"/>
          <p:nvPr/>
        </p:nvSpPr>
        <p:spPr>
          <a:xfrm>
            <a:off x="585216" y="1234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457200" y="1737360"/>
            <a:ext cx="1115568" cy="5029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Collect</a:t>
            </a:r>
            <a:endParaRPr lang="en-US" sz="1200" dirty="0"/>
          </a:p>
        </p:txBody>
      </p:sp>
      <p:sp>
        <p:nvSpPr>
          <p:cNvPr id="7" name="Text 5"/>
          <p:cNvSpPr txBox="1"/>
          <p:nvPr/>
        </p:nvSpPr>
        <p:spPr>
          <a:xfrm>
            <a:off x="457200" y="2286000"/>
            <a:ext cx="1115568" cy="169164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1,015 source files from RBI, MOSPI, IMF, BIS, FRED and NRB, each logged with a hash</a:t>
            </a:r>
            <a:endParaRPr lang="en-US" sz="1050" dirty="0"/>
          </a:p>
        </p:txBody>
      </p:sp>
      <p:sp>
        <p:nvSpPr>
          <p:cNvPr id="8" name="Text 6"/>
          <p:cNvSpPr txBox="1"/>
          <p:nvPr/>
        </p:nvSpPr>
        <p:spPr>
          <a:xfrm>
            <a:off x="457200" y="3520440"/>
            <a:ext cx="1115568" cy="411480"/>
          </a:xfrm>
          <a:prstGeom prst="rect">
            <a:avLst/>
          </a:prstGeom>
          <a:noFill/>
          <a:ln/>
        </p:spPr>
        <p:txBody>
          <a:bodyPr wrap="square" lIns="0" tIns="0" rIns="0" bIns="0" rtlCol="0" anchor="t"/>
          <a:lstStyle/>
          <a:p>
            <a:pPr indent="0" marL="0">
              <a:buNone/>
            </a:pPr>
            <a:r>
              <a:rPr lang="en-US" sz="950" i="1" dirty="0">
                <a:solidFill>
                  <a:schemeClr val="accent4"/>
                </a:solidFill>
                <a:latin typeface="Calibri" pitchFamily="34" charset="0"/>
                <a:ea typeface="Calibri" pitchFamily="34" charset="-122"/>
                <a:cs typeface="Calibri" pitchFamily="34" charset="-120"/>
              </a:rPr>
              <a:t>Data explorer</a:t>
            </a:r>
            <a:endParaRPr lang="en-US" sz="950" dirty="0"/>
          </a:p>
        </p:txBody>
      </p:sp>
      <p:sp>
        <p:nvSpPr>
          <p:cNvPr id="9" name="tdot1"/>
          <p:cNvSpPr/>
          <p:nvPr/>
        </p:nvSpPr>
        <p:spPr>
          <a:xfrm>
            <a:off x="1773936" y="1234440"/>
            <a:ext cx="384048" cy="384048"/>
          </a:xfrm>
          <a:prstGeom prst="ellipse">
            <a:avLst/>
          </a:prstGeom>
          <a:solidFill>
            <a:schemeClr val="tx2"/>
          </a:solidFill>
          <a:ln/>
        </p:spPr>
      </p:sp>
      <p:sp>
        <p:nvSpPr>
          <p:cNvPr id="10" name="Text 8"/>
          <p:cNvSpPr txBox="1"/>
          <p:nvPr/>
        </p:nvSpPr>
        <p:spPr>
          <a:xfrm>
            <a:off x="1773936" y="1234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645920" y="1737360"/>
            <a:ext cx="1115568" cy="5029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Choose variables</a:t>
            </a:r>
            <a:endParaRPr lang="en-US" sz="1200" dirty="0"/>
          </a:p>
        </p:txBody>
      </p:sp>
      <p:sp>
        <p:nvSpPr>
          <p:cNvPr id="12" name="Text 10"/>
          <p:cNvSpPr txBox="1"/>
          <p:nvPr/>
        </p:nvSpPr>
        <p:spPr>
          <a:xfrm>
            <a:off x="1645920" y="2286000"/>
            <a:ext cx="1115568" cy="169164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64 candidates in a ledger; 25 used, each other one kept or dropped with a reason</a:t>
            </a:r>
            <a:endParaRPr lang="en-US" sz="1050" dirty="0"/>
          </a:p>
        </p:txBody>
      </p:sp>
      <p:sp>
        <p:nvSpPr>
          <p:cNvPr id="13" name="Text 11"/>
          <p:cNvSpPr txBox="1"/>
          <p:nvPr/>
        </p:nvSpPr>
        <p:spPr>
          <a:xfrm>
            <a:off x="1645920" y="3520440"/>
            <a:ext cx="1115568" cy="411480"/>
          </a:xfrm>
          <a:prstGeom prst="rect">
            <a:avLst/>
          </a:prstGeom>
          <a:noFill/>
          <a:ln/>
        </p:spPr>
        <p:txBody>
          <a:bodyPr wrap="square" lIns="0" tIns="0" rIns="0" bIns="0" rtlCol="0" anchor="t"/>
          <a:lstStyle/>
          <a:p>
            <a:pPr indent="0" marL="0">
              <a:buNone/>
            </a:pPr>
            <a:r>
              <a:rPr lang="en-US" sz="950" i="1" dirty="0">
                <a:solidFill>
                  <a:schemeClr val="accent4"/>
                </a:solidFill>
                <a:latin typeface="Calibri" pitchFamily="34" charset="0"/>
                <a:ea typeface="Calibri" pitchFamily="34" charset="-122"/>
                <a:cs typeface="Calibri" pitchFamily="34" charset="-120"/>
              </a:rPr>
              <a:t>Variable ledger</a:t>
            </a:r>
            <a:endParaRPr lang="en-US" sz="950" dirty="0"/>
          </a:p>
        </p:txBody>
      </p:sp>
      <p:sp>
        <p:nvSpPr>
          <p:cNvPr id="14" name="tdot2"/>
          <p:cNvSpPr/>
          <p:nvPr/>
        </p:nvSpPr>
        <p:spPr>
          <a:xfrm>
            <a:off x="2962656" y="1234440"/>
            <a:ext cx="384048" cy="384048"/>
          </a:xfrm>
          <a:prstGeom prst="ellipse">
            <a:avLst/>
          </a:prstGeom>
          <a:solidFill>
            <a:schemeClr val="tx2"/>
          </a:solidFill>
          <a:ln/>
        </p:spPr>
      </p:sp>
      <p:sp>
        <p:nvSpPr>
          <p:cNvPr id="15" name="Text 13"/>
          <p:cNvSpPr txBox="1"/>
          <p:nvPr/>
        </p:nvSpPr>
        <p:spPr>
          <a:xfrm>
            <a:off x="2962656" y="1234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2834640" y="1737360"/>
            <a:ext cx="1115568" cy="5029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Features at the cutoff</a:t>
            </a:r>
            <a:endParaRPr lang="en-US" sz="1200" dirty="0"/>
          </a:p>
        </p:txBody>
      </p:sp>
      <p:sp>
        <p:nvSpPr>
          <p:cNvPr id="17" name="Text 15"/>
          <p:cNvSpPr txBox="1"/>
          <p:nvPr/>
        </p:nvSpPr>
        <p:spPr>
          <a:xfrm>
            <a:off x="2834640" y="2286000"/>
            <a:ext cx="1115568" cy="169164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Only what was published before each decision or month</a:t>
            </a:r>
            <a:endParaRPr lang="en-US" sz="1050" dirty="0"/>
          </a:p>
        </p:txBody>
      </p:sp>
      <p:sp>
        <p:nvSpPr>
          <p:cNvPr id="18" name="Text 16"/>
          <p:cNvSpPr txBox="1"/>
          <p:nvPr/>
        </p:nvSpPr>
        <p:spPr>
          <a:xfrm>
            <a:off x="2834640" y="3520440"/>
            <a:ext cx="1115568" cy="411480"/>
          </a:xfrm>
          <a:prstGeom prst="rect">
            <a:avLst/>
          </a:prstGeom>
          <a:noFill/>
          <a:ln/>
        </p:spPr>
        <p:txBody>
          <a:bodyPr wrap="square" lIns="0" tIns="0" rIns="0" bIns="0" rtlCol="0" anchor="t"/>
          <a:lstStyle/>
          <a:p>
            <a:pPr indent="0" marL="0">
              <a:buNone/>
            </a:pPr>
            <a:r>
              <a:rPr lang="en-US" sz="950" i="1" dirty="0">
                <a:solidFill>
                  <a:schemeClr val="accent4"/>
                </a:solidFill>
                <a:latin typeface="Calibri" pitchFamily="34" charset="0"/>
                <a:ea typeface="Calibri" pitchFamily="34" charset="-122"/>
                <a:cs typeface="Calibri" pitchFamily="34" charset="-120"/>
              </a:rPr>
              <a:t>Data explorer</a:t>
            </a:r>
            <a:endParaRPr lang="en-US" sz="950" dirty="0"/>
          </a:p>
        </p:txBody>
      </p:sp>
      <p:sp>
        <p:nvSpPr>
          <p:cNvPr id="19" name="tdot3"/>
          <p:cNvSpPr/>
          <p:nvPr/>
        </p:nvSpPr>
        <p:spPr>
          <a:xfrm>
            <a:off x="4151376" y="1234440"/>
            <a:ext cx="384048" cy="384048"/>
          </a:xfrm>
          <a:prstGeom prst="ellipse">
            <a:avLst/>
          </a:prstGeom>
          <a:solidFill>
            <a:schemeClr val="tx2"/>
          </a:solidFill>
          <a:ln/>
        </p:spPr>
      </p:sp>
      <p:sp>
        <p:nvSpPr>
          <p:cNvPr id="20" name="Text 18"/>
          <p:cNvSpPr txBox="1"/>
          <p:nvPr/>
        </p:nvSpPr>
        <p:spPr>
          <a:xfrm>
            <a:off x="4151376" y="1234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4023360" y="1737360"/>
            <a:ext cx="1115568" cy="5029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Targets</a:t>
            </a:r>
            <a:endParaRPr lang="en-US" sz="1200" dirty="0"/>
          </a:p>
        </p:txBody>
      </p:sp>
      <p:sp>
        <p:nvSpPr>
          <p:cNvPr id="22" name="Text 20"/>
          <p:cNvSpPr txBox="1"/>
          <p:nvPr/>
        </p:nvSpPr>
        <p:spPr>
          <a:xfrm>
            <a:off x="4023360" y="2286000"/>
            <a:ext cx="1115568" cy="169164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India: cut, hold or hike. Nepal: moves over 0.5 point in 3 months</a:t>
            </a:r>
            <a:endParaRPr lang="en-US" sz="1050" dirty="0"/>
          </a:p>
        </p:txBody>
      </p:sp>
      <p:sp>
        <p:nvSpPr>
          <p:cNvPr id="23" name="Text 21"/>
          <p:cNvSpPr txBox="1"/>
          <p:nvPr/>
        </p:nvSpPr>
        <p:spPr>
          <a:xfrm>
            <a:off x="4023360" y="3520440"/>
            <a:ext cx="1115568" cy="411480"/>
          </a:xfrm>
          <a:prstGeom prst="rect">
            <a:avLst/>
          </a:prstGeom>
          <a:noFill/>
          <a:ln/>
        </p:spPr>
        <p:txBody>
          <a:bodyPr wrap="square" lIns="0" tIns="0" rIns="0" bIns="0" rtlCol="0" anchor="t"/>
          <a:lstStyle/>
          <a:p>
            <a:pPr indent="0" marL="0">
              <a:buNone/>
            </a:pPr>
            <a:r>
              <a:rPr lang="en-US" sz="950" i="1" dirty="0">
                <a:solidFill>
                  <a:schemeClr val="accent4"/>
                </a:solidFill>
                <a:latin typeface="Calibri" pitchFamily="34" charset="0"/>
                <a:ea typeface="Calibri" pitchFamily="34" charset="-122"/>
                <a:cs typeface="Calibri" pitchFamily="34" charset="-120"/>
              </a:rPr>
              <a:t>Models</a:t>
            </a:r>
            <a:endParaRPr lang="en-US" sz="950" dirty="0"/>
          </a:p>
        </p:txBody>
      </p:sp>
      <p:sp>
        <p:nvSpPr>
          <p:cNvPr id="24" name="tdot4"/>
          <p:cNvSpPr/>
          <p:nvPr/>
        </p:nvSpPr>
        <p:spPr>
          <a:xfrm>
            <a:off x="5340096" y="1234440"/>
            <a:ext cx="384048" cy="384048"/>
          </a:xfrm>
          <a:prstGeom prst="ellipse">
            <a:avLst/>
          </a:prstGeom>
          <a:solidFill>
            <a:schemeClr val="tx2"/>
          </a:solidFill>
          <a:ln/>
        </p:spPr>
      </p:sp>
      <p:sp>
        <p:nvSpPr>
          <p:cNvPr id="25" name="Text 23"/>
          <p:cNvSpPr txBox="1"/>
          <p:nvPr/>
        </p:nvSpPr>
        <p:spPr>
          <a:xfrm>
            <a:off x="5340096" y="1234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5212080" y="1737360"/>
            <a:ext cx="1115568" cy="5029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Walk forward</a:t>
            </a:r>
            <a:endParaRPr lang="en-US" sz="1200" dirty="0"/>
          </a:p>
        </p:txBody>
      </p:sp>
      <p:sp>
        <p:nvSpPr>
          <p:cNvPr id="27" name="Text 25"/>
          <p:cNvSpPr txBox="1"/>
          <p:nvPr/>
        </p:nvSpPr>
        <p:spPr>
          <a:xfrm>
            <a:off x="5212080" y="2286000"/>
            <a:ext cx="1115568" cy="169164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Refit at every decision on past outcomes only, up to October 2021</a:t>
            </a:r>
            <a:endParaRPr lang="en-US" sz="1050" dirty="0"/>
          </a:p>
        </p:txBody>
      </p:sp>
      <p:sp>
        <p:nvSpPr>
          <p:cNvPr id="28" name="Text 26"/>
          <p:cNvSpPr txBox="1"/>
          <p:nvPr/>
        </p:nvSpPr>
        <p:spPr>
          <a:xfrm>
            <a:off x="5212080" y="3520440"/>
            <a:ext cx="1115568" cy="411480"/>
          </a:xfrm>
          <a:prstGeom prst="rect">
            <a:avLst/>
          </a:prstGeom>
          <a:noFill/>
          <a:ln/>
        </p:spPr>
        <p:txBody>
          <a:bodyPr wrap="square" lIns="0" tIns="0" rIns="0" bIns="0" rtlCol="0" anchor="t"/>
          <a:lstStyle/>
          <a:p>
            <a:pPr indent="0" marL="0">
              <a:buNone/>
            </a:pPr>
            <a:r>
              <a:rPr lang="en-US" sz="950" i="1" dirty="0">
                <a:solidFill>
                  <a:schemeClr val="accent4"/>
                </a:solidFill>
                <a:latin typeface="Calibri" pitchFamily="34" charset="0"/>
                <a:ea typeface="Calibri" pitchFamily="34" charset="-122"/>
                <a:cs typeface="Calibri" pitchFamily="34" charset="-120"/>
              </a:rPr>
              <a:t>Models</a:t>
            </a:r>
            <a:endParaRPr lang="en-US" sz="950" dirty="0"/>
          </a:p>
        </p:txBody>
      </p:sp>
      <p:sp>
        <p:nvSpPr>
          <p:cNvPr id="29" name="tdot5"/>
          <p:cNvSpPr/>
          <p:nvPr/>
        </p:nvSpPr>
        <p:spPr>
          <a:xfrm>
            <a:off x="6528816" y="1234440"/>
            <a:ext cx="384048" cy="384048"/>
          </a:xfrm>
          <a:prstGeom prst="ellipse">
            <a:avLst/>
          </a:prstGeom>
          <a:solidFill>
            <a:schemeClr val="tx2"/>
          </a:solidFill>
          <a:ln/>
        </p:spPr>
      </p:sp>
      <p:sp>
        <p:nvSpPr>
          <p:cNvPr id="30" name="Text 28"/>
          <p:cNvSpPr txBox="1"/>
          <p:nvPr/>
        </p:nvSpPr>
        <p:spPr>
          <a:xfrm>
            <a:off x="6528816" y="1234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6</a:t>
            </a:r>
            <a:endParaRPr lang="en-US" sz="1300" dirty="0"/>
          </a:p>
        </p:txBody>
      </p:sp>
      <p:sp>
        <p:nvSpPr>
          <p:cNvPr id="31" name="Text 29"/>
          <p:cNvSpPr txBox="1"/>
          <p:nvPr/>
        </p:nvSpPr>
        <p:spPr>
          <a:xfrm>
            <a:off x="6400800" y="1737360"/>
            <a:ext cx="1115568" cy="5029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Check the skill</a:t>
            </a:r>
            <a:endParaRPr lang="en-US" sz="1200" dirty="0"/>
          </a:p>
        </p:txBody>
      </p:sp>
      <p:sp>
        <p:nvSpPr>
          <p:cNvPr id="32" name="Text 30"/>
          <p:cNvSpPr txBox="1"/>
          <p:nvPr/>
        </p:nvSpPr>
        <p:spPr>
          <a:xfrm>
            <a:off x="6400800" y="2286000"/>
            <a:ext cx="1115568" cy="169164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Permutation, stability, block accuracy, replication, ablations</a:t>
            </a:r>
            <a:endParaRPr lang="en-US" sz="1050" dirty="0"/>
          </a:p>
        </p:txBody>
      </p:sp>
      <p:sp>
        <p:nvSpPr>
          <p:cNvPr id="33" name="Text 31"/>
          <p:cNvSpPr txBox="1"/>
          <p:nvPr/>
        </p:nvSpPr>
        <p:spPr>
          <a:xfrm>
            <a:off x="6400800" y="3520440"/>
            <a:ext cx="1115568" cy="411480"/>
          </a:xfrm>
          <a:prstGeom prst="rect">
            <a:avLst/>
          </a:prstGeom>
          <a:noFill/>
          <a:ln/>
        </p:spPr>
        <p:txBody>
          <a:bodyPr wrap="square" lIns="0" tIns="0" rIns="0" bIns="0" rtlCol="0" anchor="t"/>
          <a:lstStyle/>
          <a:p>
            <a:pPr indent="0" marL="0">
              <a:buNone/>
            </a:pPr>
            <a:r>
              <a:rPr lang="en-US" sz="950" i="1" dirty="0">
                <a:solidFill>
                  <a:schemeClr val="accent4"/>
                </a:solidFill>
                <a:latin typeface="Calibri" pitchFamily="34" charset="0"/>
                <a:ea typeface="Calibri" pitchFamily="34" charset="-122"/>
                <a:cs typeface="Calibri" pitchFamily="34" charset="-120"/>
              </a:rPr>
              <a:t>Models, stability</a:t>
            </a:r>
            <a:endParaRPr lang="en-US" sz="950" dirty="0"/>
          </a:p>
        </p:txBody>
      </p:sp>
      <p:sp>
        <p:nvSpPr>
          <p:cNvPr id="34" name="tdot6"/>
          <p:cNvSpPr/>
          <p:nvPr/>
        </p:nvSpPr>
        <p:spPr>
          <a:xfrm>
            <a:off x="7717536" y="1234440"/>
            <a:ext cx="384048" cy="384048"/>
          </a:xfrm>
          <a:prstGeom prst="ellipse">
            <a:avLst/>
          </a:prstGeom>
          <a:solidFill>
            <a:schemeClr val="accent1"/>
          </a:solidFill>
          <a:ln/>
        </p:spPr>
      </p:sp>
      <p:sp>
        <p:nvSpPr>
          <p:cNvPr id="35" name="Text 33"/>
          <p:cNvSpPr txBox="1"/>
          <p:nvPr/>
        </p:nvSpPr>
        <p:spPr>
          <a:xfrm>
            <a:off x="7717536" y="1234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7</a:t>
            </a:r>
            <a:endParaRPr lang="en-US" sz="1300" dirty="0"/>
          </a:p>
        </p:txBody>
      </p:sp>
      <p:sp>
        <p:nvSpPr>
          <p:cNvPr id="36" name="Text 34"/>
          <p:cNvSpPr txBox="1"/>
          <p:nvPr/>
        </p:nvSpPr>
        <p:spPr>
          <a:xfrm>
            <a:off x="7589520" y="1737360"/>
            <a:ext cx="1115568" cy="5029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Freeze and blind test</a:t>
            </a:r>
            <a:endParaRPr lang="en-US" sz="1200" dirty="0"/>
          </a:p>
        </p:txBody>
      </p:sp>
      <p:sp>
        <p:nvSpPr>
          <p:cNvPr id="37" name="Text 35"/>
          <p:cNvSpPr txBox="1"/>
          <p:nvPr/>
        </p:nvSpPr>
        <p:spPr>
          <a:xfrm>
            <a:off x="7589520" y="2286000"/>
            <a:ext cx="1115568" cy="169164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Configuration hashed, then scored once on 2021 to 2026</a:t>
            </a:r>
            <a:endParaRPr lang="en-US" sz="1050" dirty="0"/>
          </a:p>
        </p:txBody>
      </p:sp>
      <p:sp>
        <p:nvSpPr>
          <p:cNvPr id="38" name="Text 36"/>
          <p:cNvSpPr txBox="1"/>
          <p:nvPr/>
        </p:nvSpPr>
        <p:spPr>
          <a:xfrm>
            <a:off x="7589520" y="3520440"/>
            <a:ext cx="1115568" cy="411480"/>
          </a:xfrm>
          <a:prstGeom prst="rect">
            <a:avLst/>
          </a:prstGeom>
          <a:noFill/>
          <a:ln/>
        </p:spPr>
        <p:txBody>
          <a:bodyPr wrap="square" lIns="0" tIns="0" rIns="0" bIns="0" rtlCol="0" anchor="t"/>
          <a:lstStyle/>
          <a:p>
            <a:pPr indent="0" marL="0">
              <a:buNone/>
            </a:pPr>
            <a:r>
              <a:rPr lang="en-US" sz="950" i="1" dirty="0">
                <a:solidFill>
                  <a:schemeClr val="accent4"/>
                </a:solidFill>
                <a:latin typeface="Calibri" pitchFamily="34" charset="0"/>
                <a:ea typeface="Calibri" pitchFamily="34" charset="-122"/>
                <a:cs typeface="Calibri" pitchFamily="34" charset="-120"/>
              </a:rPr>
              <a:t>Blind backtest</a:t>
            </a:r>
            <a:endParaRPr lang="en-US" sz="950" dirty="0"/>
          </a:p>
        </p:txBody>
      </p:sp>
      <p:sp>
        <p:nvSpPr>
          <p:cNvPr id="39" name="Text 37"/>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300" i="1" dirty="0">
                <a:solidFill>
                  <a:schemeClr val="tx2"/>
                </a:solidFill>
                <a:latin typeface="Calibri" pitchFamily="34" charset="0"/>
                <a:ea typeface="Calibri" pitchFamily="34" charset="-122"/>
                <a:cs typeface="Calibri" pitchFamily="34" charset="-120"/>
              </a:rPr>
              <a:t>Every choice from step 2 onward was written into the decision log before it was run, and failures stay on the record.</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Steps 1 and 2: data, and a ledger of every variable</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4663440" cy="914400"/>
        </p:xfrm>
        <a:graphic>
          <a:graphicData uri="http://schemas.openxmlformats.org/drawingml/2006/table">
            <a:tbl>
              <a:tblPr/>
              <a:tblGrid>
                <a:gridCol w="1234440"/>
                <a:gridCol w="2743200"/>
                <a:gridCol w="685800"/>
              </a:tblGrid>
              <a:tr h="274320">
                <a:tc>
                  <a:txBody>
                    <a:bodyPr/>
                    <a:lstStyle/>
                    <a:p>
                      <a:pPr algn="ctr" indent="0" marL="0">
                        <a:buNone/>
                      </a:pPr>
                      <a:r>
                        <a:rPr lang="en-US" sz="1050" b="1" dirty="0">
                          <a:solidFill>
                            <a:schemeClr val="bg1"/>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Calibri" pitchFamily="34" charset="0"/>
                          <a:ea typeface="Calibri" pitchFamily="34" charset="-122"/>
                          <a:cs typeface="Calibri" pitchFamily="34" charset="-120"/>
                        </a:rPr>
                        <a:t>What</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Calibri" pitchFamily="34" charset="0"/>
                          <a:ea typeface="Calibri" pitchFamily="34" charset="-122"/>
                          <a:cs typeface="Calibri" pitchFamily="34" charset="-120"/>
                        </a:rPr>
                        <a:t>Files</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r>
              <a:tr h="274320">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RBI</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Policy statements, policy index, projections</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250</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74320">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MOSPI</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CPI, industrial production</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74320">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IMF</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Nepal CPI, monetary surveys, interest rates</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74320">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BIS</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Policy rates of India and the US</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74320">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FRED</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Brent oil, rupee per dollar, VIX</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74320">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NRB</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Macro tables, time series database</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744</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74320">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Caldara and Iacoviello</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Geopolitical risk index</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bl>
          </a:graphicData>
        </a:graphic>
      </p:graphicFrame>
      <p:sp>
        <p:nvSpPr>
          <p:cNvPr id="4" name="Text 1"/>
          <p:cNvSpPr txBox="1"/>
          <p:nvPr/>
        </p:nvSpPr>
        <p:spPr>
          <a:xfrm>
            <a:off x="457200" y="3429000"/>
            <a:ext cx="4663440" cy="548640"/>
          </a:xfrm>
          <a:prstGeom prst="rect">
            <a:avLst/>
          </a:prstGeom>
          <a:noFill/>
          <a:ln/>
        </p:spPr>
        <p:txBody>
          <a:bodyPr wrap="square" lIns="0" tIns="0" rIns="0" bIns="0" rtlCol="0" anchor="ctr"/>
          <a:lstStyle/>
          <a:p>
            <a:pPr indent="0" marL="0">
              <a:buNone/>
            </a:pPr>
            <a:r>
              <a:rPr lang="en-US" sz="1050" i="1" dirty="0">
                <a:solidFill>
                  <a:schemeClr val="accent4"/>
                </a:solidFill>
                <a:latin typeface="Calibri" pitchFamily="34" charset="0"/>
                <a:ea typeface="Calibri" pitchFamily="34" charset="-122"/>
                <a:cs typeface="Calibri" pitchFamily="34" charset="-120"/>
              </a:rPr>
              <a:t>Files that failed or were incomplete are logged, not silently dropped: 1,015 of 1,177 downloads are usable.</a:t>
            </a:r>
            <a:endParaRPr lang="en-US" sz="1050" dirty="0"/>
          </a:p>
        </p:txBody>
      </p:sp>
      <p:graphicFrame>
        <p:nvGraphicFramePr>
          <p:cNvPr id="5" name="Chart 0" descr=""/>
          <p:cNvGraphicFramePr/>
          <p:nvPr/>
        </p:nvGraphicFramePr>
        <p:xfrm>
          <a:off x="5349240" y="1005840"/>
          <a:ext cx="3337560" cy="27432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349240" y="3840480"/>
            <a:ext cx="3337560" cy="77724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Each variable has a role, a source, a publication lag and a reason for its status, so nothing enters a model unexplained.</a:t>
            </a:r>
            <a:endParaRPr lang="en-US" sz="1100" dirty="0"/>
          </a:p>
        </p:txBody>
      </p:sp>
      <p:sp>
        <p:nvSpPr>
          <p:cNvPr id="7" name="Text 3"/>
          <p:cNvSpPr txBox="1"/>
          <p:nvPr/>
        </p:nvSpPr>
        <p:spPr>
          <a:xfrm>
            <a:off x="5029200" y="4800600"/>
            <a:ext cx="3108960" cy="228600"/>
          </a:xfrm>
          <a:prstGeom prst="rect">
            <a:avLst/>
          </a:prstGeom>
          <a:noFill/>
          <a:ln/>
        </p:spPr>
        <p:txBody>
          <a:bodyPr wrap="square" lIns="0" tIns="0" rIns="0" bIns="0" rtlCol="0" anchor="ctr"/>
          <a:lstStyle/>
          <a:p>
            <a:pPr algn="r" indent="0" marL="0">
              <a:buNone/>
            </a:pPr>
            <a:r>
              <a:rPr lang="en-US" sz="900" i="1" dirty="0">
                <a:solidFill>
                  <a:schemeClr val="accent4"/>
                </a:solidFill>
                <a:latin typeface="Calibri" pitchFamily="34" charset="0"/>
                <a:ea typeface="Calibri" pitchFamily="34" charset="-122"/>
                <a:cs typeface="Calibri" pitchFamily="34" charset="-120"/>
              </a:rPr>
              <a:t>Dashboard page: Data explorer, Variable ledger</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Steps 3 and 4: features at the cutoff, and targets</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371600"/>
                <a:gridCol w="3429000"/>
                <a:gridCol w="3429000"/>
              </a:tblGrid>
              <a:tr h="0">
                <a:tc>
                  <a:txBody>
                    <a:bodyPr/>
                    <a:lstStyle/>
                    <a:p>
                      <a:pPr algn="ctr" indent="0" marL="0">
                        <a:buNone/>
                      </a:pP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Calibri" pitchFamily="34" charset="0"/>
                          <a:ea typeface="Calibri" pitchFamily="34" charset="-122"/>
                          <a:cs typeface="Calibri" pitchFamily="34" charset="-120"/>
                        </a:rPr>
                        <a:t>India</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Calibri" pitchFamily="34" charset="0"/>
                          <a:ea typeface="Calibri" pitchFamily="34" charset="-122"/>
                          <a:cs typeface="Calibri" pitchFamily="34" charset="-120"/>
                        </a:rPr>
                        <a:t>Nepal</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r>
              <a:tr h="0">
                <a:tc>
                  <a:txBody>
                    <a:bodyPr/>
                    <a:lstStyle/>
                    <a:p>
                      <a:pPr algn="l" indent="0" marL="0">
                        <a:buNone/>
                      </a:pPr>
                      <a:r>
                        <a:rPr lang="en-US" sz="1050" b="1" dirty="0">
                          <a:solidFill>
                            <a:schemeClr val="tx2"/>
                          </a:solidFill>
                          <a:latin typeface="Calibri" pitchFamily="34" charset="0"/>
                          <a:ea typeface="Calibri" pitchFamily="34" charset="-122"/>
                          <a:cs typeface="Calibri" pitchFamily="34" charset="-120"/>
                        </a:rPr>
                        <a:t>One row per</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RBI decision: 146 since 2001, inter meeting moves included</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Month, from the mid 1990s</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0">
                <a:tc>
                  <a:txBody>
                    <a:bodyPr/>
                    <a:lstStyle/>
                    <a:p>
                      <a:pPr algn="l" indent="0" marL="0">
                        <a:buNone/>
                      </a:pPr>
                      <a:r>
                        <a:rPr lang="en-US" sz="1050" b="1" dirty="0">
                          <a:solidFill>
                            <a:schemeClr val="tx2"/>
                          </a:solidFill>
                          <a:latin typeface="Calibri" pitchFamily="34" charset="0"/>
                          <a:ea typeface="Calibri" pitchFamily="34" charset="-122"/>
                          <a:cs typeface="Calibri" pitchFamily="34" charset="-120"/>
                        </a:rPr>
                        <a:t>Target</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Cut, hold or hike</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Does the published interbank rate rise, or fall, by more than 0.5 point over the next three months?</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0">
                <a:tc>
                  <a:txBody>
                    <a:bodyPr/>
                    <a:lstStyle/>
                    <a:p>
                      <a:pPr algn="l" indent="0" marL="0">
                        <a:buNone/>
                      </a:pPr>
                      <a:r>
                        <a:rPr lang="en-US" sz="1050" b="1" dirty="0">
                          <a:solidFill>
                            <a:schemeClr val="tx2"/>
                          </a:solidFill>
                          <a:latin typeface="Calibri" pitchFamily="34" charset="0"/>
                          <a:ea typeface="Calibri" pitchFamily="34" charset="-122"/>
                          <a:cs typeface="Calibri" pitchFamily="34" charset="-120"/>
                        </a:rPr>
                        <a:t>What is known</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Data published at least 7 days before the decision (1 and 30 days as checks)</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Interbank and corridor rates lagged one month, monetary data two months, as published</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0">
                <a:tc>
                  <a:txBody>
                    <a:bodyPr/>
                    <a:lstStyle/>
                    <a:p>
                      <a:pPr algn="l" indent="0" marL="0">
                        <a:buNone/>
                      </a:pPr>
                      <a:r>
                        <a:rPr lang="en-US" sz="1050" b="1" dirty="0">
                          <a:solidFill>
                            <a:schemeClr val="tx2"/>
                          </a:solidFill>
                          <a:latin typeface="Calibri" pitchFamily="34" charset="0"/>
                          <a:ea typeface="Calibri" pitchFamily="34" charset="-122"/>
                          <a:cs typeface="Calibri" pitchFamily="34" charset="-120"/>
                        </a:rPr>
                        <a:t>Inputs</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Previous decision; revision to the RBI's inflation projection; inflation and projected inflation minus the anchor; industrial growth minus its five year mean; rupee move over three months</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Interbank level and momentum; distance to the corridor floor and ceiling; NRB and RBI rate changes; reserves to deposits; NRB foreign asset growth; government deposits at the NRB; credit minus deposit growth; calendar effect</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0">
                <a:tc>
                  <a:txBody>
                    <a:bodyPr/>
                    <a:lstStyle/>
                    <a:p>
                      <a:pPr algn="l" indent="0" marL="0">
                        <a:buNone/>
                      </a:pPr>
                      <a:r>
                        <a:rPr lang="en-US" sz="1050" b="1" dirty="0">
                          <a:solidFill>
                            <a:schemeClr val="tx2"/>
                          </a:solidFill>
                          <a:latin typeface="Calibri" pitchFamily="34" charset="0"/>
                          <a:ea typeface="Calibri" pitchFamily="34" charset="-122"/>
                          <a:cs typeface="Calibri" pitchFamily="34" charset="-120"/>
                        </a:rPr>
                        <a:t>Fixed in advance</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Nominal anchor by regime: 5 percent from 2001, 8 in 2014, 6 in 2015, 5 in 2016, then the 4 percent target</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The 0.5 point band, set before the classes were counted</a:t>
                      </a:r>
                      <a:endParaRPr lang="en-US" sz="1050" dirty="0">
                        <a:latin typeface="Calibri" charset="0"/>
                        <a:ea typeface="Calibri" charset="0"/>
                        <a:cs typeface="Calibri" charset="0"/>
                      </a:endParaRPr>
                    </a:p>
                  </a:txBody>
                  <a:tcPr marL="54864" marR="54864" marT="54864" marB="54864">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bl>
          </a:graphicData>
        </a:graphic>
      </p:graphicFrame>
      <p:sp>
        <p:nvSpPr>
          <p:cNvPr id="4" name="Text 1"/>
          <p:cNvSpPr txBox="1"/>
          <p:nvPr/>
        </p:nvSpPr>
        <p:spPr>
          <a:xfrm>
            <a:off x="457200" y="3931920"/>
            <a:ext cx="8229600" cy="640080"/>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The rule is enforced in code: features are joined on publication dates, and a test fails if any input is dated after its cutoff. RBI projections were hand coded from 223 policy statements and count only from the day they were published.</a:t>
            </a:r>
            <a:endParaRPr lang="en-US" sz="1200" dirty="0"/>
          </a:p>
        </p:txBody>
      </p:sp>
      <p:sp>
        <p:nvSpPr>
          <p:cNvPr id="5" name="Text 2"/>
          <p:cNvSpPr txBox="1"/>
          <p:nvPr/>
        </p:nvSpPr>
        <p:spPr>
          <a:xfrm>
            <a:off x="5029200" y="4800600"/>
            <a:ext cx="3108960" cy="228600"/>
          </a:xfrm>
          <a:prstGeom prst="rect">
            <a:avLst/>
          </a:prstGeom>
          <a:noFill/>
          <a:ln/>
        </p:spPr>
        <p:txBody>
          <a:bodyPr wrap="square" lIns="0" tIns="0" rIns="0" bIns="0" rtlCol="0" anchor="ctr"/>
          <a:lstStyle/>
          <a:p>
            <a:pPr algn="r" indent="0" marL="0">
              <a:buNone/>
            </a:pPr>
            <a:r>
              <a:rPr lang="en-US" sz="900" i="1" dirty="0">
                <a:solidFill>
                  <a:schemeClr val="accent4"/>
                </a:solidFill>
                <a:latin typeface="Calibri" pitchFamily="34" charset="0"/>
                <a:ea typeface="Calibri" pitchFamily="34" charset="-122"/>
                <a:cs typeface="Calibri" pitchFamily="34" charset="-120"/>
              </a:rPr>
              <a:t>Dashboard page: Data explorer, Models</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Step 5: walk forward training, never looking ahead</a:t>
            </a:r>
            <a:endParaRPr lang="en-US" sz="2600" dirty="0"/>
          </a:p>
        </p:txBody>
      </p:sp>
      <p:sp>
        <p:nvSpPr>
          <p:cNvPr id="3" name="Text 1"/>
          <p:cNvSpPr txBox="1"/>
          <p:nvPr/>
        </p:nvSpPr>
        <p:spPr>
          <a:xfrm>
            <a:off x="457200" y="1234440"/>
            <a:ext cx="822960" cy="320040"/>
          </a:xfrm>
          <a:prstGeom prst="rect">
            <a:avLst/>
          </a:prstGeom>
          <a:noFill/>
          <a:ln/>
        </p:spPr>
        <p:txBody>
          <a:bodyPr wrap="square" lIns="0" tIns="0" rIns="0" bIns="0" rtlCol="0" anchor="ctr"/>
          <a:lstStyle/>
          <a:p>
            <a:pPr indent="0" marL="0">
              <a:buNone/>
            </a:pPr>
            <a:r>
              <a:rPr lang="en-US" sz="1050" dirty="0">
                <a:solidFill>
                  <a:schemeClr val="accent4"/>
                </a:solidFill>
                <a:latin typeface="Calibri" pitchFamily="34" charset="0"/>
                <a:ea typeface="Calibri" pitchFamily="34" charset="-122"/>
                <a:cs typeface="Calibri" pitchFamily="34" charset="-120"/>
              </a:rPr>
              <a:t>Origin 1</a:t>
            </a:r>
            <a:endParaRPr lang="en-US" sz="1050" dirty="0"/>
          </a:p>
        </p:txBody>
      </p:sp>
      <p:sp>
        <p:nvSpPr>
          <p:cNvPr id="4" name="wftr0"/>
          <p:cNvSpPr/>
          <p:nvPr/>
        </p:nvSpPr>
        <p:spPr>
          <a:xfrm>
            <a:off x="1325880" y="1280160"/>
            <a:ext cx="2194560" cy="228600"/>
          </a:xfrm>
          <a:prstGeom prst="rect">
            <a:avLst/>
          </a:prstGeom>
          <a:solidFill>
            <a:schemeClr val="accent2"/>
          </a:solidFill>
          <a:ln/>
        </p:spPr>
      </p:sp>
      <p:sp>
        <p:nvSpPr>
          <p:cNvPr id="5" name="wfemb0"/>
          <p:cNvSpPr/>
          <p:nvPr/>
        </p:nvSpPr>
        <p:spPr>
          <a:xfrm>
            <a:off x="3520440" y="1280160"/>
            <a:ext cx="457200" cy="228600"/>
          </a:xfrm>
          <a:prstGeom prst="rect">
            <a:avLst/>
          </a:prstGeom>
          <a:solidFill>
            <a:srgbClr val="D9DCE1"/>
          </a:solidFill>
          <a:ln/>
        </p:spPr>
      </p:sp>
      <p:sp>
        <p:nvSpPr>
          <p:cNvPr id="6" name="wfte0"/>
          <p:cNvSpPr/>
          <p:nvPr/>
        </p:nvSpPr>
        <p:spPr>
          <a:xfrm>
            <a:off x="3995928" y="1271016"/>
            <a:ext cx="246888" cy="246888"/>
          </a:xfrm>
          <a:prstGeom prst="ellipse">
            <a:avLst/>
          </a:prstGeom>
          <a:solidFill>
            <a:schemeClr val="accent1"/>
          </a:solidFill>
          <a:ln/>
        </p:spPr>
      </p:sp>
      <p:sp>
        <p:nvSpPr>
          <p:cNvPr id="7" name="Text 5"/>
          <p:cNvSpPr txBox="1"/>
          <p:nvPr/>
        </p:nvSpPr>
        <p:spPr>
          <a:xfrm>
            <a:off x="457200" y="1737360"/>
            <a:ext cx="822960" cy="320040"/>
          </a:xfrm>
          <a:prstGeom prst="rect">
            <a:avLst/>
          </a:prstGeom>
          <a:noFill/>
          <a:ln/>
        </p:spPr>
        <p:txBody>
          <a:bodyPr wrap="square" lIns="0" tIns="0" rIns="0" bIns="0" rtlCol="0" anchor="ctr"/>
          <a:lstStyle/>
          <a:p>
            <a:pPr indent="0" marL="0">
              <a:buNone/>
            </a:pPr>
            <a:r>
              <a:rPr lang="en-US" sz="1050" dirty="0">
                <a:solidFill>
                  <a:schemeClr val="accent4"/>
                </a:solidFill>
                <a:latin typeface="Calibri" pitchFamily="34" charset="0"/>
                <a:ea typeface="Calibri" pitchFamily="34" charset="-122"/>
                <a:cs typeface="Calibri" pitchFamily="34" charset="-120"/>
              </a:rPr>
              <a:t>Origin 2</a:t>
            </a:r>
            <a:endParaRPr lang="en-US" sz="1050" dirty="0"/>
          </a:p>
        </p:txBody>
      </p:sp>
      <p:sp>
        <p:nvSpPr>
          <p:cNvPr id="8" name="wftr1"/>
          <p:cNvSpPr/>
          <p:nvPr/>
        </p:nvSpPr>
        <p:spPr>
          <a:xfrm>
            <a:off x="1325880" y="1783080"/>
            <a:ext cx="2743200" cy="228600"/>
          </a:xfrm>
          <a:prstGeom prst="rect">
            <a:avLst/>
          </a:prstGeom>
          <a:solidFill>
            <a:schemeClr val="accent2"/>
          </a:solidFill>
          <a:ln/>
        </p:spPr>
      </p:sp>
      <p:sp>
        <p:nvSpPr>
          <p:cNvPr id="9" name="wfemb1"/>
          <p:cNvSpPr/>
          <p:nvPr/>
        </p:nvSpPr>
        <p:spPr>
          <a:xfrm>
            <a:off x="4069080" y="1783080"/>
            <a:ext cx="457200" cy="228600"/>
          </a:xfrm>
          <a:prstGeom prst="rect">
            <a:avLst/>
          </a:prstGeom>
          <a:solidFill>
            <a:srgbClr val="D9DCE1"/>
          </a:solidFill>
          <a:ln/>
        </p:spPr>
      </p:sp>
      <p:sp>
        <p:nvSpPr>
          <p:cNvPr id="10" name="wfte1"/>
          <p:cNvSpPr/>
          <p:nvPr/>
        </p:nvSpPr>
        <p:spPr>
          <a:xfrm>
            <a:off x="4544568" y="1773936"/>
            <a:ext cx="246888" cy="246888"/>
          </a:xfrm>
          <a:prstGeom prst="ellipse">
            <a:avLst/>
          </a:prstGeom>
          <a:solidFill>
            <a:schemeClr val="accent1"/>
          </a:solidFill>
          <a:ln/>
        </p:spPr>
      </p:sp>
      <p:sp>
        <p:nvSpPr>
          <p:cNvPr id="11" name="Text 9"/>
          <p:cNvSpPr txBox="1"/>
          <p:nvPr/>
        </p:nvSpPr>
        <p:spPr>
          <a:xfrm>
            <a:off x="457200" y="2240280"/>
            <a:ext cx="822960" cy="320040"/>
          </a:xfrm>
          <a:prstGeom prst="rect">
            <a:avLst/>
          </a:prstGeom>
          <a:noFill/>
          <a:ln/>
        </p:spPr>
        <p:txBody>
          <a:bodyPr wrap="square" lIns="0" tIns="0" rIns="0" bIns="0" rtlCol="0" anchor="ctr"/>
          <a:lstStyle/>
          <a:p>
            <a:pPr indent="0" marL="0">
              <a:buNone/>
            </a:pPr>
            <a:r>
              <a:rPr lang="en-US" sz="1050" dirty="0">
                <a:solidFill>
                  <a:schemeClr val="accent4"/>
                </a:solidFill>
                <a:latin typeface="Calibri" pitchFamily="34" charset="0"/>
                <a:ea typeface="Calibri" pitchFamily="34" charset="-122"/>
                <a:cs typeface="Calibri" pitchFamily="34" charset="-120"/>
              </a:rPr>
              <a:t>Origin 3</a:t>
            </a:r>
            <a:endParaRPr lang="en-US" sz="1050" dirty="0"/>
          </a:p>
        </p:txBody>
      </p:sp>
      <p:sp>
        <p:nvSpPr>
          <p:cNvPr id="12" name="wftr2"/>
          <p:cNvSpPr/>
          <p:nvPr/>
        </p:nvSpPr>
        <p:spPr>
          <a:xfrm>
            <a:off x="1325880" y="2286000"/>
            <a:ext cx="3291840" cy="228600"/>
          </a:xfrm>
          <a:prstGeom prst="rect">
            <a:avLst/>
          </a:prstGeom>
          <a:solidFill>
            <a:schemeClr val="accent2"/>
          </a:solidFill>
          <a:ln/>
        </p:spPr>
      </p:sp>
      <p:sp>
        <p:nvSpPr>
          <p:cNvPr id="13" name="wfemb2"/>
          <p:cNvSpPr/>
          <p:nvPr/>
        </p:nvSpPr>
        <p:spPr>
          <a:xfrm>
            <a:off x="4617720" y="2286000"/>
            <a:ext cx="457200" cy="228600"/>
          </a:xfrm>
          <a:prstGeom prst="rect">
            <a:avLst/>
          </a:prstGeom>
          <a:solidFill>
            <a:srgbClr val="D9DCE1"/>
          </a:solidFill>
          <a:ln/>
        </p:spPr>
      </p:sp>
      <p:sp>
        <p:nvSpPr>
          <p:cNvPr id="14" name="wfte2"/>
          <p:cNvSpPr/>
          <p:nvPr/>
        </p:nvSpPr>
        <p:spPr>
          <a:xfrm>
            <a:off x="5093208" y="2276856"/>
            <a:ext cx="246888" cy="246888"/>
          </a:xfrm>
          <a:prstGeom prst="ellipse">
            <a:avLst/>
          </a:prstGeom>
          <a:solidFill>
            <a:schemeClr val="accent1"/>
          </a:solidFill>
          <a:ln/>
        </p:spPr>
      </p:sp>
      <p:sp>
        <p:nvSpPr>
          <p:cNvPr id="15" name="Text 13"/>
          <p:cNvSpPr txBox="1"/>
          <p:nvPr/>
        </p:nvSpPr>
        <p:spPr>
          <a:xfrm>
            <a:off x="457200" y="2788920"/>
            <a:ext cx="5486400" cy="274320"/>
          </a:xfrm>
          <a:prstGeom prst="rect">
            <a:avLst/>
          </a:prstGeom>
          <a:noFill/>
          <a:ln/>
        </p:spPr>
        <p:txBody>
          <a:bodyPr wrap="square" lIns="0" tIns="0" rIns="0" bIns="0" rtlCol="0" anchor="ctr"/>
          <a:lstStyle/>
          <a:p>
            <a:pPr indent="0" marL="0">
              <a:buNone/>
            </a:pPr>
            <a:r>
              <a:rPr lang="en-US" sz="1000" b="1" dirty="0">
                <a:solidFill>
                  <a:schemeClr val="accent2"/>
                </a:solidFill>
                <a:latin typeface="Calibri" pitchFamily="34" charset="0"/>
                <a:ea typeface="Calibri" pitchFamily="34" charset="-122"/>
                <a:cs typeface="Calibri" pitchFamily="34" charset="-120"/>
              </a:rPr>
              <a:t>Train</a:t>
            </a:r>
            <a:pPr indent="0" marL="0">
              <a:buNone/>
            </a:pPr>
            <a:r>
              <a:rPr lang="en-US" sz="1000" dirty="0">
                <a:solidFill>
                  <a:schemeClr val="tx1"/>
                </a:solidFill>
                <a:latin typeface="Calibri" pitchFamily="34" charset="0"/>
                <a:ea typeface="Calibri" pitchFamily="34" charset="-122"/>
                <a:cs typeface="Calibri" pitchFamily="34" charset="-120"/>
              </a:rPr>
              <a:t>  on public outcomes    </a:t>
            </a:r>
            <a:pPr indent="0" marL="0">
              <a:buNone/>
            </a:pPr>
            <a:r>
              <a:rPr lang="en-US" sz="1000" b="1" dirty="0">
                <a:solidFill>
                  <a:schemeClr val="accent4"/>
                </a:solidFill>
                <a:latin typeface="Calibri" pitchFamily="34" charset="0"/>
                <a:ea typeface="Calibri" pitchFamily="34" charset="-122"/>
                <a:cs typeface="Calibri" pitchFamily="34" charset="-120"/>
              </a:rPr>
              <a:t>Gap</a:t>
            </a:r>
            <a:pPr indent="0" marL="0">
              <a:buNone/>
            </a:pPr>
            <a:r>
              <a:rPr lang="en-US" sz="1000" dirty="0">
                <a:solidFill>
                  <a:schemeClr val="tx1"/>
                </a:solidFill>
                <a:latin typeface="Calibri" pitchFamily="34" charset="0"/>
                <a:ea typeface="Calibri" pitchFamily="34" charset="-122"/>
                <a:cs typeface="Calibri" pitchFamily="34" charset="-120"/>
              </a:rPr>
              <a:t>  Nepal labels not yet known    </a:t>
            </a:r>
            <a:pPr indent="0" marL="0">
              <a:buNone/>
            </a:pPr>
            <a:r>
              <a:rPr lang="en-US" sz="1000" b="1" dirty="0">
                <a:solidFill>
                  <a:schemeClr val="accent1"/>
                </a:solidFill>
                <a:latin typeface="Calibri" pitchFamily="34" charset="0"/>
                <a:ea typeface="Calibri" pitchFamily="34" charset="-122"/>
                <a:cs typeface="Calibri" pitchFamily="34" charset="-120"/>
              </a:rPr>
              <a:t>Predict</a:t>
            </a:r>
            <a:pPr indent="0" marL="0">
              <a:buNone/>
            </a:pPr>
            <a:r>
              <a:rPr lang="en-US" sz="1000" dirty="0">
                <a:solidFill>
                  <a:schemeClr val="tx1"/>
                </a:solidFill>
                <a:latin typeface="Calibri" pitchFamily="34" charset="0"/>
                <a:ea typeface="Calibri" pitchFamily="34" charset="-122"/>
                <a:cs typeface="Calibri" pitchFamily="34" charset="-120"/>
              </a:rPr>
              <a:t>  the next one</a:t>
            </a:r>
            <a:endParaRPr lang="en-US" sz="1000" dirty="0"/>
          </a:p>
        </p:txBody>
      </p:sp>
      <p:sp>
        <p:nvSpPr>
          <p:cNvPr id="16" name="t4a"/>
          <p:cNvSpPr/>
          <p:nvPr/>
        </p:nvSpPr>
        <p:spPr>
          <a:xfrm>
            <a:off x="457200" y="3200400"/>
            <a:ext cx="2651760" cy="1463040"/>
          </a:xfrm>
          <a:prstGeom prst="roundRect">
            <a:avLst>
              <a:gd name="adj" fmla="val 5000"/>
            </a:avLst>
          </a:prstGeom>
          <a:solidFill>
            <a:schemeClr val="bg2"/>
          </a:solidFill>
          <a:ln/>
        </p:spPr>
      </p:sp>
      <p:sp>
        <p:nvSpPr>
          <p:cNvPr id="17" name="Text 15"/>
          <p:cNvSpPr txBox="1"/>
          <p:nvPr/>
        </p:nvSpPr>
        <p:spPr>
          <a:xfrm>
            <a:off x="594360" y="3291840"/>
            <a:ext cx="2377440" cy="1298448"/>
          </a:xfrm>
          <a:prstGeom prst="rect">
            <a:avLst/>
          </a:prstGeom>
          <a:noFill/>
          <a:ln/>
        </p:spPr>
        <p:txBody>
          <a:bodyPr wrap="square" lIns="0" tIns="0" rIns="0" bIns="0" rtlCol="0" anchor="t"/>
          <a:lstStyle/>
          <a:p>
            <a:pPr indent="0" marL="0">
              <a:buNone/>
            </a:pPr>
            <a:r>
              <a:rPr lang="en-US" sz="1050" b="1" dirty="0">
                <a:solidFill>
                  <a:schemeClr val="accent2"/>
                </a:solidFill>
                <a:latin typeface="Calibri" pitchFamily="34" charset="0"/>
                <a:ea typeface="Calibri" pitchFamily="34" charset="-122"/>
                <a:cs typeface="Calibri" pitchFamily="34" charset="-120"/>
              </a:rPr>
              <a:t>Expanding window</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India from the 41st decision (January 2010); Nepal after 60 months. Rolling and recency weighted windows were tried for Nepal and did not do better overall.</a:t>
            </a:r>
            <a:endParaRPr lang="en-US" sz="1050" dirty="0"/>
          </a:p>
        </p:txBody>
      </p:sp>
      <p:sp>
        <p:nvSpPr>
          <p:cNvPr id="18" name="t4b"/>
          <p:cNvSpPr/>
          <p:nvPr/>
        </p:nvSpPr>
        <p:spPr>
          <a:xfrm>
            <a:off x="3246120" y="3200400"/>
            <a:ext cx="2651760" cy="1463040"/>
          </a:xfrm>
          <a:prstGeom prst="roundRect">
            <a:avLst>
              <a:gd name="adj" fmla="val 5000"/>
            </a:avLst>
          </a:prstGeom>
          <a:solidFill>
            <a:schemeClr val="bg2"/>
          </a:solidFill>
          <a:ln/>
        </p:spPr>
      </p:sp>
      <p:sp>
        <p:nvSpPr>
          <p:cNvPr id="19" name="Text 17"/>
          <p:cNvSpPr txBox="1"/>
          <p:nvPr/>
        </p:nvSpPr>
        <p:spPr>
          <a:xfrm>
            <a:off x="3383280" y="3291840"/>
            <a:ext cx="2377440" cy="1298448"/>
          </a:xfrm>
          <a:prstGeom prst="rect">
            <a:avLst/>
          </a:prstGeom>
          <a:noFill/>
          <a:ln/>
        </p:spPr>
        <p:txBody>
          <a:bodyPr wrap="square" lIns="0" tIns="0" rIns="0" bIns="0" rtlCol="0" anchor="t"/>
          <a:lstStyle/>
          <a:p>
            <a:pPr indent="0" marL="0">
              <a:buNone/>
            </a:pPr>
            <a:r>
              <a:rPr lang="en-US" sz="1050" b="1" dirty="0">
                <a:solidFill>
                  <a:schemeClr val="accent2"/>
                </a:solidFill>
                <a:latin typeface="Calibri" pitchFamily="34" charset="0"/>
                <a:ea typeface="Calibri" pitchFamily="34" charset="-122"/>
                <a:cs typeface="Calibri" pitchFamily="34" charset="-120"/>
              </a:rPr>
              <a:t>Refit every time</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Scaling, coefficients and the calendar effect are estimated inside each window only, so no future mean leaks in.</a:t>
            </a:r>
            <a:endParaRPr lang="en-US" sz="1050" dirty="0"/>
          </a:p>
        </p:txBody>
      </p:sp>
      <p:sp>
        <p:nvSpPr>
          <p:cNvPr id="20" name="t4c"/>
          <p:cNvSpPr/>
          <p:nvPr/>
        </p:nvSpPr>
        <p:spPr>
          <a:xfrm>
            <a:off x="6035040" y="3200400"/>
            <a:ext cx="2651760" cy="1463040"/>
          </a:xfrm>
          <a:prstGeom prst="roundRect">
            <a:avLst>
              <a:gd name="adj" fmla="val 5000"/>
            </a:avLst>
          </a:prstGeom>
          <a:solidFill>
            <a:schemeClr val="bg2"/>
          </a:solidFill>
          <a:ln/>
        </p:spPr>
      </p:sp>
      <p:sp>
        <p:nvSpPr>
          <p:cNvPr id="21" name="Text 19"/>
          <p:cNvSpPr txBox="1"/>
          <p:nvPr/>
        </p:nvSpPr>
        <p:spPr>
          <a:xfrm>
            <a:off x="6172200" y="3291840"/>
            <a:ext cx="2377440" cy="1298448"/>
          </a:xfrm>
          <a:prstGeom prst="rect">
            <a:avLst/>
          </a:prstGeom>
          <a:noFill/>
          <a:ln/>
        </p:spPr>
        <p:txBody>
          <a:bodyPr wrap="square" lIns="0" tIns="0" rIns="0" bIns="0" rtlCol="0" anchor="t"/>
          <a:lstStyle/>
          <a:p>
            <a:pPr indent="0" marL="0">
              <a:buNone/>
            </a:pPr>
            <a:r>
              <a:rPr lang="en-US" sz="1050" b="1" dirty="0">
                <a:solidFill>
                  <a:schemeClr val="accent2"/>
                </a:solidFill>
                <a:latin typeface="Calibri" pitchFamily="34" charset="0"/>
                <a:ea typeface="Calibri" pitchFamily="34" charset="-122"/>
                <a:cs typeface="Calibri" pitchFamily="34" charset="-120"/>
              </a:rPr>
              <a:t>Tuning without peeking</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Penalty strength picked by an inner walk forward on the last 15 training decisions, choosing the simplest within one standard error.</a:t>
            </a:r>
            <a:endParaRPr lang="en-US" sz="1050" dirty="0"/>
          </a:p>
        </p:txBody>
      </p:sp>
      <p:sp>
        <p:nvSpPr>
          <p:cNvPr id="22" name="t4d"/>
          <p:cNvSpPr/>
          <p:nvPr/>
        </p:nvSpPr>
        <p:spPr>
          <a:xfrm>
            <a:off x="6035040" y="1143000"/>
            <a:ext cx="2651760" cy="1783080"/>
          </a:xfrm>
          <a:prstGeom prst="roundRect">
            <a:avLst>
              <a:gd name="adj" fmla="val 4103"/>
            </a:avLst>
          </a:prstGeom>
          <a:solidFill>
            <a:schemeClr val="bg2"/>
          </a:solidFill>
          <a:ln/>
        </p:spPr>
      </p:sp>
      <p:sp>
        <p:nvSpPr>
          <p:cNvPr id="23" name="Text 21"/>
          <p:cNvSpPr txBox="1"/>
          <p:nvPr/>
        </p:nvSpPr>
        <p:spPr>
          <a:xfrm>
            <a:off x="6172200" y="1234440"/>
            <a:ext cx="2377440" cy="1618488"/>
          </a:xfrm>
          <a:prstGeom prst="rect">
            <a:avLst/>
          </a:prstGeom>
          <a:noFill/>
          <a:ln/>
        </p:spPr>
        <p:txBody>
          <a:bodyPr wrap="square" lIns="0" tIns="0" rIns="0" bIns="0" rtlCol="0" anchor="t"/>
          <a:lstStyle/>
          <a:p>
            <a:pPr indent="0" marL="0">
              <a:buNone/>
            </a:pPr>
            <a:r>
              <a:rPr lang="en-US" sz="1050" b="1" dirty="0">
                <a:solidFill>
                  <a:schemeClr val="accent4"/>
                </a:solidFill>
                <a:latin typeface="Calibri" pitchFamily="34" charset="0"/>
                <a:ea typeface="Calibri" pitchFamily="34" charset="-122"/>
                <a:cs typeface="Calibri" pitchFamily="34" charset="-120"/>
              </a:rPr>
              <a:t>Benchmarks, same rules</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Majority class, persistence (repeat the last decision) and simple rules are scored on exactly the same origins.</a:t>
            </a:r>
            <a:endParaRPr lang="en-US" sz="1050" dirty="0"/>
          </a:p>
        </p:txBody>
      </p:sp>
      <p:sp>
        <p:nvSpPr>
          <p:cNvPr id="24" name="Text 22"/>
          <p:cNvSpPr txBox="1"/>
          <p:nvPr/>
        </p:nvSpPr>
        <p:spPr>
          <a:xfrm>
            <a:off x="5029200" y="4800600"/>
            <a:ext cx="3108960" cy="228600"/>
          </a:xfrm>
          <a:prstGeom prst="rect">
            <a:avLst/>
          </a:prstGeom>
          <a:noFill/>
          <a:ln/>
        </p:spPr>
        <p:txBody>
          <a:bodyPr wrap="square" lIns="0" tIns="0" rIns="0" bIns="0" rtlCol="0" anchor="ctr"/>
          <a:lstStyle/>
          <a:p>
            <a:pPr algn="r" indent="0" marL="0">
              <a:buNone/>
            </a:pPr>
            <a:r>
              <a:rPr lang="en-US" sz="900" i="1" dirty="0">
                <a:solidFill>
                  <a:schemeClr val="accent4"/>
                </a:solidFill>
                <a:latin typeface="Calibri" pitchFamily="34" charset="0"/>
                <a:ea typeface="Calibri" pitchFamily="34" charset="-122"/>
                <a:cs typeface="Calibri" pitchFamily="34" charset="-120"/>
              </a:rPr>
              <a:t>Dashboard page: Models</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Step 5: three generations of the India model</a:t>
            </a:r>
            <a:endParaRPr lang="en-US" sz="2600" dirty="0"/>
          </a:p>
        </p:txBody>
      </p:sp>
      <p:graphicFrame>
        <p:nvGraphicFramePr>
          <p:cNvPr id="3" name="Chart 0" descr=""/>
          <p:cNvGraphicFramePr/>
          <p:nvPr/>
        </p:nvGraphicFramePr>
        <p:xfrm>
          <a:off x="365760" y="1005840"/>
          <a:ext cx="5120640" cy="3611880"/>
        </p:xfrm>
        <a:graphic xmlns:a="http://schemas.openxmlformats.org/drawingml/2006/main">
          <a:graphicData uri="http://schemas.openxmlformats.org/drawingml/2006/chart">
            <c:chart xmlns:c="http://schemas.openxmlformats.org/drawingml/2006/chart" r:id="rId1"/>
          </a:graphicData>
        </a:graphic>
      </p:graphicFrame>
      <p:sp>
        <p:nvSpPr>
          <p:cNvPr id="4" name="t5a"/>
          <p:cNvSpPr/>
          <p:nvPr/>
        </p:nvSpPr>
        <p:spPr>
          <a:xfrm>
            <a:off x="5760720" y="1097280"/>
            <a:ext cx="2926080" cy="1097280"/>
          </a:xfrm>
          <a:prstGeom prst="roundRect">
            <a:avLst>
              <a:gd name="adj" fmla="val 6667"/>
            </a:avLst>
          </a:prstGeom>
          <a:solidFill>
            <a:schemeClr val="bg2"/>
          </a:solidFill>
          <a:ln/>
        </p:spPr>
      </p:sp>
      <p:sp>
        <p:nvSpPr>
          <p:cNvPr id="5" name="Text 2"/>
          <p:cNvSpPr txBox="1"/>
          <p:nvPr/>
        </p:nvSpPr>
        <p:spPr>
          <a:xfrm>
            <a:off x="5897880" y="1188720"/>
            <a:ext cx="2651760" cy="932688"/>
          </a:xfrm>
          <a:prstGeom prst="rect">
            <a:avLst/>
          </a:prstGeom>
          <a:noFill/>
          <a:ln/>
        </p:spPr>
        <p:txBody>
          <a:bodyPr wrap="square" lIns="0" tIns="0" rIns="0" bIns="0" rtlCol="0" anchor="t"/>
          <a:lstStyle/>
          <a:p>
            <a:pPr indent="0" marL="0">
              <a:buNone/>
            </a:pPr>
            <a:r>
              <a:rPr lang="en-US" sz="1050" b="1" dirty="0">
                <a:solidFill>
                  <a:schemeClr val="accent4"/>
                </a:solidFill>
                <a:latin typeface="Calibri" pitchFamily="34" charset="0"/>
                <a:ea typeface="Calibri" pitchFamily="34" charset="-122"/>
                <a:cs typeface="Calibri" pitchFamily="34" charset="-120"/>
              </a:rPr>
              <a:t>Gen 1: realized data</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Inflation and growth as published. Complex versions overfitted, which led us to the RBI's own forecasts.</a:t>
            </a:r>
            <a:endParaRPr lang="en-US" sz="1050" dirty="0"/>
          </a:p>
        </p:txBody>
      </p:sp>
      <p:sp>
        <p:nvSpPr>
          <p:cNvPr id="6" name="t5b"/>
          <p:cNvSpPr/>
          <p:nvPr/>
        </p:nvSpPr>
        <p:spPr>
          <a:xfrm>
            <a:off x="5760720" y="2286000"/>
            <a:ext cx="2926080" cy="1097280"/>
          </a:xfrm>
          <a:prstGeom prst="roundRect">
            <a:avLst>
              <a:gd name="adj" fmla="val 6667"/>
            </a:avLst>
          </a:prstGeom>
          <a:solidFill>
            <a:schemeClr val="bg2"/>
          </a:solidFill>
          <a:ln/>
        </p:spPr>
      </p:sp>
      <p:sp>
        <p:nvSpPr>
          <p:cNvPr id="7" name="Text 4"/>
          <p:cNvSpPr txBox="1"/>
          <p:nvPr/>
        </p:nvSpPr>
        <p:spPr>
          <a:xfrm>
            <a:off x="5897880" y="2377440"/>
            <a:ext cx="2651760" cy="932688"/>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Gen 2: the RBI's own forecast</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Adding its inflation projection and its revision: the RBI reacts to news in its forecast.</a:t>
            </a:r>
            <a:endParaRPr lang="en-US" sz="1050" dirty="0"/>
          </a:p>
        </p:txBody>
      </p:sp>
      <p:sp>
        <p:nvSpPr>
          <p:cNvPr id="8" name="t5c"/>
          <p:cNvSpPr/>
          <p:nvPr/>
        </p:nvSpPr>
        <p:spPr>
          <a:xfrm>
            <a:off x="5760720" y="3474720"/>
            <a:ext cx="2926080" cy="1143000"/>
          </a:xfrm>
          <a:prstGeom prst="roundRect">
            <a:avLst>
              <a:gd name="adj" fmla="val 6400"/>
            </a:avLst>
          </a:prstGeom>
          <a:solidFill>
            <a:schemeClr val="bg2"/>
          </a:solidFill>
          <a:ln/>
        </p:spPr>
      </p:sp>
      <p:sp>
        <p:nvSpPr>
          <p:cNvPr id="9" name="Text 6"/>
          <p:cNvSpPr txBox="1"/>
          <p:nvPr/>
        </p:nvSpPr>
        <p:spPr>
          <a:xfrm>
            <a:off x="5897880" y="3566160"/>
            <a:ext cx="2651760" cy="978408"/>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Gen 3: distance to the anchor</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Inflation measured against the anchor of each regime. Six inputs. Chosen as the primary model.</a:t>
            </a:r>
            <a:endParaRPr lang="en-US" sz="1050" dirty="0"/>
          </a:p>
        </p:txBody>
      </p:sp>
      <p:sp>
        <p:nvSpPr>
          <p:cNvPr id="10" name="Text 7"/>
          <p:cNvSpPr txBox="1"/>
          <p:nvPr/>
        </p:nvSpPr>
        <p:spPr>
          <a:xfrm>
            <a:off x="5029200" y="4800600"/>
            <a:ext cx="3108960" cy="228600"/>
          </a:xfrm>
          <a:prstGeom prst="rect">
            <a:avLst/>
          </a:prstGeom>
          <a:noFill/>
          <a:ln/>
        </p:spPr>
        <p:txBody>
          <a:bodyPr wrap="square" lIns="0" tIns="0" rIns="0" bIns="0" rtlCol="0" anchor="ctr"/>
          <a:lstStyle/>
          <a:p>
            <a:pPr algn="r" indent="0" marL="0">
              <a:buNone/>
            </a:pPr>
            <a:r>
              <a:rPr lang="en-US" sz="900" i="1" dirty="0">
                <a:solidFill>
                  <a:schemeClr val="accent4"/>
                </a:solidFill>
                <a:latin typeface="Calibri" pitchFamily="34" charset="0"/>
                <a:ea typeface="Calibri" pitchFamily="34" charset="-122"/>
                <a:cs typeface="Calibri" pitchFamily="34" charset="-120"/>
              </a:rPr>
              <a:t>Dashboard page: Models</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Step 6: is the skill real, and is it stable?</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737360"/>
                <a:gridCol w="3017520"/>
                <a:gridCol w="3474720"/>
              </a:tblGrid>
              <a:tr h="438912">
                <a:tc>
                  <a:txBody>
                    <a:bodyPr/>
                    <a:lstStyle/>
                    <a:p>
                      <a:pPr algn="ctr" indent="0" marL="0">
                        <a:buNone/>
                      </a:pPr>
                      <a:r>
                        <a:rPr lang="en-US" sz="1050" b="1" dirty="0">
                          <a:solidFill>
                            <a:schemeClr val="bg1"/>
                          </a:solidFill>
                          <a:latin typeface="Calibri" pitchFamily="34" charset="0"/>
                          <a:ea typeface="Calibri" pitchFamily="34" charset="-122"/>
                          <a:cs typeface="Calibri" pitchFamily="34" charset="-120"/>
                        </a:rPr>
                        <a:t>Check</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Calibri" pitchFamily="34" charset="0"/>
                          <a:ea typeface="Calibri" pitchFamily="34" charset="-122"/>
                          <a:cs typeface="Calibri" pitchFamily="34" charset="-120"/>
                        </a:rPr>
                        <a:t>Question it answers</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r>
              <a:tr h="438912">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Permutation test</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Could shuffled history score as well?</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Generation 2: 0.59 against 0.47 for the top 5 percent of 96 shifts; p 0.01</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438912">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Coefficient stability</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Does each effect keep its sign as the window grows?</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All 6 India inputs in at least 81 percent of 75 windows; all 8 Nepal inputs in at least 82 percent of 157</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438912">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Accuracy by period</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Is the gain spread over time, not one lucky spell?</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India beats persistence in 3 of 4 three year blocks; Nepal in 3 of 5</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438912">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Benchmarks</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Does it beat simple rules on unseen years?</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Balanced accuracy 0.69, against 0.55 for persistence and 0.33 for chance</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438912">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Ablations</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Do news, geopolitical or election indices help?</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None improved the model; all rejected</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438912">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Replication</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Does a rebuild from raw files give the same output?</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Identical file hashes</a:t>
                      </a:r>
                      <a:endParaRPr lang="en-US" sz="105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bl>
          </a:graphicData>
        </a:graphic>
      </p:graphicFrame>
      <p:sp>
        <p:nvSpPr>
          <p:cNvPr id="4" name="Text 1"/>
          <p:cNvSpPr txBox="1"/>
          <p:nvPr/>
        </p:nvSpPr>
        <p:spPr>
          <a:xfrm>
            <a:off x="5029200" y="4800600"/>
            <a:ext cx="3108960" cy="228600"/>
          </a:xfrm>
          <a:prstGeom prst="rect">
            <a:avLst/>
          </a:prstGeom>
          <a:noFill/>
          <a:ln/>
        </p:spPr>
        <p:txBody>
          <a:bodyPr wrap="square" lIns="0" tIns="0" rIns="0" bIns="0" rtlCol="0" anchor="ctr"/>
          <a:lstStyle/>
          <a:p>
            <a:pPr algn="r" indent="0" marL="0">
              <a:buNone/>
            </a:pPr>
            <a:r>
              <a:rPr lang="en-US" sz="900" i="1" dirty="0">
                <a:solidFill>
                  <a:schemeClr val="accent4"/>
                </a:solidFill>
                <a:latin typeface="Calibri" pitchFamily="34" charset="0"/>
                <a:ea typeface="Calibri" pitchFamily="34" charset="-122"/>
                <a:cs typeface="Calibri" pitchFamily="34" charset="-120"/>
              </a:rPr>
              <a:t>Dashboard page: Models, stability and replication</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Step 7: freeze, then test once on unseen years</a:t>
            </a:r>
            <a:endParaRPr lang="en-US" sz="2600" dirty="0"/>
          </a:p>
        </p:txBody>
      </p:sp>
      <p:sp>
        <p:nvSpPr>
          <p:cNvPr id="3" name="fz0"/>
          <p:cNvSpPr/>
          <p:nvPr/>
        </p:nvSpPr>
        <p:spPr>
          <a:xfrm>
            <a:off x="457200" y="1188720"/>
            <a:ext cx="1920240" cy="2514600"/>
          </a:xfrm>
          <a:prstGeom prst="roundRect">
            <a:avLst>
              <a:gd name="adj" fmla="val 3810"/>
            </a:avLst>
          </a:prstGeom>
          <a:solidFill>
            <a:schemeClr val="bg2"/>
          </a:solidFill>
          <a:ln/>
        </p:spPr>
      </p:sp>
      <p:sp>
        <p:nvSpPr>
          <p:cNvPr id="4" name="fzd0"/>
          <p:cNvSpPr/>
          <p:nvPr/>
        </p:nvSpPr>
        <p:spPr>
          <a:xfrm>
            <a:off x="594360" y="1325880"/>
            <a:ext cx="384048" cy="384048"/>
          </a:xfrm>
          <a:prstGeom prst="ellipse">
            <a:avLst/>
          </a:prstGeom>
          <a:solidFill>
            <a:schemeClr val="tx2"/>
          </a:solidFill>
          <a:ln/>
        </p:spPr>
      </p:sp>
      <p:sp>
        <p:nvSpPr>
          <p:cNvPr id="5" name="Text 3"/>
          <p:cNvSpPr txBox="1"/>
          <p:nvPr/>
        </p:nvSpPr>
        <p:spPr>
          <a:xfrm>
            <a:off x="594360" y="1325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594360" y="1783080"/>
            <a:ext cx="1645920" cy="36576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Freeze</a:t>
            </a:r>
            <a:endParaRPr lang="en-US" sz="1400" dirty="0"/>
          </a:p>
        </p:txBody>
      </p:sp>
      <p:sp>
        <p:nvSpPr>
          <p:cNvPr id="7" name="Text 5"/>
          <p:cNvSpPr txBox="1"/>
          <p:nvPr/>
        </p:nvSpPr>
        <p:spPr>
          <a:xfrm>
            <a:off x="594360" y="2148840"/>
            <a:ext cx="1645920" cy="150876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Models, inputs and benchmarks written into a configuration and hashed with SHA256. The scoring script refuses to run if the hash changes.</a:t>
            </a:r>
            <a:endParaRPr lang="en-US" sz="1050" dirty="0"/>
          </a:p>
        </p:txBody>
      </p:sp>
      <p:sp>
        <p:nvSpPr>
          <p:cNvPr id="8" name="fza0"/>
          <p:cNvSpPr/>
          <p:nvPr/>
        </p:nvSpPr>
        <p:spPr>
          <a:xfrm>
            <a:off x="2404872" y="2331720"/>
            <a:ext cx="128016" cy="274320"/>
          </a:xfrm>
          <a:prstGeom prst="chevron">
            <a:avLst/>
          </a:prstGeom>
          <a:solidFill>
            <a:schemeClr val="accent4"/>
          </a:solidFill>
          <a:ln/>
        </p:spPr>
      </p:sp>
      <p:sp>
        <p:nvSpPr>
          <p:cNvPr id="9" name="fz1"/>
          <p:cNvSpPr/>
          <p:nvPr/>
        </p:nvSpPr>
        <p:spPr>
          <a:xfrm>
            <a:off x="2560320" y="1188720"/>
            <a:ext cx="1920240" cy="2514600"/>
          </a:xfrm>
          <a:prstGeom prst="roundRect">
            <a:avLst>
              <a:gd name="adj" fmla="val 3810"/>
            </a:avLst>
          </a:prstGeom>
          <a:solidFill>
            <a:schemeClr val="bg2"/>
          </a:solidFill>
          <a:ln/>
        </p:spPr>
      </p:sp>
      <p:sp>
        <p:nvSpPr>
          <p:cNvPr id="10" name="fzd1"/>
          <p:cNvSpPr/>
          <p:nvPr/>
        </p:nvSpPr>
        <p:spPr>
          <a:xfrm>
            <a:off x="2697480" y="1325880"/>
            <a:ext cx="384048" cy="384048"/>
          </a:xfrm>
          <a:prstGeom prst="ellipse">
            <a:avLst/>
          </a:prstGeom>
          <a:solidFill>
            <a:schemeClr val="accent1"/>
          </a:solidFill>
          <a:ln/>
        </p:spPr>
      </p:sp>
      <p:sp>
        <p:nvSpPr>
          <p:cNvPr id="11" name="Text 9"/>
          <p:cNvSpPr txBox="1"/>
          <p:nvPr/>
        </p:nvSpPr>
        <p:spPr>
          <a:xfrm>
            <a:off x="2697480" y="1325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2697480" y="1783080"/>
            <a:ext cx="1645920" cy="36576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Blind test</a:t>
            </a:r>
            <a:endParaRPr lang="en-US" sz="1400" dirty="0"/>
          </a:p>
        </p:txBody>
      </p:sp>
      <p:sp>
        <p:nvSpPr>
          <p:cNvPr id="13" name="Text 11"/>
          <p:cNvSpPr txBox="1"/>
          <p:nvPr/>
        </p:nvSpPr>
        <p:spPr>
          <a:xfrm>
            <a:off x="2697480" y="2148840"/>
            <a:ext cx="1645920" cy="150876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Scored once on November 2021 to October 2026: 31 RBI decisions and 57 Nepal months, still refitting at each origin on outcomes public by then.</a:t>
            </a:r>
            <a:endParaRPr lang="en-US" sz="1050" dirty="0"/>
          </a:p>
        </p:txBody>
      </p:sp>
      <p:sp>
        <p:nvSpPr>
          <p:cNvPr id="14" name="fza1"/>
          <p:cNvSpPr/>
          <p:nvPr/>
        </p:nvSpPr>
        <p:spPr>
          <a:xfrm>
            <a:off x="4507992" y="2331720"/>
            <a:ext cx="128016" cy="274320"/>
          </a:xfrm>
          <a:prstGeom prst="chevron">
            <a:avLst/>
          </a:prstGeom>
          <a:solidFill>
            <a:schemeClr val="accent4"/>
          </a:solidFill>
          <a:ln/>
        </p:spPr>
      </p:sp>
      <p:sp>
        <p:nvSpPr>
          <p:cNvPr id="15" name="fz2"/>
          <p:cNvSpPr/>
          <p:nvPr/>
        </p:nvSpPr>
        <p:spPr>
          <a:xfrm>
            <a:off x="4663440" y="1188720"/>
            <a:ext cx="1920240" cy="2514600"/>
          </a:xfrm>
          <a:prstGeom prst="roundRect">
            <a:avLst>
              <a:gd name="adj" fmla="val 3810"/>
            </a:avLst>
          </a:prstGeom>
          <a:solidFill>
            <a:schemeClr val="bg2"/>
          </a:solidFill>
          <a:ln/>
        </p:spPr>
      </p:sp>
      <p:sp>
        <p:nvSpPr>
          <p:cNvPr id="16" name="fzd2"/>
          <p:cNvSpPr/>
          <p:nvPr/>
        </p:nvSpPr>
        <p:spPr>
          <a:xfrm>
            <a:off x="4800600" y="1325880"/>
            <a:ext cx="384048" cy="384048"/>
          </a:xfrm>
          <a:prstGeom prst="ellipse">
            <a:avLst/>
          </a:prstGeom>
          <a:solidFill>
            <a:schemeClr val="accent2"/>
          </a:solidFill>
          <a:ln/>
        </p:spPr>
      </p:sp>
      <p:sp>
        <p:nvSpPr>
          <p:cNvPr id="17" name="Text 15"/>
          <p:cNvSpPr txBox="1"/>
          <p:nvPr/>
        </p:nvSpPr>
        <p:spPr>
          <a:xfrm>
            <a:off x="4800600" y="1325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4800600" y="1783080"/>
            <a:ext cx="1645920" cy="36576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Seal</a:t>
            </a:r>
            <a:endParaRPr lang="en-US" sz="1400" dirty="0"/>
          </a:p>
        </p:txBody>
      </p:sp>
      <p:sp>
        <p:nvSpPr>
          <p:cNvPr id="19" name="Text 17"/>
          <p:cNvSpPr txBox="1"/>
          <p:nvPr/>
        </p:nvSpPr>
        <p:spPr>
          <a:xfrm>
            <a:off x="4800600" y="2148840"/>
            <a:ext cx="1645920" cy="150876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Nepal forecasts whose outcomes are not yet public are stored now and scored when the NRB publishes.</a:t>
            </a:r>
            <a:endParaRPr lang="en-US" sz="1050" dirty="0"/>
          </a:p>
        </p:txBody>
      </p:sp>
      <p:sp>
        <p:nvSpPr>
          <p:cNvPr id="20" name="fza2"/>
          <p:cNvSpPr/>
          <p:nvPr/>
        </p:nvSpPr>
        <p:spPr>
          <a:xfrm>
            <a:off x="6611112" y="2331720"/>
            <a:ext cx="128016" cy="274320"/>
          </a:xfrm>
          <a:prstGeom prst="chevron">
            <a:avLst/>
          </a:prstGeom>
          <a:solidFill>
            <a:schemeClr val="accent4"/>
          </a:solidFill>
          <a:ln/>
        </p:spPr>
      </p:sp>
      <p:sp>
        <p:nvSpPr>
          <p:cNvPr id="21" name="fz3"/>
          <p:cNvSpPr/>
          <p:nvPr/>
        </p:nvSpPr>
        <p:spPr>
          <a:xfrm>
            <a:off x="6766560" y="1188720"/>
            <a:ext cx="1920240" cy="2514600"/>
          </a:xfrm>
          <a:prstGeom prst="roundRect">
            <a:avLst>
              <a:gd name="adj" fmla="val 3810"/>
            </a:avLst>
          </a:prstGeom>
          <a:solidFill>
            <a:schemeClr val="bg2"/>
          </a:solidFill>
          <a:ln/>
        </p:spPr>
      </p:sp>
      <p:sp>
        <p:nvSpPr>
          <p:cNvPr id="22" name="fzd3"/>
          <p:cNvSpPr/>
          <p:nvPr/>
        </p:nvSpPr>
        <p:spPr>
          <a:xfrm>
            <a:off x="6903720" y="1325880"/>
            <a:ext cx="384048" cy="384048"/>
          </a:xfrm>
          <a:prstGeom prst="ellipse">
            <a:avLst/>
          </a:prstGeom>
          <a:solidFill>
            <a:schemeClr val="accent3"/>
          </a:solidFill>
          <a:ln/>
        </p:spPr>
      </p:sp>
      <p:sp>
        <p:nvSpPr>
          <p:cNvPr id="23" name="Text 21"/>
          <p:cNvSpPr txBox="1"/>
          <p:nvPr/>
        </p:nvSpPr>
        <p:spPr>
          <a:xfrm>
            <a:off x="6903720" y="1325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6903720" y="1783080"/>
            <a:ext cx="1645920" cy="36576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Use</a:t>
            </a:r>
            <a:endParaRPr lang="en-US" sz="1400" dirty="0"/>
          </a:p>
        </p:txBody>
      </p:sp>
      <p:sp>
        <p:nvSpPr>
          <p:cNvPr id="25" name="Text 23"/>
          <p:cNvSpPr txBox="1"/>
          <p:nvPr/>
        </p:nvSpPr>
        <p:spPr>
          <a:xfrm>
            <a:off x="6903720" y="2148840"/>
            <a:ext cx="1645920" cy="150876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For the outlook the same model is refitted on all 146 decisions, with nothing added.</a:t>
            </a:r>
            <a:endParaRPr lang="en-US" sz="1050" dirty="0"/>
          </a:p>
        </p:txBody>
      </p:sp>
      <p:sp>
        <p:nvSpPr>
          <p:cNvPr id="26" name="Text 24"/>
          <p:cNvSpPr txBox="1"/>
          <p:nvPr/>
        </p:nvSpPr>
        <p:spPr>
          <a:xfrm>
            <a:off x="457200" y="3931920"/>
            <a:ext cx="8229600" cy="548640"/>
          </a:xfrm>
          <a:prstGeom prst="rect">
            <a:avLst/>
          </a:prstGeom>
          <a:noFill/>
          <a:ln/>
        </p:spPr>
        <p:txBody>
          <a:bodyPr wrap="square" lIns="0" tIns="0" rIns="0" bIns="0" rtlCol="0" anchor="ctr"/>
          <a:lstStyle/>
          <a:p>
            <a:pPr indent="0" marL="0">
              <a:buNone/>
            </a:pPr>
            <a:r>
              <a:rPr lang="en-US" sz="1300" i="1" dirty="0">
                <a:solidFill>
                  <a:schemeClr val="tx2"/>
                </a:solidFill>
                <a:latin typeface="Calibri" pitchFamily="34" charset="0"/>
                <a:ea typeface="Calibri" pitchFamily="34" charset="-122"/>
                <a:cs typeface="Calibri" pitchFamily="34" charset="-120"/>
              </a:rPr>
              <a:t>Result: India 0.69 balanced accuracy on the blind years, against 0.55 for persistence.</a:t>
            </a:r>
            <a:endParaRPr lang="en-US" sz="1300" dirty="0"/>
          </a:p>
        </p:txBody>
      </p:sp>
      <p:sp>
        <p:nvSpPr>
          <p:cNvPr id="27" name="Text 25"/>
          <p:cNvSpPr txBox="1"/>
          <p:nvPr/>
        </p:nvSpPr>
        <p:spPr>
          <a:xfrm>
            <a:off x="5029200" y="4800600"/>
            <a:ext cx="3108960" cy="228600"/>
          </a:xfrm>
          <a:prstGeom prst="rect">
            <a:avLst/>
          </a:prstGeom>
          <a:noFill/>
          <a:ln/>
        </p:spPr>
        <p:txBody>
          <a:bodyPr wrap="square" lIns="0" tIns="0" rIns="0" bIns="0" rtlCol="0" anchor="ctr"/>
          <a:lstStyle/>
          <a:p>
            <a:pPr algn="r" indent="0" marL="0">
              <a:buNone/>
            </a:pPr>
            <a:r>
              <a:rPr lang="en-US" sz="900" i="1" dirty="0">
                <a:solidFill>
                  <a:schemeClr val="accent4"/>
                </a:solidFill>
                <a:latin typeface="Calibri" pitchFamily="34" charset="0"/>
                <a:ea typeface="Calibri" pitchFamily="34" charset="-122"/>
                <a:cs typeface="Calibri" pitchFamily="34" charset="-120"/>
              </a:rPr>
              <a:t>Dashboard page: Blind backtest</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India's rate cycles since 2001</a:t>
            </a:r>
            <a:endParaRPr lang="en-US" sz="2600" dirty="0"/>
          </a:p>
        </p:txBody>
      </p:sp>
      <p:graphicFrame>
        <p:nvGraphicFramePr>
          <p:cNvPr id="3" name="Chart 0" descr=""/>
          <p:cNvGraphicFramePr/>
          <p:nvPr/>
        </p:nvGraphicFramePr>
        <p:xfrm>
          <a:off x="365760" y="1005840"/>
          <a:ext cx="502920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23560" y="1097280"/>
          <a:ext cx="3063240" cy="914400"/>
        </p:xfrm>
        <a:graphic>
          <a:graphicData uri="http://schemas.openxmlformats.org/drawingml/2006/table">
            <a:tbl>
              <a:tblPr/>
              <a:tblGrid>
                <a:gridCol w="1325880"/>
                <a:gridCol w="822960"/>
                <a:gridCol w="914400"/>
              </a:tblGrid>
              <a:tr h="265176">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Hiking cycle</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Hikes</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r>
              <a:tr h="265176">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2005 to 2008</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300 bp</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2010 to 2011</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375 bp</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2013 to 2014</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75 bp</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2018</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50 bp</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2022 to 2023</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250 bp</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1100" b="1" dirty="0">
                          <a:solidFill>
                            <a:schemeClr val="accent1"/>
                          </a:solidFill>
                          <a:latin typeface="Calibri" pitchFamily="34" charset="0"/>
                          <a:ea typeface="Calibri" pitchFamily="34" charset="-122"/>
                          <a:cs typeface="Calibri" pitchFamily="34" charset="-120"/>
                        </a:rPr>
                        <a:t>2026, open</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100" b="1" dirty="0">
                          <a:solidFill>
                            <a:schemeClr val="accent1"/>
                          </a:solidFill>
                          <a:latin typeface="Calibri" pitchFamily="34" charset="0"/>
                          <a:ea typeface="Calibri" pitchFamily="34" charset="-122"/>
                          <a:cs typeface="Calibri" pitchFamily="34" charset="-120"/>
                        </a:rPr>
                        <a:t>1 so far</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100" b="1" dirty="0">
                          <a:solidFill>
                            <a:schemeClr val="accent1"/>
                          </a:solidFill>
                          <a:latin typeface="Calibri" pitchFamily="34" charset="0"/>
                          <a:ea typeface="Calibri" pitchFamily="34" charset="-122"/>
                          <a:cs typeface="Calibri" pitchFamily="34" charset="-120"/>
                        </a:rPr>
                        <a:t>25 bp</a:t>
                      </a:r>
                      <a:endParaRPr lang="en-US" sz="11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bl>
          </a:graphicData>
        </a:graphic>
      </p:graphicFrame>
      <p:sp>
        <p:nvSpPr>
          <p:cNvPr id="5" name="Text 1"/>
          <p:cNvSpPr txBox="1"/>
          <p:nvPr/>
        </p:nvSpPr>
        <p:spPr>
          <a:xfrm>
            <a:off x="5623560" y="3108960"/>
            <a:ext cx="3063240" cy="14630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Long cycles (2005, 2010, 2022) answered broad inflation and strong demand. Short ones (2013, 2018) answered the rupee and oil. Today's trigger is oil and a weak rupee.</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What the RBI reacts to</a:t>
            </a:r>
            <a:endParaRPr lang="en-US" sz="2600" dirty="0"/>
          </a:p>
        </p:txBody>
      </p:sp>
      <p:graphicFrame>
        <p:nvGraphicFramePr>
          <p:cNvPr id="3" name="Chart 0" descr=""/>
          <p:cNvGraphicFramePr/>
          <p:nvPr/>
        </p:nvGraphicFramePr>
        <p:xfrm>
          <a:off x="365760" y="1051560"/>
          <a:ext cx="5394960" cy="3566160"/>
        </p:xfrm>
        <a:graphic xmlns:a="http://schemas.openxmlformats.org/drawingml/2006/main">
          <a:graphicData uri="http://schemas.openxmlformats.org/drawingml/2006/chart">
            <c:chart xmlns:c="http://schemas.openxmlformats.org/drawingml/2006/chart" r:id="rId1"/>
          </a:graphicData>
        </a:graphic>
      </p:graphicFrame>
      <p:sp>
        <p:nvSpPr>
          <p:cNvPr id="4" name="india-read"/>
          <p:cNvSpPr/>
          <p:nvPr/>
        </p:nvSpPr>
        <p:spPr>
          <a:xfrm>
            <a:off x="6035040" y="1143000"/>
            <a:ext cx="2651760" cy="3383280"/>
          </a:xfrm>
          <a:prstGeom prst="roundRect">
            <a:avLst>
              <a:gd name="adj" fmla="val 2759"/>
            </a:avLst>
          </a:prstGeom>
          <a:solidFill>
            <a:schemeClr val="bg2"/>
          </a:solidFill>
          <a:ln/>
        </p:spPr>
      </p:sp>
      <p:sp>
        <p:nvSpPr>
          <p:cNvPr id="5" name="Text 2"/>
          <p:cNvSpPr txBox="1"/>
          <p:nvPr/>
        </p:nvSpPr>
        <p:spPr>
          <a:xfrm>
            <a:off x="6217920" y="1280160"/>
            <a:ext cx="2331720" cy="315468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Smoothing</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A hike was followed by another hike 71 percent of the time.</a:t>
            </a:r>
            <a:endParaRPr lang="en-US" sz="12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chemeClr val="accent1"/>
                </a:solidFill>
                <a:latin typeface="Calibri" pitchFamily="34" charset="0"/>
                <a:ea typeface="Calibri" pitchFamily="34" charset="-122"/>
                <a:cs typeface="Calibri" pitchFamily="34" charset="-120"/>
              </a:rPr>
              <a:t>Forecast led</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The RBI's own projection revision matters most (p 0.003); realized inflation adds little.</a:t>
            </a:r>
            <a:endParaRPr lang="en-US" sz="12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chemeClr val="accent4"/>
                </a:solidFill>
                <a:latin typeface="Calibri" pitchFamily="34" charset="0"/>
                <a:ea typeface="Calibri" pitchFamily="34" charset="-122"/>
                <a:cs typeface="Calibri" pitchFamily="34" charset="-120"/>
              </a:rPr>
              <a:t>Not significant</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Growth gap and the rupee, once inflation and the projection are known.</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Model against reality: the repo rate</a:t>
            </a:r>
            <a:endParaRPr lang="en-US" sz="2600" dirty="0"/>
          </a:p>
        </p:txBody>
      </p:sp>
      <p:graphicFrame>
        <p:nvGraphicFramePr>
          <p:cNvPr id="3" name="Chart 0" descr=""/>
          <p:cNvGraphicFramePr/>
          <p:nvPr/>
        </p:nvGraphicFramePr>
        <p:xfrm>
          <a:off x="365760" y="1005840"/>
          <a:ext cx="5257800" cy="3611880"/>
        </p:xfrm>
        <a:graphic xmlns:a="http://schemas.openxmlformats.org/drawingml/2006/main">
          <a:graphicData uri="http://schemas.openxmlformats.org/drawingml/2006/chart">
            <c:chart xmlns:c="http://schemas.openxmlformats.org/drawingml/2006/chart" r:id="rId1"/>
          </a:graphicData>
        </a:graphic>
      </p:graphicFrame>
      <p:sp>
        <p:nvSpPr>
          <p:cNvPr id="4" name="rm0"/>
          <p:cNvSpPr/>
          <p:nvPr/>
        </p:nvSpPr>
        <p:spPr>
          <a:xfrm>
            <a:off x="5760720" y="1097280"/>
            <a:ext cx="2926080" cy="1051560"/>
          </a:xfrm>
          <a:prstGeom prst="roundRect">
            <a:avLst>
              <a:gd name="adj" fmla="val 6957"/>
            </a:avLst>
          </a:prstGeom>
          <a:solidFill>
            <a:schemeClr val="bg2"/>
          </a:solidFill>
          <a:ln/>
        </p:spPr>
      </p:sp>
      <p:sp>
        <p:nvSpPr>
          <p:cNvPr id="5" name="Text 2"/>
          <p:cNvSpPr txBox="1"/>
          <p:nvPr/>
        </p:nvSpPr>
        <p:spPr>
          <a:xfrm>
            <a:off x="5897880" y="1170432"/>
            <a:ext cx="2697480" cy="932688"/>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Set before each meeting</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Refitted at every decision on past data only, then compared with what the RBI did.</a:t>
            </a:r>
            <a:endParaRPr lang="en-US" sz="1100" dirty="0"/>
          </a:p>
        </p:txBody>
      </p:sp>
      <p:sp>
        <p:nvSpPr>
          <p:cNvPr id="6" name="rm1"/>
          <p:cNvSpPr/>
          <p:nvPr/>
        </p:nvSpPr>
        <p:spPr>
          <a:xfrm>
            <a:off x="5760720" y="2258568"/>
            <a:ext cx="2926080" cy="1051560"/>
          </a:xfrm>
          <a:prstGeom prst="roundRect">
            <a:avLst>
              <a:gd name="adj" fmla="val 6957"/>
            </a:avLst>
          </a:prstGeom>
          <a:solidFill>
            <a:schemeClr val="bg2"/>
          </a:solidFill>
          <a:ln/>
        </p:spPr>
      </p:sp>
      <p:sp>
        <p:nvSpPr>
          <p:cNvPr id="7" name="Text 4"/>
          <p:cNvSpPr txBox="1"/>
          <p:nvPr/>
        </p:nvSpPr>
        <p:spPr>
          <a:xfrm>
            <a:off x="5897880" y="2331720"/>
            <a:ext cx="2697480" cy="932688"/>
          </a:xfrm>
          <a:prstGeom prst="rect">
            <a:avLst/>
          </a:prstGeom>
          <a:noFill/>
          <a:ln/>
        </p:spPr>
        <p:txBody>
          <a:bodyPr wrap="square" lIns="0" tIns="0" rIns="0" bIns="0" rtlCol="0" anchor="t"/>
          <a:lstStyle/>
          <a:p>
            <a:pPr indent="0" marL="0">
              <a:buNone/>
            </a:pPr>
            <a:r>
              <a:rPr lang="en-US" sz="1100" b="1" dirty="0">
                <a:solidFill>
                  <a:schemeClr val="accent3"/>
                </a:solidFill>
                <a:latin typeface="Calibri" pitchFamily="34" charset="0"/>
                <a:ea typeface="Calibri" pitchFamily="34" charset="-122"/>
                <a:cs typeface="Calibri" pitchFamily="34" charset="-120"/>
              </a:rPr>
              <a:t>Close on unseen years</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From November 2021 the prescribed rate was within 0.14 point of the actual repo on average.</a:t>
            </a:r>
            <a:endParaRPr lang="en-US" sz="1100" dirty="0"/>
          </a:p>
        </p:txBody>
      </p:sp>
      <p:sp>
        <p:nvSpPr>
          <p:cNvPr id="8" name="rm2"/>
          <p:cNvSpPr/>
          <p:nvPr/>
        </p:nvSpPr>
        <p:spPr>
          <a:xfrm>
            <a:off x="5760720" y="3419856"/>
            <a:ext cx="2926080" cy="1051560"/>
          </a:xfrm>
          <a:prstGeom prst="roundRect">
            <a:avLst>
              <a:gd name="adj" fmla="val 6957"/>
            </a:avLst>
          </a:prstGeom>
          <a:solidFill>
            <a:schemeClr val="bg2"/>
          </a:solidFill>
          <a:ln/>
        </p:spPr>
      </p:sp>
      <p:sp>
        <p:nvSpPr>
          <p:cNvPr id="9" name="Text 6"/>
          <p:cNvSpPr txBox="1"/>
          <p:nvPr/>
        </p:nvSpPr>
        <p:spPr>
          <a:xfrm>
            <a:off x="5897880" y="3493008"/>
            <a:ext cx="2697480" cy="932688"/>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Turns captured</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It rises through the 2022 hiking cycle, flattens in 2023 and falls with the 2025 cuts.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Model against reality: hikes and cuts</a:t>
            </a:r>
            <a:endParaRPr lang="en-US" sz="2600" dirty="0"/>
          </a:p>
        </p:txBody>
      </p:sp>
      <p:graphicFrame>
        <p:nvGraphicFramePr>
          <p:cNvPr id="3" name="Chart 0" descr=""/>
          <p:cNvGraphicFramePr/>
          <p:nvPr/>
        </p:nvGraphicFramePr>
        <p:xfrm>
          <a:off x="365760" y="1005840"/>
          <a:ext cx="5257800" cy="3611880"/>
        </p:xfrm>
        <a:graphic xmlns:a="http://schemas.openxmlformats.org/drawingml/2006/main">
          <a:graphicData uri="http://schemas.openxmlformats.org/drawingml/2006/chart">
            <c:chart xmlns:c="http://schemas.openxmlformats.org/drawingml/2006/chart" r:id="rId1"/>
          </a:graphicData>
        </a:graphic>
      </p:graphicFrame>
      <p:sp>
        <p:nvSpPr>
          <p:cNvPr id="4" name="dm0"/>
          <p:cNvSpPr/>
          <p:nvPr/>
        </p:nvSpPr>
        <p:spPr>
          <a:xfrm>
            <a:off x="5760720" y="1097280"/>
            <a:ext cx="2926080" cy="1051560"/>
          </a:xfrm>
          <a:prstGeom prst="roundRect">
            <a:avLst>
              <a:gd name="adj" fmla="val 6957"/>
            </a:avLst>
          </a:prstGeom>
          <a:solidFill>
            <a:schemeClr val="bg2"/>
          </a:solidFill>
          <a:ln/>
        </p:spPr>
      </p:sp>
      <p:sp>
        <p:nvSpPr>
          <p:cNvPr id="5" name="Text 2"/>
          <p:cNvSpPr txBox="1"/>
          <p:nvPr/>
        </p:nvSpPr>
        <p:spPr>
          <a:xfrm>
            <a:off x="5897880" y="1170432"/>
            <a:ext cx="2697480" cy="932688"/>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Right direction</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The model leaned the right way before 32 of the 42 actual moves, 76 percent.</a:t>
            </a:r>
            <a:endParaRPr lang="en-US" sz="1100" dirty="0"/>
          </a:p>
        </p:txBody>
      </p:sp>
      <p:sp>
        <p:nvSpPr>
          <p:cNvPr id="6" name="dm1"/>
          <p:cNvSpPr/>
          <p:nvPr/>
        </p:nvSpPr>
        <p:spPr>
          <a:xfrm>
            <a:off x="5760720" y="2258568"/>
            <a:ext cx="2926080" cy="1051560"/>
          </a:xfrm>
          <a:prstGeom prst="roundRect">
            <a:avLst>
              <a:gd name="adj" fmla="val 6957"/>
            </a:avLst>
          </a:prstGeom>
          <a:solidFill>
            <a:schemeClr val="bg2"/>
          </a:solidFill>
          <a:ln/>
        </p:spPr>
      </p:sp>
      <p:sp>
        <p:nvSpPr>
          <p:cNvPr id="7" name="Text 4"/>
          <p:cNvSpPr txBox="1"/>
          <p:nvPr/>
        </p:nvSpPr>
        <p:spPr>
          <a:xfrm>
            <a:off x="5897880" y="2331720"/>
            <a:ext cx="2697480" cy="932688"/>
          </a:xfrm>
          <a:prstGeom prst="rect">
            <a:avLst/>
          </a:prstGeom>
          <a:noFill/>
          <a:ln/>
        </p:spPr>
        <p:txBody>
          <a:bodyPr wrap="square" lIns="0" tIns="0" rIns="0" bIns="0" rtlCol="0" anchor="t"/>
          <a:lstStyle/>
          <a:p>
            <a:pPr indent="0" marL="0">
              <a:buNone/>
            </a:pPr>
            <a:r>
              <a:rPr lang="en-US" sz="1100" b="1" dirty="0">
                <a:solidFill>
                  <a:schemeClr val="accent3"/>
                </a:solidFill>
                <a:latin typeface="Calibri" pitchFamily="34" charset="0"/>
                <a:ea typeface="Calibri" pitchFamily="34" charset="-122"/>
                <a:cs typeface="Calibri" pitchFamily="34" charset="-120"/>
              </a:rPr>
              <a:t>Unseen years</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Balanced accuracy 0.69 on November 2021 to October 2026, against 0.33 for chance.</a:t>
            </a:r>
            <a:endParaRPr lang="en-US" sz="1100" dirty="0"/>
          </a:p>
        </p:txBody>
      </p:sp>
      <p:sp>
        <p:nvSpPr>
          <p:cNvPr id="8" name="dm2"/>
          <p:cNvSpPr/>
          <p:nvPr/>
        </p:nvSpPr>
        <p:spPr>
          <a:xfrm>
            <a:off x="5760720" y="3419856"/>
            <a:ext cx="2926080" cy="1051560"/>
          </a:xfrm>
          <a:prstGeom prst="roundRect">
            <a:avLst>
              <a:gd name="adj" fmla="val 6957"/>
            </a:avLst>
          </a:prstGeom>
          <a:solidFill>
            <a:schemeClr val="bg2"/>
          </a:solidFill>
          <a:ln/>
        </p:spPr>
      </p:sp>
      <p:sp>
        <p:nvSpPr>
          <p:cNvPr id="9" name="Text 6"/>
          <p:cNvSpPr txBox="1"/>
          <p:nvPr/>
        </p:nvSpPr>
        <p:spPr>
          <a:xfrm>
            <a:off x="5897880" y="3493008"/>
            <a:ext cx="2697480" cy="932688"/>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Cycles, not single moves</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The lean builds through each cycle: up in 2010 to 2011 and 2022, down in 2012, 2015, 2019 and 2025.</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Over and underfitting: the three stage check</a:t>
            </a:r>
            <a:endParaRPr lang="en-US" sz="2600" dirty="0"/>
          </a:p>
        </p:txBody>
      </p:sp>
      <p:graphicFrame>
        <p:nvGraphicFramePr>
          <p:cNvPr id="3" name="Chart 0" descr=""/>
          <p:cNvGraphicFramePr/>
          <p:nvPr/>
        </p:nvGraphicFramePr>
        <p:xfrm>
          <a:off x="365760" y="105156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fit0"/>
          <p:cNvSpPr/>
          <p:nvPr/>
        </p:nvSpPr>
        <p:spPr>
          <a:xfrm>
            <a:off x="5760720" y="1143000"/>
            <a:ext cx="2926080" cy="1024128"/>
          </a:xfrm>
          <a:prstGeom prst="roundRect">
            <a:avLst>
              <a:gd name="adj" fmla="val 7143"/>
            </a:avLst>
          </a:prstGeom>
          <a:solidFill>
            <a:schemeClr val="bg2"/>
          </a:solidFill>
          <a:ln/>
        </p:spPr>
      </p:sp>
      <p:sp>
        <p:nvSpPr>
          <p:cNvPr id="5" name="Text 2"/>
          <p:cNvSpPr txBox="1"/>
          <p:nvPr/>
        </p:nvSpPr>
        <p:spPr>
          <a:xfrm>
            <a:off x="5897880" y="1216152"/>
            <a:ext cx="2697480" cy="896112"/>
          </a:xfrm>
          <a:prstGeom prst="rect">
            <a:avLst/>
          </a:prstGeom>
          <a:noFill/>
          <a:ln/>
        </p:spPr>
        <p:txBody>
          <a:bodyPr wrap="square" lIns="0" tIns="0" rIns="0" bIns="0" rtlCol="0" anchor="t"/>
          <a:lstStyle/>
          <a:p>
            <a:pPr indent="0" marL="0">
              <a:buNone/>
            </a:pPr>
            <a:r>
              <a:rPr lang="en-US" sz="1150" b="1" dirty="0">
                <a:solidFill>
                  <a:schemeClr val="accent3"/>
                </a:solidFill>
                <a:latin typeface="Calibri" pitchFamily="34" charset="0"/>
                <a:ea typeface="Calibri" pitchFamily="34" charset="-122"/>
                <a:cs typeface="Calibri" pitchFamily="34" charset="-120"/>
              </a:rPr>
              <a:t>India: no overfitting</a:t>
            </a:r>
            <a:endParaRPr lang="en-US" sz="1150" dirty="0"/>
          </a:p>
          <a:p>
            <a:pPr indent="0" marL="0">
              <a:buNone/>
            </a:pPr>
            <a:r>
              <a:rPr lang="en-US" sz="1150" dirty="0">
                <a:solidFill>
                  <a:schemeClr val="tx1"/>
                </a:solidFill>
                <a:latin typeface="Calibri" pitchFamily="34" charset="0"/>
                <a:ea typeface="Calibri" pitchFamily="34" charset="-122"/>
                <a:cs typeface="Calibri" pitchFamily="34" charset="-120"/>
              </a:rPr>
              <a:t>Unseen score is higher than in sample: what the model learned carries over to new years.</a:t>
            </a:r>
            <a:endParaRPr lang="en-US" sz="1150" dirty="0"/>
          </a:p>
        </p:txBody>
      </p:sp>
      <p:sp>
        <p:nvSpPr>
          <p:cNvPr id="6" name="fit1"/>
          <p:cNvSpPr/>
          <p:nvPr/>
        </p:nvSpPr>
        <p:spPr>
          <a:xfrm>
            <a:off x="5760720" y="2286000"/>
            <a:ext cx="2926080" cy="1024128"/>
          </a:xfrm>
          <a:prstGeom prst="roundRect">
            <a:avLst>
              <a:gd name="adj" fmla="val 7143"/>
            </a:avLst>
          </a:prstGeom>
          <a:solidFill>
            <a:schemeClr val="bg2"/>
          </a:solidFill>
          <a:ln/>
        </p:spPr>
      </p:sp>
      <p:sp>
        <p:nvSpPr>
          <p:cNvPr id="7" name="Text 4"/>
          <p:cNvSpPr txBox="1"/>
          <p:nvPr/>
        </p:nvSpPr>
        <p:spPr>
          <a:xfrm>
            <a:off x="5897880" y="2359152"/>
            <a:ext cx="2697480" cy="896112"/>
          </a:xfrm>
          <a:prstGeom prst="rect">
            <a:avLst/>
          </a:prstGeom>
          <a:noFill/>
          <a:ln/>
        </p:spPr>
        <p:txBody>
          <a:bodyPr wrap="square" lIns="0" tIns="0" rIns="0" bIns="0" rtlCol="0" anchor="t"/>
          <a:lstStyle/>
          <a:p>
            <a:pPr indent="0" marL="0">
              <a:buNone/>
            </a:pPr>
            <a:r>
              <a:rPr lang="en-US" sz="1150" b="1" dirty="0">
                <a:solidFill>
                  <a:schemeClr val="accent3"/>
                </a:solidFill>
                <a:latin typeface="Calibri" pitchFamily="34" charset="0"/>
                <a:ea typeface="Calibri" pitchFamily="34" charset="-122"/>
                <a:cs typeface="Calibri" pitchFamily="34" charset="-120"/>
              </a:rPr>
              <a:t>Nepal rise: mild gap</a:t>
            </a:r>
            <a:endParaRPr lang="en-US" sz="1150" dirty="0"/>
          </a:p>
          <a:p>
            <a:pPr indent="0" marL="0">
              <a:buNone/>
            </a:pPr>
            <a:r>
              <a:rPr lang="en-US" sz="1150" dirty="0">
                <a:solidFill>
                  <a:schemeClr val="tx1"/>
                </a:solidFill>
                <a:latin typeface="Calibri" pitchFamily="34" charset="0"/>
                <a:ea typeface="Calibri" pitchFamily="34" charset="-122"/>
                <a:cs typeface="Calibri" pitchFamily="34" charset="-120"/>
              </a:rPr>
              <a:t>0.74 in sample, 0.64 to 0.67 out of sample, and it holds on unseen data.</a:t>
            </a:r>
            <a:endParaRPr lang="en-US" sz="1150" dirty="0"/>
          </a:p>
        </p:txBody>
      </p:sp>
      <p:sp>
        <p:nvSpPr>
          <p:cNvPr id="8" name="fit2"/>
          <p:cNvSpPr/>
          <p:nvPr/>
        </p:nvSpPr>
        <p:spPr>
          <a:xfrm>
            <a:off x="5760720" y="3429000"/>
            <a:ext cx="2926080" cy="1024128"/>
          </a:xfrm>
          <a:prstGeom prst="roundRect">
            <a:avLst>
              <a:gd name="adj" fmla="val 7143"/>
            </a:avLst>
          </a:prstGeom>
          <a:solidFill>
            <a:schemeClr val="bg2"/>
          </a:solidFill>
          <a:ln/>
        </p:spPr>
      </p:sp>
      <p:sp>
        <p:nvSpPr>
          <p:cNvPr id="9" name="Text 6"/>
          <p:cNvSpPr txBox="1"/>
          <p:nvPr/>
        </p:nvSpPr>
        <p:spPr>
          <a:xfrm>
            <a:off x="5897880" y="3502152"/>
            <a:ext cx="2697480" cy="896112"/>
          </a:xfrm>
          <a:prstGeom prst="rect">
            <a:avLst/>
          </a:prstGeom>
          <a:noFill/>
          <a:ln/>
        </p:spPr>
        <p:txBody>
          <a:bodyPr wrap="square" lIns="0" tIns="0" rIns="0" bIns="0" rtlCol="0" anchor="t"/>
          <a:lstStyle/>
          <a:p>
            <a:pPr indent="0" marL="0">
              <a:buNone/>
            </a:pPr>
            <a:r>
              <a:rPr lang="en-US" sz="1150" b="1" dirty="0">
                <a:solidFill>
                  <a:schemeClr val="accent4"/>
                </a:solidFill>
                <a:latin typeface="Calibri" pitchFamily="34" charset="0"/>
                <a:ea typeface="Calibri" pitchFamily="34" charset="-122"/>
                <a:cs typeface="Calibri" pitchFamily="34" charset="-120"/>
              </a:rPr>
              <a:t>Nepal fall: the floor</a:t>
            </a:r>
            <a:endParaRPr lang="en-US" sz="1150" dirty="0"/>
          </a:p>
          <a:p>
            <a:pPr indent="0" marL="0">
              <a:buNone/>
            </a:pPr>
            <a:r>
              <a:rPr lang="en-US" sz="1150" dirty="0">
                <a:solidFill>
                  <a:schemeClr val="tx1"/>
                </a:solidFill>
                <a:latin typeface="Calibri" pitchFamily="34" charset="0"/>
                <a:ea typeface="Calibri" pitchFamily="34" charset="-122"/>
                <a:cs typeface="Calibri" pitchFamily="34" charset="-120"/>
              </a:rPr>
              <a:t>0.73 in training. Since 2021 the rate has sat on the NRB floor, where a fall needs an NRB cut first.</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Will the new cycle continue? A second hike is likely</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94560"/>
                <a:gridCol w="914400"/>
                <a:gridCol w="1280160"/>
                <a:gridCol w="1280160"/>
                <a:gridCol w="1280160"/>
                <a:gridCol w="1280160"/>
              </a:tblGrid>
              <a:tr h="329184">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Brent, $</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P(hike) Dec</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P(hike) Feb</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P(hike) Apr</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Expected repo, Apr</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Premium persists</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112</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0.57</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0.35</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0.21</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5.71</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Escalation in the Gulf</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135</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0.56</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0.56</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0.26</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5.81</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Easing tensions</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92</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0.57</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0.19</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0.16</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5.63</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AI bust, world slowdown</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90</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0.55</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0.16</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5.57</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Stagflation</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0.55</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0.45</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5.74</a:t>
                      </a:r>
                      <a:endParaRPr lang="en-US" sz="1200" dirty="0">
                        <a:latin typeface="Calibri" charset="0"/>
                        <a:ea typeface="Calibri" charset="0"/>
                        <a:cs typeface="Calibri" charset="0"/>
                      </a:endParaRPr>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bl>
          </a:graphicData>
        </a:graphic>
      </p:graphicFrame>
      <p:sp>
        <p:nvSpPr>
          <p:cNvPr id="4" name="out0"/>
          <p:cNvSpPr/>
          <p:nvPr/>
        </p:nvSpPr>
        <p:spPr>
          <a:xfrm>
            <a:off x="457200" y="3246120"/>
            <a:ext cx="2615184" cy="1417320"/>
          </a:xfrm>
          <a:prstGeom prst="roundRect">
            <a:avLst>
              <a:gd name="adj" fmla="val 5161"/>
            </a:avLst>
          </a:prstGeom>
          <a:solidFill>
            <a:schemeClr val="bg2"/>
          </a:solidFill>
          <a:ln/>
        </p:spPr>
      </p:sp>
      <p:sp>
        <p:nvSpPr>
          <p:cNvPr id="5" name="Text 2"/>
          <p:cNvSpPr txBox="1"/>
          <p:nvPr/>
        </p:nvSpPr>
        <p:spPr>
          <a:xfrm>
            <a:off x="594360" y="3319272"/>
            <a:ext cx="2377440" cy="1298448"/>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December: decided already</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Inflation 5.5 percent and rising, a recent hike, strong industry: about 0.56 in every scenario.</a:t>
            </a:r>
            <a:endParaRPr lang="en-US" sz="1100" dirty="0"/>
          </a:p>
        </p:txBody>
      </p:sp>
      <p:sp>
        <p:nvSpPr>
          <p:cNvPr id="6" name="out1"/>
          <p:cNvSpPr/>
          <p:nvPr/>
        </p:nvSpPr>
        <p:spPr>
          <a:xfrm>
            <a:off x="3264408" y="3246120"/>
            <a:ext cx="2615184" cy="1417320"/>
          </a:xfrm>
          <a:prstGeom prst="roundRect">
            <a:avLst>
              <a:gd name="adj" fmla="val 5161"/>
            </a:avLst>
          </a:prstGeom>
          <a:solidFill>
            <a:schemeClr val="bg2"/>
          </a:solidFill>
          <a:ln/>
        </p:spPr>
      </p:sp>
      <p:sp>
        <p:nvSpPr>
          <p:cNvPr id="7" name="Text 4"/>
          <p:cNvSpPr txBox="1"/>
          <p:nvPr/>
        </p:nvSpPr>
        <p:spPr>
          <a:xfrm>
            <a:off x="3401568" y="3319272"/>
            <a:ext cx="2377440" cy="1298448"/>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February: oil decides</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Dear oil or a Gulf war keeps hiking; cheaper oil or a world slowdown ends the cycle.</a:t>
            </a:r>
            <a:endParaRPr lang="en-US" sz="1100" dirty="0"/>
          </a:p>
        </p:txBody>
      </p:sp>
      <p:sp>
        <p:nvSpPr>
          <p:cNvPr id="8" name="out2"/>
          <p:cNvSpPr/>
          <p:nvPr/>
        </p:nvSpPr>
        <p:spPr>
          <a:xfrm>
            <a:off x="6071616" y="3246120"/>
            <a:ext cx="2615184" cy="1417320"/>
          </a:xfrm>
          <a:prstGeom prst="roundRect">
            <a:avLst>
              <a:gd name="adj" fmla="val 5161"/>
            </a:avLst>
          </a:prstGeom>
          <a:solidFill>
            <a:schemeClr val="bg2"/>
          </a:solidFill>
          <a:ln/>
        </p:spPr>
      </p:sp>
      <p:sp>
        <p:nvSpPr>
          <p:cNvPr id="9" name="Text 6"/>
          <p:cNvSpPr txBox="1"/>
          <p:nvPr/>
        </p:nvSpPr>
        <p:spPr>
          <a:xfrm>
            <a:off x="6208776" y="3319272"/>
            <a:ext cx="2377440" cy="1298448"/>
          </a:xfrm>
          <a:prstGeom prst="rect">
            <a:avLst/>
          </a:prstGeom>
          <a:noFill/>
          <a:ln/>
        </p:spPr>
        <p:txBody>
          <a:bodyPr wrap="square" lIns="0" tIns="0" rIns="0" bIns="0" rtlCol="0" anchor="t"/>
          <a:lstStyle/>
          <a:p>
            <a:pPr indent="0" marL="0">
              <a:buNone/>
            </a:pPr>
            <a:r>
              <a:rPr lang="en-US" sz="1100" b="1" dirty="0">
                <a:solidFill>
                  <a:schemeClr val="accent4"/>
                </a:solidFill>
                <a:latin typeface="Calibri" pitchFamily="34" charset="0"/>
                <a:ea typeface="Calibri" pitchFamily="34" charset="-122"/>
                <a:cs typeface="Calibri" pitchFamily="34" charset="-120"/>
              </a:rPr>
              <a:t>How it is built</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Each scenario sets oil, inflation and growth inputs; the same frozen model scores them all.</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Where the cycle ends: repo rate after April 2027</a:t>
            </a:r>
            <a:endParaRPr lang="en-US" sz="2600" dirty="0"/>
          </a:p>
        </p:txBody>
      </p:sp>
      <p:graphicFrame>
        <p:nvGraphicFramePr>
          <p:cNvPr id="3" name="Chart 0" descr=""/>
          <p:cNvGraphicFramePr/>
          <p:nvPr/>
        </p:nvGraphicFramePr>
        <p:xfrm>
          <a:off x="365760" y="1005840"/>
          <a:ext cx="5486400" cy="3611880"/>
        </p:xfrm>
        <a:graphic xmlns:a="http://schemas.openxmlformats.org/drawingml/2006/main">
          <a:graphicData uri="http://schemas.openxmlformats.org/drawingml/2006/chart">
            <c:chart xmlns:c="http://schemas.openxmlformats.org/drawingml/2006/chart" r:id="rId1"/>
          </a:graphicData>
        </a:graphic>
      </p:graphicFrame>
      <p:sp>
        <p:nvSpPr>
          <p:cNvPr id="4" name="end-read"/>
          <p:cNvSpPr/>
          <p:nvPr/>
        </p:nvSpPr>
        <p:spPr>
          <a:xfrm>
            <a:off x="6126480" y="1097280"/>
            <a:ext cx="2560320" cy="3474720"/>
          </a:xfrm>
          <a:prstGeom prst="roundRect">
            <a:avLst>
              <a:gd name="adj" fmla="val 2857"/>
            </a:avLst>
          </a:prstGeom>
          <a:solidFill>
            <a:schemeClr val="bg2"/>
          </a:solidFill>
          <a:ln/>
        </p:spPr>
      </p:sp>
      <p:sp>
        <p:nvSpPr>
          <p:cNvPr id="5" name="Text 2"/>
          <p:cNvSpPr txBox="1"/>
          <p:nvPr/>
        </p:nvSpPr>
        <p:spPr>
          <a:xfrm>
            <a:off x="6263640" y="1234440"/>
            <a:ext cx="2286000" cy="32461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Most likely</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One more hike, to 5.75, in December or February.</a:t>
            </a:r>
            <a:endParaRPr lang="en-US" sz="12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chemeClr val="accent1"/>
                </a:solidFill>
                <a:latin typeface="Calibri" pitchFamily="34" charset="0"/>
                <a:ea typeface="Calibri" pitchFamily="34" charset="-122"/>
                <a:cs typeface="Calibri" pitchFamily="34" charset="-120"/>
              </a:rPr>
              <a:t>6.00 or higher</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0.48 if the Gulf escalates, 0.33 if oil stays near 112, 0.21 if tensions ease.</a:t>
            </a:r>
            <a:endParaRPr lang="en-US" sz="12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chemeClr val="accent2"/>
                </a:solidFill>
                <a:latin typeface="Calibri" pitchFamily="34" charset="0"/>
                <a:ea typeface="Calibri" pitchFamily="34" charset="-122"/>
                <a:cs typeface="Calibri" pitchFamily="34" charset="-120"/>
              </a:rPr>
              <a:t>Below today</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Only an AI driven world slowdown makes it plausible (0.26).</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Next two years: a short cycle, then a slow easing</a:t>
            </a:r>
            <a:endParaRPr lang="en-US" sz="2600" dirty="0"/>
          </a:p>
        </p:txBody>
      </p:sp>
      <p:graphicFrame>
        <p:nvGraphicFramePr>
          <p:cNvPr id="3" name="Chart 0" descr=""/>
          <p:cNvGraphicFramePr/>
          <p:nvPr/>
        </p:nvGraphicFramePr>
        <p:xfrm>
          <a:off x="365760" y="1005840"/>
          <a:ext cx="5257800" cy="3611880"/>
        </p:xfrm>
        <a:graphic xmlns:a="http://schemas.openxmlformats.org/drawingml/2006/main">
          <a:graphicData uri="http://schemas.openxmlformats.org/drawingml/2006/chart">
            <c:chart xmlns:c="http://schemas.openxmlformats.org/drawingml/2006/chart" r:id="rId1"/>
          </a:graphicData>
        </a:graphic>
      </p:graphicFrame>
      <p:sp>
        <p:nvSpPr>
          <p:cNvPr id="4" name="ty0"/>
          <p:cNvSpPr/>
          <p:nvPr/>
        </p:nvSpPr>
        <p:spPr>
          <a:xfrm>
            <a:off x="5760720" y="1097280"/>
            <a:ext cx="2926080" cy="1069848"/>
          </a:xfrm>
          <a:prstGeom prst="roundRect">
            <a:avLst>
              <a:gd name="adj" fmla="val 6838"/>
            </a:avLst>
          </a:prstGeom>
          <a:solidFill>
            <a:schemeClr val="bg2"/>
          </a:solidFill>
          <a:ln/>
        </p:spPr>
      </p:sp>
      <p:sp>
        <p:nvSpPr>
          <p:cNvPr id="5" name="Text 2"/>
          <p:cNvSpPr txBox="1"/>
          <p:nvPr/>
        </p:nvSpPr>
        <p:spPr>
          <a:xfrm>
            <a:off x="5897880" y="1170432"/>
            <a:ext cx="2697480" cy="950976"/>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Peak by April 2027</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Expected repo 5.71 if oil stays near 112, 5.81 if the Gulf escalates: one or two more hikes.</a:t>
            </a:r>
            <a:endParaRPr lang="en-US" sz="1100" dirty="0"/>
          </a:p>
        </p:txBody>
      </p:sp>
      <p:sp>
        <p:nvSpPr>
          <p:cNvPr id="6" name="ty1"/>
          <p:cNvSpPr/>
          <p:nvPr/>
        </p:nvSpPr>
        <p:spPr>
          <a:xfrm>
            <a:off x="5760720" y="2258568"/>
            <a:ext cx="2926080" cy="1069848"/>
          </a:xfrm>
          <a:prstGeom prst="roundRect">
            <a:avLst>
              <a:gd name="adj" fmla="val 6838"/>
            </a:avLst>
          </a:prstGeom>
          <a:solidFill>
            <a:schemeClr val="bg2"/>
          </a:solidFill>
          <a:ln/>
        </p:spPr>
      </p:sp>
      <p:sp>
        <p:nvSpPr>
          <p:cNvPr id="7" name="Text 4"/>
          <p:cNvSpPr txBox="1"/>
          <p:nvPr/>
        </p:nvSpPr>
        <p:spPr>
          <a:xfrm>
            <a:off x="5897880" y="2331720"/>
            <a:ext cx="2697480" cy="950976"/>
          </a:xfrm>
          <a:prstGeom prst="rect">
            <a:avLst/>
          </a:prstGeom>
          <a:noFill/>
          <a:ln/>
        </p:spPr>
        <p:txBody>
          <a:bodyPr wrap="square" lIns="0" tIns="0" rIns="0" bIns="0" rtlCol="0" anchor="t"/>
          <a:lstStyle/>
          <a:p>
            <a:pPr indent="0" marL="0">
              <a:buNone/>
            </a:pPr>
            <a:r>
              <a:rPr lang="en-US" sz="1100" b="1" dirty="0">
                <a:solidFill>
                  <a:schemeClr val="accent2"/>
                </a:solidFill>
                <a:latin typeface="Calibri" pitchFamily="34" charset="0"/>
                <a:ea typeface="Calibri" pitchFamily="34" charset="-122"/>
                <a:cs typeface="Calibri" pitchFamily="34" charset="-120"/>
              </a:rPr>
              <a:t>Easing from mid 2027</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Cuts overtake hikes from June 2027 as the oil shock leaves yearly inflation. October 2028: about 5.25, range 4.25 to 6.25.</a:t>
            </a:r>
            <a:endParaRPr lang="en-US" sz="1100" dirty="0"/>
          </a:p>
        </p:txBody>
      </p:sp>
      <p:sp>
        <p:nvSpPr>
          <p:cNvPr id="8" name="ty2"/>
          <p:cNvSpPr/>
          <p:nvPr/>
        </p:nvSpPr>
        <p:spPr>
          <a:xfrm>
            <a:off x="5760720" y="3419856"/>
            <a:ext cx="2926080" cy="1069848"/>
          </a:xfrm>
          <a:prstGeom prst="roundRect">
            <a:avLst>
              <a:gd name="adj" fmla="val 6838"/>
            </a:avLst>
          </a:prstGeom>
          <a:solidFill>
            <a:schemeClr val="bg2"/>
          </a:solidFill>
          <a:ln/>
        </p:spPr>
      </p:sp>
      <p:sp>
        <p:nvSpPr>
          <p:cNvPr id="9" name="Text 6"/>
          <p:cNvSpPr txBox="1"/>
          <p:nvPr/>
        </p:nvSpPr>
        <p:spPr>
          <a:xfrm>
            <a:off x="5897880" y="3493008"/>
            <a:ext cx="2697480" cy="950976"/>
          </a:xfrm>
          <a:prstGeom prst="rect">
            <a:avLst/>
          </a:prstGeom>
          <a:noFill/>
          <a:ln/>
        </p:spPr>
        <p:txBody>
          <a:bodyPr wrap="square" lIns="0" tIns="0" rIns="0" bIns="0" rtlCol="0" anchor="t"/>
          <a:lstStyle/>
          <a:p>
            <a:pPr indent="0" marL="0">
              <a:buNone/>
            </a:pPr>
            <a:r>
              <a:rPr lang="en-US" sz="1100" b="1" dirty="0">
                <a:solidFill>
                  <a:schemeClr val="accent3"/>
                </a:solidFill>
                <a:latin typeface="Calibri" pitchFamily="34" charset="0"/>
                <a:ea typeface="Calibri" pitchFamily="34" charset="-122"/>
                <a:cs typeface="Calibri" pitchFamily="34" charset="-120"/>
              </a:rPr>
              <a:t>Nepal follows at half</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At the 0.49 response, the NRB bank rate rises from 5.75 to about 6.0, then drifts back to 5.75 by late 2028.</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How India's rate cycle reaches Nepal</a:t>
            </a:r>
            <a:endParaRPr lang="en-US" sz="2600" dirty="0"/>
          </a:p>
        </p:txBody>
      </p:sp>
      <p:sp>
        <p:nvSpPr>
          <p:cNvPr id="3" name="tr-rbi"/>
          <p:cNvSpPr/>
          <p:nvPr/>
        </p:nvSpPr>
        <p:spPr>
          <a:xfrm>
            <a:off x="457200" y="1965960"/>
            <a:ext cx="1737360" cy="1371600"/>
          </a:xfrm>
          <a:prstGeom prst="roundRect">
            <a:avLst>
              <a:gd name="adj" fmla="val 5333"/>
            </a:avLst>
          </a:prstGeom>
          <a:solidFill>
            <a:schemeClr val="tx2"/>
          </a:solidFill>
          <a:ln/>
        </p:spPr>
      </p:sp>
      <p:sp>
        <p:nvSpPr>
          <p:cNvPr id="4" name="Text 2"/>
          <p:cNvSpPr txBox="1"/>
          <p:nvPr/>
        </p:nvSpPr>
        <p:spPr>
          <a:xfrm>
            <a:off x="566928" y="2057400"/>
            <a:ext cx="1517904" cy="11887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RBI moves the repo</a:t>
            </a:r>
            <a:endParaRPr lang="en-US" sz="1400" dirty="0"/>
          </a:p>
          <a:p>
            <a:pPr algn="ctr" indent="0" marL="0">
              <a:buNone/>
            </a:pPr>
            <a:r>
              <a:rPr lang="en-US" sz="1100" dirty="0">
                <a:solidFill>
                  <a:schemeClr val="bg1"/>
                </a:solidFill>
                <a:latin typeface="Calibri" pitchFamily="34" charset="0"/>
                <a:ea typeface="Calibri" pitchFamily="34" charset="-122"/>
                <a:cs typeface="Calibri" pitchFamily="34" charset="-120"/>
              </a:rPr>
              <a:t>the driver</a:t>
            </a:r>
            <a:endParaRPr lang="en-US" sz="1400" dirty="0"/>
          </a:p>
        </p:txBody>
      </p:sp>
      <p:sp>
        <p:nvSpPr>
          <p:cNvPr id="5" name="tr-a1"/>
          <p:cNvSpPr/>
          <p:nvPr/>
        </p:nvSpPr>
        <p:spPr>
          <a:xfrm>
            <a:off x="2286000" y="2487168"/>
            <a:ext cx="182880" cy="329184"/>
          </a:xfrm>
          <a:prstGeom prst="chevron">
            <a:avLst/>
          </a:prstGeom>
          <a:solidFill>
            <a:schemeClr val="accent4"/>
          </a:solidFill>
          <a:ln/>
        </p:spPr>
      </p:sp>
      <p:sp>
        <p:nvSpPr>
          <p:cNvPr id="6" name="tr-peg"/>
          <p:cNvSpPr/>
          <p:nvPr/>
        </p:nvSpPr>
        <p:spPr>
          <a:xfrm>
            <a:off x="2560320" y="1965960"/>
            <a:ext cx="1737360" cy="1371600"/>
          </a:xfrm>
          <a:prstGeom prst="roundRect">
            <a:avLst>
              <a:gd name="adj" fmla="val 5333"/>
            </a:avLst>
          </a:prstGeom>
          <a:solidFill>
            <a:schemeClr val="accent1"/>
          </a:solidFill>
          <a:ln/>
        </p:spPr>
      </p:sp>
      <p:sp>
        <p:nvSpPr>
          <p:cNvPr id="7" name="Text 5"/>
          <p:cNvSpPr txBox="1"/>
          <p:nvPr/>
        </p:nvSpPr>
        <p:spPr>
          <a:xfrm>
            <a:off x="2670048" y="2057400"/>
            <a:ext cx="1517904" cy="11887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Peg at 1.6</a:t>
            </a:r>
            <a:endParaRPr lang="en-US" sz="1400" dirty="0"/>
          </a:p>
          <a:p>
            <a:pPr algn="ctr" indent="0" marL="0">
              <a:buNone/>
            </a:pPr>
            <a:r>
              <a:rPr lang="en-US" sz="1100" dirty="0">
                <a:solidFill>
                  <a:schemeClr val="bg1"/>
                </a:solidFill>
                <a:latin typeface="Calibri" pitchFamily="34" charset="0"/>
                <a:ea typeface="Calibri" pitchFamily="34" charset="-122"/>
                <a:cs typeface="Calibri" pitchFamily="34" charset="-120"/>
              </a:rPr>
              <a:t>Indian rupee moves are Nepali rupee moves</a:t>
            </a:r>
            <a:endParaRPr lang="en-US" sz="1400" dirty="0"/>
          </a:p>
        </p:txBody>
      </p:sp>
      <p:sp>
        <p:nvSpPr>
          <p:cNvPr id="8" name="tr-a2"/>
          <p:cNvSpPr/>
          <p:nvPr/>
        </p:nvSpPr>
        <p:spPr>
          <a:xfrm>
            <a:off x="4389120" y="2487168"/>
            <a:ext cx="182880" cy="329184"/>
          </a:xfrm>
          <a:prstGeom prst="chevron">
            <a:avLst/>
          </a:prstGeom>
          <a:solidFill>
            <a:schemeClr val="accent4"/>
          </a:solidFill>
          <a:ln/>
        </p:spPr>
      </p:sp>
      <p:sp>
        <p:nvSpPr>
          <p:cNvPr id="9" name="tr0"/>
          <p:cNvSpPr/>
          <p:nvPr/>
        </p:nvSpPr>
        <p:spPr>
          <a:xfrm>
            <a:off x="4709160" y="1051560"/>
            <a:ext cx="3977640" cy="1078992"/>
          </a:xfrm>
          <a:prstGeom prst="roundRect">
            <a:avLst>
              <a:gd name="adj" fmla="val 6780"/>
            </a:avLst>
          </a:prstGeom>
          <a:solidFill>
            <a:schemeClr val="bg2"/>
          </a:solidFill>
          <a:ln/>
        </p:spPr>
      </p:sp>
      <p:sp>
        <p:nvSpPr>
          <p:cNvPr id="10" name="Text 8"/>
          <p:cNvSpPr txBox="1"/>
          <p:nvPr/>
        </p:nvSpPr>
        <p:spPr>
          <a:xfrm>
            <a:off x="4846320" y="1124712"/>
            <a:ext cx="3749040" cy="960120"/>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1  Prices: strong</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Two thirds of imports come from India at a fixed rupee price. Inflation correlation 0.88 since 2021.</a:t>
            </a:r>
            <a:endParaRPr lang="en-US" sz="1100" dirty="0"/>
          </a:p>
        </p:txBody>
      </p:sp>
      <p:sp>
        <p:nvSpPr>
          <p:cNvPr id="11" name="tr1"/>
          <p:cNvSpPr/>
          <p:nvPr/>
        </p:nvSpPr>
        <p:spPr>
          <a:xfrm>
            <a:off x="4709160" y="2258568"/>
            <a:ext cx="3977640" cy="1078992"/>
          </a:xfrm>
          <a:prstGeom prst="roundRect">
            <a:avLst>
              <a:gd name="adj" fmla="val 6780"/>
            </a:avLst>
          </a:prstGeom>
          <a:solidFill>
            <a:schemeClr val="bg2"/>
          </a:solidFill>
          <a:ln/>
        </p:spPr>
      </p:sp>
      <p:sp>
        <p:nvSpPr>
          <p:cNvPr id="12" name="Text 10"/>
          <p:cNvSpPr txBox="1"/>
          <p:nvPr/>
        </p:nvSpPr>
        <p:spPr>
          <a:xfrm>
            <a:off x="4846320" y="2331720"/>
            <a:ext cx="3749040" cy="960120"/>
          </a:xfrm>
          <a:prstGeom prst="rect">
            <a:avLst/>
          </a:prstGeom>
          <a:noFill/>
          <a:ln/>
        </p:spPr>
        <p:txBody>
          <a:bodyPr wrap="square" lIns="0" tIns="0" rIns="0" bIns="0" rtlCol="0" anchor="t"/>
          <a:lstStyle/>
          <a:p>
            <a:pPr indent="0" marL="0">
              <a:buNone/>
            </a:pPr>
            <a:r>
              <a:rPr lang="en-US" sz="1100" b="1" dirty="0">
                <a:solidFill>
                  <a:schemeClr val="accent2"/>
                </a:solidFill>
                <a:latin typeface="Calibri" pitchFamily="34" charset="0"/>
                <a:ea typeface="Calibri" pitchFamily="34" charset="-122"/>
                <a:cs typeface="Calibri" pitchFamily="34" charset="-120"/>
              </a:rPr>
              <a:t>2  NRB policy corridor: 0.5 since 2016</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About 0.5 point per RBI point since the corridor began (p 0.007); no response before it.</a:t>
            </a:r>
            <a:endParaRPr lang="en-US" sz="1100" dirty="0"/>
          </a:p>
        </p:txBody>
      </p:sp>
      <p:sp>
        <p:nvSpPr>
          <p:cNvPr id="13" name="tr2"/>
          <p:cNvSpPr/>
          <p:nvPr/>
        </p:nvSpPr>
        <p:spPr>
          <a:xfrm>
            <a:off x="4709160" y="3465576"/>
            <a:ext cx="3977640" cy="1078992"/>
          </a:xfrm>
          <a:prstGeom prst="roundRect">
            <a:avLst>
              <a:gd name="adj" fmla="val 6780"/>
            </a:avLst>
          </a:prstGeom>
          <a:solidFill>
            <a:schemeClr val="bg2"/>
          </a:solidFill>
          <a:ln/>
        </p:spPr>
      </p:sp>
      <p:sp>
        <p:nvSpPr>
          <p:cNvPr id="14" name="Text 12"/>
          <p:cNvSpPr txBox="1"/>
          <p:nvPr/>
        </p:nvSpPr>
        <p:spPr>
          <a:xfrm>
            <a:off x="4846320" y="3538728"/>
            <a:ext cx="3749040" cy="960120"/>
          </a:xfrm>
          <a:prstGeom prst="rect">
            <a:avLst/>
          </a:prstGeom>
          <a:noFill/>
          <a:ln/>
        </p:spPr>
        <p:txBody>
          <a:bodyPr wrap="square" lIns="0" tIns="0" rIns="0" bIns="0" rtlCol="0" anchor="t"/>
          <a:lstStyle/>
          <a:p>
            <a:pPr indent="0" marL="0">
              <a:buNone/>
            </a:pPr>
            <a:r>
              <a:rPr lang="en-US" sz="1100" b="1" dirty="0">
                <a:solidFill>
                  <a:schemeClr val="accent3"/>
                </a:solidFill>
                <a:latin typeface="Calibri" pitchFamily="34" charset="0"/>
                <a:ea typeface="Calibri" pitchFamily="34" charset="-122"/>
                <a:cs typeface="Calibri" pitchFamily="34" charset="-120"/>
              </a:rPr>
              <a:t>3  Market rate: a coin flip</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Followed the RBI in 6 of 12 cycles. Remittances bought at the peg add reserves and keep it on its own path.</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market rate: India's cycles are a coin flip</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5669280" cy="914400"/>
        </p:xfrm>
        <a:graphic>
          <a:graphicData uri="http://schemas.openxmlformats.org/drawingml/2006/table">
            <a:tbl>
              <a:tblPr/>
              <a:tblGrid>
                <a:gridCol w="1325880"/>
                <a:gridCol w="868680"/>
                <a:gridCol w="1051560"/>
                <a:gridCol w="777240"/>
                <a:gridCol w="914400"/>
                <a:gridCol w="731520"/>
              </a:tblGrid>
              <a:tr h="265176">
                <a:tc>
                  <a:txBody>
                    <a:bodyPr/>
                    <a:lstStyle/>
                    <a:p>
                      <a:pPr algn="ctr" indent="0" marL="0">
                        <a:buNone/>
                      </a:pPr>
                      <a:r>
                        <a:rPr lang="en-US" sz="950" b="1" dirty="0">
                          <a:solidFill>
                            <a:schemeClr val="bg1"/>
                          </a:solidFill>
                          <a:latin typeface="Calibri" pitchFamily="34" charset="0"/>
                          <a:ea typeface="Calibri" pitchFamily="34" charset="-122"/>
                          <a:cs typeface="Calibri" pitchFamily="34" charset="-120"/>
                        </a:rPr>
                        <a:t>RBI cycle</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950" b="1" dirty="0">
                          <a:solidFill>
                            <a:schemeClr val="bg1"/>
                          </a:solidFill>
                          <a:latin typeface="Calibri" pitchFamily="34" charset="0"/>
                          <a:ea typeface="Calibri" pitchFamily="34" charset="-122"/>
                          <a:cs typeface="Calibri" pitchFamily="34" charset="-120"/>
                        </a:rPr>
                        <a:t>RBI change</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950" b="1" dirty="0">
                          <a:solidFill>
                            <a:schemeClr val="bg1"/>
                          </a:solidFill>
                          <a:latin typeface="Calibri" pitchFamily="34" charset="0"/>
                          <a:ea typeface="Calibri" pitchFamily="34" charset="-122"/>
                          <a:cs typeface="Calibri" pitchFamily="34" charset="-120"/>
                        </a:rPr>
                        <a:t>Nepal interbank</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950" b="1" dirty="0">
                          <a:solidFill>
                            <a:schemeClr val="bg1"/>
                          </a:solidFill>
                          <a:latin typeface="Calibri" pitchFamily="34" charset="0"/>
                          <a:ea typeface="Calibri" pitchFamily="34" charset="-122"/>
                          <a:cs typeface="Calibri" pitchFamily="34" charset="-120"/>
                        </a:rPr>
                        <a:t>Followed?</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950" b="1" dirty="0">
                          <a:solidFill>
                            <a:schemeClr val="bg1"/>
                          </a:solidFill>
                          <a:latin typeface="Calibri" pitchFamily="34" charset="0"/>
                          <a:ea typeface="Calibri" pitchFamily="34" charset="-122"/>
                          <a:cs typeface="Calibri" pitchFamily="34" charset="-120"/>
                        </a:rPr>
                        <a:t>NRB bank rate</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950" b="1" dirty="0">
                          <a:solidFill>
                            <a:schemeClr val="bg1"/>
                          </a:solidFill>
                          <a:latin typeface="Calibri" pitchFamily="34" charset="0"/>
                          <a:ea typeface="Calibri" pitchFamily="34" charset="-122"/>
                          <a:cs typeface="Calibri" pitchFamily="34" charset="-120"/>
                        </a:rPr>
                        <a:t>Followed?</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r>
              <a:tr h="265176">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Hike 2001</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0.50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0.44</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b="1" dirty="0">
                          <a:solidFill>
                            <a:schemeClr val="accent3"/>
                          </a:solidFill>
                          <a:latin typeface="Calibri" pitchFamily="34" charset="0"/>
                          <a:ea typeface="Calibri" pitchFamily="34" charset="-122"/>
                          <a:cs typeface="Calibri" pitchFamily="34" charset="-120"/>
                        </a:rPr>
                        <a:t>same way</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0.00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accent4"/>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Cut 2001 to 2004</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3.00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3.30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b="1" dirty="0">
                          <a:solidFill>
                            <a:schemeClr val="accent3"/>
                          </a:solidFill>
                          <a:latin typeface="Calibri" pitchFamily="34" charset="0"/>
                          <a:ea typeface="Calibri" pitchFamily="34" charset="-122"/>
                          <a:cs typeface="Calibri" pitchFamily="34" charset="-120"/>
                        </a:rPr>
                        <a:t>same way</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2.00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b="1" dirty="0">
                          <a:solidFill>
                            <a:schemeClr val="accent3"/>
                          </a:solidFill>
                          <a:latin typeface="Calibri" pitchFamily="34" charset="0"/>
                          <a:ea typeface="Calibri" pitchFamily="34" charset="-122"/>
                          <a:cs typeface="Calibri" pitchFamily="34" charset="-120"/>
                        </a:rPr>
                        <a:t>same way</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Hike 2005 to 2008</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3.00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1.29</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b="1" dirty="0">
                          <a:solidFill>
                            <a:schemeClr val="accent3"/>
                          </a:solidFill>
                          <a:latin typeface="Calibri" pitchFamily="34" charset="0"/>
                          <a:ea typeface="Calibri" pitchFamily="34" charset="-122"/>
                          <a:cs typeface="Calibri" pitchFamily="34" charset="-120"/>
                        </a:rPr>
                        <a:t>same way</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0.50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b="1" dirty="0">
                          <a:solidFill>
                            <a:schemeClr val="accent3"/>
                          </a:solidFill>
                          <a:latin typeface="Calibri" pitchFamily="34" charset="0"/>
                          <a:ea typeface="Calibri" pitchFamily="34" charset="-122"/>
                          <a:cs typeface="Calibri" pitchFamily="34" charset="-120"/>
                        </a:rPr>
                        <a:t>same way</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Cut 2008 to 2009</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4.25</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1.33</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accent4"/>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0.25</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accent4"/>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Hike 2010 to 2011</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3.75</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10.74</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accent4"/>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0.50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b="1" dirty="0">
                          <a:solidFill>
                            <a:schemeClr val="accent3"/>
                          </a:solidFill>
                          <a:latin typeface="Calibri" pitchFamily="34" charset="0"/>
                          <a:ea typeface="Calibri" pitchFamily="34" charset="-122"/>
                          <a:cs typeface="Calibri" pitchFamily="34" charset="-120"/>
                        </a:rPr>
                        <a:t>same way</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Cut 2012 to 2013</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1.25</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0.39</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b="1" dirty="0">
                          <a:solidFill>
                            <a:schemeClr val="accent3"/>
                          </a:solidFill>
                          <a:latin typeface="Calibri" pitchFamily="34" charset="0"/>
                          <a:ea typeface="Calibri" pitchFamily="34" charset="-122"/>
                          <a:cs typeface="Calibri" pitchFamily="34" charset="-120"/>
                        </a:rPr>
                        <a:t>same way</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accent4"/>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Hike 2013 to 2014</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0.75</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0.11</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accent4"/>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0.00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accent4"/>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Cut 2015 to 2017</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2.00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2.53</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accent4"/>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1.00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b="1" dirty="0">
                          <a:solidFill>
                            <a:schemeClr val="accent3"/>
                          </a:solidFill>
                          <a:latin typeface="Calibri" pitchFamily="34" charset="0"/>
                          <a:ea typeface="Calibri" pitchFamily="34" charset="-122"/>
                          <a:cs typeface="Calibri" pitchFamily="34" charset="-120"/>
                        </a:rPr>
                        <a:t>same way</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Hike 2018</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0.50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2.85</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accent4"/>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0.50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accent4"/>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Cut 2019 to 2020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2.50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2.82</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b="1" dirty="0">
                          <a:solidFill>
                            <a:schemeClr val="accent3"/>
                          </a:solidFill>
                          <a:latin typeface="Calibri" pitchFamily="34" charset="0"/>
                          <a:ea typeface="Calibri" pitchFamily="34" charset="-122"/>
                          <a:cs typeface="Calibri" pitchFamily="34" charset="-120"/>
                        </a:rPr>
                        <a:t>same way</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1.50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b="1" dirty="0">
                          <a:solidFill>
                            <a:schemeClr val="accent3"/>
                          </a:solidFill>
                          <a:latin typeface="Calibri" pitchFamily="34" charset="0"/>
                          <a:ea typeface="Calibri" pitchFamily="34" charset="-122"/>
                          <a:cs typeface="Calibri" pitchFamily="34" charset="-120"/>
                        </a:rPr>
                        <a:t>same way</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Hike 2022 to 2023</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0.02</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accent4"/>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b="1" dirty="0">
                          <a:solidFill>
                            <a:schemeClr val="accent3"/>
                          </a:solidFill>
                          <a:latin typeface="Calibri" pitchFamily="34" charset="0"/>
                          <a:ea typeface="Calibri" pitchFamily="34" charset="-122"/>
                          <a:cs typeface="Calibri" pitchFamily="34" charset="-120"/>
                        </a:rPr>
                        <a:t>same way</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65176">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Cut 2025</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1.25</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0.30</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b="1" dirty="0">
                          <a:solidFill>
                            <a:schemeClr val="accent3"/>
                          </a:solidFill>
                          <a:latin typeface="Calibri" pitchFamily="34" charset="0"/>
                          <a:ea typeface="Calibri" pitchFamily="34" charset="-122"/>
                          <a:cs typeface="Calibri" pitchFamily="34" charset="-120"/>
                        </a:rPr>
                        <a:t>same way</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minus 0.75</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950" b="1" dirty="0">
                          <a:solidFill>
                            <a:schemeClr val="accent3"/>
                          </a:solidFill>
                          <a:latin typeface="Calibri" pitchFamily="34" charset="0"/>
                          <a:ea typeface="Calibri" pitchFamily="34" charset="-122"/>
                          <a:cs typeface="Calibri" pitchFamily="34" charset="-120"/>
                        </a:rPr>
                        <a:t>same way</a:t>
                      </a:r>
                      <a:endParaRPr lang="en-US" sz="950" dirty="0">
                        <a:latin typeface="Calibri" charset="0"/>
                        <a:ea typeface="Calibri" charset="0"/>
                        <a:cs typeface="Calibri" charset="0"/>
                      </a:endParaRPr>
                    </a:p>
                  </a:txBody>
                  <a:tcPr marL="27432" marR="27432" marT="27432" marB="27432">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bl>
          </a:graphicData>
        </a:graphic>
      </p:graphicFrame>
      <p:sp>
        <p:nvSpPr>
          <p:cNvPr id="4" name="nc-read"/>
          <p:cNvSpPr/>
          <p:nvPr/>
        </p:nvSpPr>
        <p:spPr>
          <a:xfrm>
            <a:off x="6355080" y="1005840"/>
            <a:ext cx="2331720" cy="3566160"/>
          </a:xfrm>
          <a:prstGeom prst="roundRect">
            <a:avLst>
              <a:gd name="adj" fmla="val 3137"/>
            </a:avLst>
          </a:prstGeom>
          <a:solidFill>
            <a:schemeClr val="bg2"/>
          </a:solidFill>
          <a:ln/>
        </p:spPr>
      </p:sp>
      <p:sp>
        <p:nvSpPr>
          <p:cNvPr id="5" name="Text 2"/>
          <p:cNvSpPr txBox="1"/>
          <p:nvPr/>
        </p:nvSpPr>
        <p:spPr>
          <a:xfrm>
            <a:off x="6492240" y="1143000"/>
            <a:ext cx="2103120" cy="3337560"/>
          </a:xfrm>
          <a:prstGeom prst="rect">
            <a:avLst/>
          </a:prstGeom>
          <a:noFill/>
          <a:ln/>
        </p:spPr>
        <p:txBody>
          <a:bodyPr wrap="square" lIns="0" tIns="0" rIns="0" bIns="0" rtlCol="0" anchor="t"/>
          <a:lstStyle/>
          <a:p>
            <a:pPr indent="0" marL="0">
              <a:buNone/>
            </a:pPr>
            <a:r>
              <a:rPr lang="en-US" sz="1100" b="1" dirty="0">
                <a:solidFill>
                  <a:schemeClr val="accent2"/>
                </a:solidFill>
                <a:latin typeface="Calibri" pitchFamily="34" charset="0"/>
                <a:ea typeface="Calibri" pitchFamily="34" charset="-122"/>
                <a:cs typeface="Calibri" pitchFamily="34" charset="-120"/>
              </a:rPr>
              <a:t>Market rate: 6 of 12</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Nepal's interbank rate moved the RBI's way only half the time: in 2010 it fell 10.7 points while India hiked.</a:t>
            </a:r>
            <a:endParaRPr lang="en-US" sz="11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chemeClr val="accent1"/>
                </a:solidFill>
                <a:latin typeface="Calibri" pitchFamily="34" charset="0"/>
                <a:ea typeface="Calibri" pitchFamily="34" charset="-122"/>
                <a:cs typeface="Calibri" pitchFamily="34" charset="-120"/>
              </a:rPr>
              <a:t>Why it matters</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Textbook theory says a peg imports the anchor's interest rate. Capital controls stop that: the peg alone does not carry India's rate.</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Channel 1: India's inflation becomes Nepal's</a:t>
            </a:r>
            <a:endParaRPr lang="en-US" sz="2600" dirty="0"/>
          </a:p>
        </p:txBody>
      </p:sp>
      <p:graphicFrame>
        <p:nvGraphicFramePr>
          <p:cNvPr id="3" name="Chart 0" descr=""/>
          <p:cNvGraphicFramePr/>
          <p:nvPr/>
        </p:nvGraphicFramePr>
        <p:xfrm>
          <a:off x="365760" y="1005840"/>
          <a:ext cx="5257800" cy="3611880"/>
        </p:xfrm>
        <a:graphic xmlns:a="http://schemas.openxmlformats.org/drawingml/2006/main">
          <a:graphicData uri="http://schemas.openxmlformats.org/drawingml/2006/chart">
            <c:chart xmlns:c="http://schemas.openxmlformats.org/drawingml/2006/chart" r:id="rId1"/>
          </a:graphicData>
        </a:graphic>
      </p:graphicFrame>
      <p:sp>
        <p:nvSpPr>
          <p:cNvPr id="4" name="pr0"/>
          <p:cNvSpPr/>
          <p:nvPr/>
        </p:nvSpPr>
        <p:spPr>
          <a:xfrm>
            <a:off x="5760720" y="1097280"/>
            <a:ext cx="2926080" cy="1051560"/>
          </a:xfrm>
          <a:prstGeom prst="roundRect">
            <a:avLst>
              <a:gd name="adj" fmla="val 6957"/>
            </a:avLst>
          </a:prstGeom>
          <a:solidFill>
            <a:schemeClr val="bg2"/>
          </a:solidFill>
          <a:ln/>
        </p:spPr>
      </p:sp>
      <p:sp>
        <p:nvSpPr>
          <p:cNvPr id="5" name="Text 2"/>
          <p:cNvSpPr txBox="1"/>
          <p:nvPr/>
        </p:nvSpPr>
        <p:spPr>
          <a:xfrm>
            <a:off x="5897880" y="1170432"/>
            <a:ext cx="2697480" cy="932688"/>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Correlation 0.88</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Since November 2021, the years of India's last full hiking and cutting cycles. 0.66 since 2013.</a:t>
            </a:r>
            <a:endParaRPr lang="en-US" sz="1100" dirty="0"/>
          </a:p>
        </p:txBody>
      </p:sp>
      <p:sp>
        <p:nvSpPr>
          <p:cNvPr id="6" name="pr1"/>
          <p:cNvSpPr/>
          <p:nvPr/>
        </p:nvSpPr>
        <p:spPr>
          <a:xfrm>
            <a:off x="5760720" y="2258568"/>
            <a:ext cx="2926080" cy="1051560"/>
          </a:xfrm>
          <a:prstGeom prst="roundRect">
            <a:avLst>
              <a:gd name="adj" fmla="val 6957"/>
            </a:avLst>
          </a:prstGeom>
          <a:solidFill>
            <a:schemeClr val="bg2"/>
          </a:solidFill>
          <a:ln/>
        </p:spPr>
      </p:sp>
      <p:sp>
        <p:nvSpPr>
          <p:cNvPr id="7" name="Text 4"/>
          <p:cNvSpPr txBox="1"/>
          <p:nvPr/>
        </p:nvSpPr>
        <p:spPr>
          <a:xfrm>
            <a:off x="5897880" y="2331720"/>
            <a:ext cx="2697480" cy="932688"/>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Why</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A fixed rupee price makes India's goods, fuel and food prices Nepal's import prices.</a:t>
            </a:r>
            <a:endParaRPr lang="en-US" sz="1100" dirty="0"/>
          </a:p>
        </p:txBody>
      </p:sp>
      <p:sp>
        <p:nvSpPr>
          <p:cNvPr id="8" name="pr2"/>
          <p:cNvSpPr/>
          <p:nvPr/>
        </p:nvSpPr>
        <p:spPr>
          <a:xfrm>
            <a:off x="5760720" y="3419856"/>
            <a:ext cx="2926080" cy="1051560"/>
          </a:xfrm>
          <a:prstGeom prst="roundRect">
            <a:avLst>
              <a:gd name="adj" fmla="val 6957"/>
            </a:avLst>
          </a:prstGeom>
          <a:solidFill>
            <a:schemeClr val="bg2"/>
          </a:solidFill>
          <a:ln/>
        </p:spPr>
      </p:sp>
      <p:sp>
        <p:nvSpPr>
          <p:cNvPr id="9" name="Text 6"/>
          <p:cNvSpPr txBox="1"/>
          <p:nvPr/>
        </p:nvSpPr>
        <p:spPr>
          <a:xfrm>
            <a:off x="5897880" y="3493008"/>
            <a:ext cx="2697480" cy="932688"/>
          </a:xfrm>
          <a:prstGeom prst="rect">
            <a:avLst/>
          </a:prstGeom>
          <a:noFill/>
          <a:ln/>
        </p:spPr>
        <p:txBody>
          <a:bodyPr wrap="square" lIns="0" tIns="0" rIns="0" bIns="0" rtlCol="0" anchor="t"/>
          <a:lstStyle/>
          <a:p>
            <a:pPr indent="0" marL="0">
              <a:buNone/>
            </a:pPr>
            <a:r>
              <a:rPr lang="en-US" sz="1100" b="1" dirty="0">
                <a:solidFill>
                  <a:schemeClr val="accent2"/>
                </a:solidFill>
                <a:latin typeface="Calibri" pitchFamily="34" charset="0"/>
                <a:ea typeface="Calibri" pitchFamily="34" charset="-122"/>
                <a:cs typeface="Calibri" pitchFamily="34" charset="-120"/>
              </a:rPr>
              <a:t>For the new cycle</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An RBI hike that cools India's inflation cools Nepal's too, without the NRB moving.</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Channel 2: since 2016 the NRB follows the RBI at 0.5</a:t>
            </a:r>
            <a:endParaRPr lang="en-US" sz="2600" dirty="0"/>
          </a:p>
        </p:txBody>
      </p:sp>
      <p:graphicFrame>
        <p:nvGraphicFramePr>
          <p:cNvPr id="3" name="Chart 0" descr=""/>
          <p:cNvGraphicFramePr/>
          <p:nvPr/>
        </p:nvGraphicFramePr>
        <p:xfrm>
          <a:off x="365760" y="1005840"/>
          <a:ext cx="493776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0" y="1097280"/>
          <a:ext cx="3200400" cy="914400"/>
        </p:xfrm>
        <a:graphic>
          <a:graphicData uri="http://schemas.openxmlformats.org/drawingml/2006/table">
            <a:tbl>
              <a:tblPr/>
              <a:tblGrid>
                <a:gridCol w="1097280"/>
                <a:gridCol w="777240"/>
                <a:gridCol w="777240"/>
                <a:gridCol w="548640"/>
              </a:tblGrid>
              <a:tr h="292608">
                <a:tc>
                  <a:txBody>
                    <a:bodyPr/>
                    <a:lstStyle/>
                    <a:p>
                      <a:pPr algn="ctr" indent="0" marL="0">
                        <a:buNone/>
                      </a:pPr>
                      <a:r>
                        <a:rPr lang="en-US" sz="1000" b="1" dirty="0">
                          <a:solidFill>
                            <a:schemeClr val="bg1"/>
                          </a:solidFill>
                          <a:latin typeface="Calibri" pitchFamily="34" charset="0"/>
                          <a:ea typeface="Calibri" pitchFamily="34" charset="-122"/>
                          <a:cs typeface="Calibri" pitchFamily="34" charset="-120"/>
                        </a:rPr>
                        <a:t>RBI cycle</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latin typeface="Calibri" pitchFamily="34" charset="0"/>
                          <a:ea typeface="Calibri" pitchFamily="34" charset="-122"/>
                          <a:cs typeface="Calibri" pitchFamily="34" charset="-120"/>
                        </a:rPr>
                        <a:t>RBI</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latin typeface="Calibri" pitchFamily="34" charset="0"/>
                          <a:ea typeface="Calibri" pitchFamily="34" charset="-122"/>
                          <a:cs typeface="Calibri" pitchFamily="34" charset="-120"/>
                        </a:rPr>
                        <a:t>NRB</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latin typeface="Calibri" pitchFamily="34" charset="0"/>
                          <a:ea typeface="Calibri" pitchFamily="34" charset="-122"/>
                          <a:cs typeface="Calibri" pitchFamily="34" charset="-120"/>
                        </a:rPr>
                        <a:t>Ratio</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r>
              <a:tr h="292608">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Cut 2019 to 2020</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minus 2.50</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minus 1.50</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00" b="1" dirty="0">
                          <a:solidFill>
                            <a:schemeClr val="accent2"/>
                          </a:solidFill>
                          <a:latin typeface="Calibri" pitchFamily="34" charset="0"/>
                          <a:ea typeface="Calibri" pitchFamily="34" charset="-122"/>
                          <a:cs typeface="Calibri" pitchFamily="34" charset="-120"/>
                        </a:rPr>
                        <a:t>0.6</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92608">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Hike 2022 to 2023</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2.50</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1.50</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00" b="1" dirty="0">
                          <a:solidFill>
                            <a:schemeClr val="accent2"/>
                          </a:solidFill>
                          <a:latin typeface="Calibri" pitchFamily="34" charset="0"/>
                          <a:ea typeface="Calibri" pitchFamily="34" charset="-122"/>
                          <a:cs typeface="Calibri" pitchFamily="34" charset="-120"/>
                        </a:rPr>
                        <a:t>0.6</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292608">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Cut 2025</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minus 1.25</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minus 0.75</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ctr" indent="0" marL="0">
                        <a:buNone/>
                      </a:pPr>
                      <a:r>
                        <a:rPr lang="en-US" sz="1000" b="1" dirty="0">
                          <a:solidFill>
                            <a:schemeClr val="accent2"/>
                          </a:solidFill>
                          <a:latin typeface="Calibri" pitchFamily="34" charset="0"/>
                          <a:ea typeface="Calibri" pitchFamily="34" charset="-122"/>
                          <a:cs typeface="Calibri" pitchFamily="34" charset="-120"/>
                        </a:rPr>
                        <a:t>0.6</a:t>
                      </a:r>
                      <a:endParaRPr lang="en-US" sz="1000" dirty="0">
                        <a:latin typeface="Calibri" charset="0"/>
                        <a:ea typeface="Calibri" charset="0"/>
                        <a:cs typeface="Calibri" charset="0"/>
                      </a:endParaRPr>
                    </a:p>
                  </a:txBody>
                  <a:tcPr marL="36576" marR="36576" marT="36576" marB="36576">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bl>
          </a:graphicData>
        </a:graphic>
      </p:graphicFrame>
      <p:sp>
        <p:nvSpPr>
          <p:cNvPr id="5" name="Text 1"/>
          <p:cNvSpPr txBox="1"/>
          <p:nvPr/>
        </p:nvSpPr>
        <p:spPr>
          <a:xfrm>
            <a:off x="5486400" y="2377440"/>
            <a:ext cx="3200400" cy="118872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Monthly test, 2001 to 2026: 0.49 per RBI point in the corridor years (95 percent interval 0.14 to 0.85, p 0.007), 0.02 before (p 0.58). The last three cycles all fit.</a:t>
            </a:r>
            <a:endParaRPr lang="en-US" sz="1150" dirty="0"/>
          </a:p>
        </p:txBody>
      </p:sp>
      <p:sp>
        <p:nvSpPr>
          <p:cNvPr id="6" name="Text 2"/>
          <p:cNvSpPr txBox="1"/>
          <p:nvPr/>
        </p:nvSpPr>
        <p:spPr>
          <a:xfrm>
            <a:off x="5486400" y="3657600"/>
            <a:ext cx="3200400" cy="822960"/>
          </a:xfrm>
          <a:prstGeom prst="rect">
            <a:avLst/>
          </a:prstGeom>
          <a:noFill/>
          <a:ln/>
        </p:spPr>
        <p:txBody>
          <a:bodyPr wrap="square" lIns="0" tIns="0" rIns="0" bIns="0" rtlCol="0" anchor="t"/>
          <a:lstStyle/>
          <a:p>
            <a:pPr indent="0" marL="0">
              <a:buNone/>
            </a:pPr>
            <a:r>
              <a:rPr lang="en-US" sz="1150" i="1" dirty="0">
                <a:solidFill>
                  <a:schemeClr val="tx2"/>
                </a:solidFill>
                <a:latin typeface="Calibri" pitchFamily="34" charset="0"/>
                <a:ea typeface="Calibri" pitchFamily="34" charset="-122"/>
                <a:cs typeface="Calibri" pitchFamily="34" charset="-120"/>
              </a:rPr>
              <a:t>At this response, a cycle ending at 5.75 to 6.00 implies an NRB move of about 0.25 to 0.37 point.</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Channel 3: liquidity decides the market rate</a:t>
            </a:r>
            <a:endParaRPr lang="en-US" sz="2600" dirty="0"/>
          </a:p>
        </p:txBody>
      </p:sp>
      <p:pic>
        <p:nvPicPr>
          <p:cNvPr id="3" name="Image 0" descr="Nepal interbank rate inside the NRB corridor with FX purchases, remittances, fiscal flows, credit and deposit growth, 2019 to 2026">    </p:cNvPr>
          <p:cNvPicPr>
            <a:picLocks noChangeAspect="1"/>
          </p:cNvPicPr>
          <p:nvPr/>
        </p:nvPicPr>
        <p:blipFill>
          <a:blip r:embed="rId1"/>
          <a:stretch>
            <a:fillRect/>
          </a:stretch>
        </p:blipFill>
        <p:spPr>
          <a:xfrm>
            <a:off x="365760" y="960120"/>
            <a:ext cx="4023360" cy="3621024"/>
          </a:xfrm>
          <a:prstGeom prst="rect">
            <a:avLst/>
          </a:prstGeom>
        </p:spPr>
      </p:pic>
      <p:sp>
        <p:nvSpPr>
          <p:cNvPr id="4" name="ep0"/>
          <p:cNvSpPr/>
          <p:nvPr/>
        </p:nvSpPr>
        <p:spPr>
          <a:xfrm>
            <a:off x="4617720" y="1005840"/>
            <a:ext cx="4069080" cy="1078992"/>
          </a:xfrm>
          <a:prstGeom prst="roundRect">
            <a:avLst>
              <a:gd name="adj" fmla="val 6780"/>
            </a:avLst>
          </a:prstGeom>
          <a:solidFill>
            <a:schemeClr val="bg2"/>
          </a:solidFill>
          <a:ln/>
        </p:spPr>
      </p:sp>
      <p:sp>
        <p:nvSpPr>
          <p:cNvPr id="5" name="Text 2"/>
          <p:cNvSpPr txBox="1"/>
          <p:nvPr/>
        </p:nvSpPr>
        <p:spPr>
          <a:xfrm>
            <a:off x="4754880" y="1069848"/>
            <a:ext cx="3840480" cy="960120"/>
          </a:xfrm>
          <a:prstGeom prst="rect">
            <a:avLst/>
          </a:prstGeom>
          <a:noFill/>
          <a:ln/>
        </p:spPr>
        <p:txBody>
          <a:bodyPr wrap="square" lIns="0" tIns="0" rIns="0" bIns="0" rtlCol="0" anchor="t"/>
          <a:lstStyle/>
          <a:p>
            <a:pPr indent="0" marL="0">
              <a:buNone/>
            </a:pPr>
            <a:r>
              <a:rPr lang="en-US" sz="1100" b="1" dirty="0">
                <a:solidFill>
                  <a:schemeClr val="accent2"/>
                </a:solidFill>
                <a:latin typeface="Calibri" pitchFamily="34" charset="0"/>
                <a:ea typeface="Calibri" pitchFamily="34" charset="-122"/>
                <a:cs typeface="Calibri" pitchFamily="34" charset="-120"/>
              </a:rPr>
              <a:t>Floor, 2020 to 2021, 9 months</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Interbank 0.3 percent. Deposits grew 21 percent, credit 14; excess reserves 3.6 percent of deposits.</a:t>
            </a:r>
            <a:endParaRPr lang="en-US" sz="1100" dirty="0"/>
          </a:p>
        </p:txBody>
      </p:sp>
      <p:sp>
        <p:nvSpPr>
          <p:cNvPr id="6" name="ep1"/>
          <p:cNvSpPr/>
          <p:nvPr/>
        </p:nvSpPr>
        <p:spPr>
          <a:xfrm>
            <a:off x="4617720" y="2194560"/>
            <a:ext cx="4069080" cy="1078992"/>
          </a:xfrm>
          <a:prstGeom prst="roundRect">
            <a:avLst>
              <a:gd name="adj" fmla="val 6780"/>
            </a:avLst>
          </a:prstGeom>
          <a:solidFill>
            <a:schemeClr val="bg2"/>
          </a:solidFill>
          <a:ln/>
        </p:spPr>
      </p:sp>
      <p:sp>
        <p:nvSpPr>
          <p:cNvPr id="7" name="Text 4"/>
          <p:cNvSpPr txBox="1"/>
          <p:nvPr/>
        </p:nvSpPr>
        <p:spPr>
          <a:xfrm>
            <a:off x="4754880" y="2258568"/>
            <a:ext cx="3840480" cy="960120"/>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Ceiling, 2021 to 2022, 15 months</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Interbank 6.5 percent. Credit grew 20 percent, deposits 13; excess reserves fell to 0.35; NRB never net absorbing.</a:t>
            </a:r>
            <a:endParaRPr lang="en-US" sz="1100" dirty="0"/>
          </a:p>
        </p:txBody>
      </p:sp>
      <p:sp>
        <p:nvSpPr>
          <p:cNvPr id="8" name="ep2"/>
          <p:cNvSpPr/>
          <p:nvPr/>
        </p:nvSpPr>
        <p:spPr>
          <a:xfrm>
            <a:off x="4617720" y="3383280"/>
            <a:ext cx="4069080" cy="1078992"/>
          </a:xfrm>
          <a:prstGeom prst="roundRect">
            <a:avLst>
              <a:gd name="adj" fmla="val 6780"/>
            </a:avLst>
          </a:prstGeom>
          <a:solidFill>
            <a:schemeClr val="bg2"/>
          </a:solidFill>
          <a:ln/>
        </p:spPr>
      </p:sp>
      <p:sp>
        <p:nvSpPr>
          <p:cNvPr id="9" name="Text 6"/>
          <p:cNvSpPr txBox="1"/>
          <p:nvPr/>
        </p:nvSpPr>
        <p:spPr>
          <a:xfrm>
            <a:off x="4754880" y="3447288"/>
            <a:ext cx="3840480" cy="960120"/>
          </a:xfrm>
          <a:prstGeom prst="rect">
            <a:avLst/>
          </a:prstGeom>
          <a:noFill/>
          <a:ln/>
        </p:spPr>
        <p:txBody>
          <a:bodyPr wrap="square" lIns="0" tIns="0" rIns="0" bIns="0" rtlCol="0" anchor="t"/>
          <a:lstStyle/>
          <a:p>
            <a:pPr indent="0" marL="0">
              <a:buNone/>
            </a:pPr>
            <a:r>
              <a:rPr lang="en-US" sz="1100" b="1" dirty="0">
                <a:solidFill>
                  <a:schemeClr val="accent2"/>
                </a:solidFill>
                <a:latin typeface="Calibri" pitchFamily="34" charset="0"/>
                <a:ea typeface="Calibri" pitchFamily="34" charset="-122"/>
                <a:cs typeface="Calibri" pitchFamily="34" charset="-120"/>
              </a:rPr>
              <a:t>Floor, 2023 to 2026, 34 months</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Interbank 2.9 percent. Credit 6.5, deposits 13; remittances 29 percent of broad money a year; NRB absorbing in 94 percent of months.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Model against reality: Nepal's interbank rate</a:t>
            </a:r>
            <a:endParaRPr lang="en-US" sz="2600" dirty="0"/>
          </a:p>
        </p:txBody>
      </p:sp>
      <p:graphicFrame>
        <p:nvGraphicFramePr>
          <p:cNvPr id="3" name="Chart 0" descr=""/>
          <p:cNvGraphicFramePr/>
          <p:nvPr/>
        </p:nvGraphicFramePr>
        <p:xfrm>
          <a:off x="365760" y="1005840"/>
          <a:ext cx="5257800" cy="3611880"/>
        </p:xfrm>
        <a:graphic xmlns:a="http://schemas.openxmlformats.org/drawingml/2006/main">
          <a:graphicData uri="http://schemas.openxmlformats.org/drawingml/2006/chart">
            <c:chart xmlns:c="http://schemas.openxmlformats.org/drawingml/2006/chart" r:id="rId1"/>
          </a:graphicData>
        </a:graphic>
      </p:graphicFrame>
      <p:sp>
        <p:nvSpPr>
          <p:cNvPr id="4" name="nm0"/>
          <p:cNvSpPr/>
          <p:nvPr/>
        </p:nvSpPr>
        <p:spPr>
          <a:xfrm>
            <a:off x="5760720" y="1097280"/>
            <a:ext cx="2926080" cy="1051560"/>
          </a:xfrm>
          <a:prstGeom prst="roundRect">
            <a:avLst>
              <a:gd name="adj" fmla="val 6957"/>
            </a:avLst>
          </a:prstGeom>
          <a:solidFill>
            <a:schemeClr val="bg2"/>
          </a:solidFill>
          <a:ln/>
        </p:spPr>
      </p:sp>
      <p:sp>
        <p:nvSpPr>
          <p:cNvPr id="5" name="Text 2"/>
          <p:cNvSpPr txBox="1"/>
          <p:nvPr/>
        </p:nvSpPr>
        <p:spPr>
          <a:xfrm>
            <a:off x="5897880" y="1170432"/>
            <a:ext cx="2697480" cy="932688"/>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India is an input</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The model reads the RBI's repo change of the last three months with Nepal's corridor and liquidity.</a:t>
            </a:r>
            <a:endParaRPr lang="en-US" sz="1100" dirty="0"/>
          </a:p>
        </p:txBody>
      </p:sp>
      <p:sp>
        <p:nvSpPr>
          <p:cNvPr id="6" name="nm1"/>
          <p:cNvSpPr/>
          <p:nvPr/>
        </p:nvSpPr>
        <p:spPr>
          <a:xfrm>
            <a:off x="5760720" y="2258568"/>
            <a:ext cx="2926080" cy="1051560"/>
          </a:xfrm>
          <a:prstGeom prst="roundRect">
            <a:avLst>
              <a:gd name="adj" fmla="val 6957"/>
            </a:avLst>
          </a:prstGeom>
          <a:solidFill>
            <a:schemeClr val="bg2"/>
          </a:solidFill>
          <a:ln/>
        </p:spPr>
      </p:sp>
      <p:sp>
        <p:nvSpPr>
          <p:cNvPr id="7" name="Text 4"/>
          <p:cNvSpPr txBox="1"/>
          <p:nvPr/>
        </p:nvSpPr>
        <p:spPr>
          <a:xfrm>
            <a:off x="5897880" y="2331720"/>
            <a:ext cx="2697480" cy="932688"/>
          </a:xfrm>
          <a:prstGeom prst="rect">
            <a:avLst/>
          </a:prstGeom>
          <a:noFill/>
          <a:ln/>
        </p:spPr>
        <p:txBody>
          <a:bodyPr wrap="square" lIns="0" tIns="0" rIns="0" bIns="0" rtlCol="0" anchor="t"/>
          <a:lstStyle/>
          <a:p>
            <a:pPr indent="0" marL="0">
              <a:buNone/>
            </a:pPr>
            <a:r>
              <a:rPr lang="en-US" sz="1100" b="1" dirty="0">
                <a:solidFill>
                  <a:schemeClr val="accent3"/>
                </a:solidFill>
                <a:latin typeface="Calibri" pitchFamily="34" charset="0"/>
                <a:ea typeface="Calibri" pitchFamily="34" charset="-122"/>
                <a:cs typeface="Calibri" pitchFamily="34" charset="-120"/>
              </a:rPr>
              <a:t>Training years</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Leaned the right way before 65 percent of rises and 73 percent of falls, 2008 to 2021.</a:t>
            </a:r>
            <a:endParaRPr lang="en-US" sz="1100" dirty="0"/>
          </a:p>
        </p:txBody>
      </p:sp>
      <p:sp>
        <p:nvSpPr>
          <p:cNvPr id="8" name="nm2"/>
          <p:cNvSpPr/>
          <p:nvPr/>
        </p:nvSpPr>
        <p:spPr>
          <a:xfrm>
            <a:off x="5760720" y="3419856"/>
            <a:ext cx="2926080" cy="1051560"/>
          </a:xfrm>
          <a:prstGeom prst="roundRect">
            <a:avLst>
              <a:gd name="adj" fmla="val 6957"/>
            </a:avLst>
          </a:prstGeom>
          <a:solidFill>
            <a:schemeClr val="bg2"/>
          </a:solidFill>
          <a:ln/>
        </p:spPr>
      </p:sp>
      <p:sp>
        <p:nvSpPr>
          <p:cNvPr id="9" name="Text 6"/>
          <p:cNvSpPr txBox="1"/>
          <p:nvPr/>
        </p:nvSpPr>
        <p:spPr>
          <a:xfrm>
            <a:off x="5897880" y="3493008"/>
            <a:ext cx="2697480" cy="932688"/>
          </a:xfrm>
          <a:prstGeom prst="rect">
            <a:avLst/>
          </a:prstGeom>
          <a:noFill/>
          <a:ln/>
        </p:spPr>
        <p:txBody>
          <a:bodyPr wrap="square" lIns="0" tIns="0" rIns="0" bIns="0" rtlCol="0" anchor="t"/>
          <a:lstStyle/>
          <a:p>
            <a:pPr indent="0" marL="0">
              <a:buNone/>
            </a:pPr>
            <a:r>
              <a:rPr lang="en-US" sz="1100" b="1" dirty="0">
                <a:solidFill>
                  <a:schemeClr val="accent3"/>
                </a:solidFill>
                <a:latin typeface="Calibri" pitchFamily="34" charset="0"/>
                <a:ea typeface="Calibri" pitchFamily="34" charset="-122"/>
                <a:cs typeface="Calibri" pitchFamily="34" charset="-120"/>
              </a:rPr>
              <a:t>2021 to 2026</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Quiet months called quiet 94 percent of the time; balanced accuracy for rises 0.67.</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What India's new cycle means for Nepal</a:t>
            </a:r>
            <a:endParaRPr lang="en-US" sz="2600" dirty="0"/>
          </a:p>
        </p:txBody>
      </p:sp>
      <p:sp>
        <p:nvSpPr>
          <p:cNvPr id="3" name="mean0"/>
          <p:cNvSpPr/>
          <p:nvPr/>
        </p:nvSpPr>
        <p:spPr>
          <a:xfrm>
            <a:off x="457200" y="1097280"/>
            <a:ext cx="4023360" cy="1645920"/>
          </a:xfrm>
          <a:prstGeom prst="roundRect">
            <a:avLst>
              <a:gd name="adj" fmla="val 4444"/>
            </a:avLst>
          </a:prstGeom>
          <a:solidFill>
            <a:schemeClr val="bg2"/>
          </a:solidFill>
          <a:ln/>
        </p:spPr>
      </p:sp>
      <p:sp>
        <p:nvSpPr>
          <p:cNvPr id="4" name="Text 2"/>
          <p:cNvSpPr txBox="1"/>
          <p:nvPr/>
        </p:nvSpPr>
        <p:spPr>
          <a:xfrm>
            <a:off x="640080" y="1216152"/>
            <a:ext cx="3657600" cy="1463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Prices first</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India's inflation is 5.5 percent and rising with oil and a weaker rupee. Through the peg this reaches Nepal's prices directly; an RBI hike that works in India works in Nepal.</a:t>
            </a:r>
            <a:endParaRPr lang="en-US" sz="1200" dirty="0"/>
          </a:p>
        </p:txBody>
      </p:sp>
      <p:sp>
        <p:nvSpPr>
          <p:cNvPr id="5" name="mean1"/>
          <p:cNvSpPr/>
          <p:nvPr/>
        </p:nvSpPr>
        <p:spPr>
          <a:xfrm>
            <a:off x="4663440" y="1097280"/>
            <a:ext cx="4023360" cy="1645920"/>
          </a:xfrm>
          <a:prstGeom prst="roundRect">
            <a:avLst>
              <a:gd name="adj" fmla="val 4444"/>
            </a:avLst>
          </a:prstGeom>
          <a:solidFill>
            <a:schemeClr val="bg2"/>
          </a:solidFill>
          <a:ln/>
        </p:spPr>
      </p:sp>
      <p:sp>
        <p:nvSpPr>
          <p:cNvPr id="6" name="Text 4"/>
          <p:cNvSpPr txBox="1"/>
          <p:nvPr/>
        </p:nvSpPr>
        <p:spPr>
          <a:xfrm>
            <a:off x="4846320" y="1216152"/>
            <a:ext cx="3657600" cy="146304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NRB corridor next</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At the 0.5 response measured since 2016, a cycle ending at 5.75 to 6.00 means an NRB move of about 0.25 to 0.37 point.</a:t>
            </a:r>
            <a:endParaRPr lang="en-US" sz="1200" dirty="0"/>
          </a:p>
        </p:txBody>
      </p:sp>
      <p:sp>
        <p:nvSpPr>
          <p:cNvPr id="7" name="mean2"/>
          <p:cNvSpPr/>
          <p:nvPr/>
        </p:nvSpPr>
        <p:spPr>
          <a:xfrm>
            <a:off x="457200" y="2880360"/>
            <a:ext cx="4023360" cy="1645920"/>
          </a:xfrm>
          <a:prstGeom prst="roundRect">
            <a:avLst>
              <a:gd name="adj" fmla="val 4444"/>
            </a:avLst>
          </a:prstGeom>
          <a:solidFill>
            <a:schemeClr val="bg2"/>
          </a:solidFill>
          <a:ln/>
        </p:spPr>
      </p:sp>
      <p:sp>
        <p:nvSpPr>
          <p:cNvPr id="8" name="Text 6"/>
          <p:cNvSpPr txBox="1"/>
          <p:nvPr/>
        </p:nvSpPr>
        <p:spPr>
          <a:xfrm>
            <a:off x="640080" y="2999232"/>
            <a:ext cx="3657600" cy="1463040"/>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Market rate: liquidity decides</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The interbank rate sits on the NRB floor of 2.75 percent, held there by remittance reserves. It follows India once liquidity tightens.</a:t>
            </a:r>
            <a:endParaRPr lang="en-US" sz="1200" dirty="0"/>
          </a:p>
        </p:txBody>
      </p:sp>
      <p:sp>
        <p:nvSpPr>
          <p:cNvPr id="9" name="mean3"/>
          <p:cNvSpPr/>
          <p:nvPr/>
        </p:nvSpPr>
        <p:spPr>
          <a:xfrm>
            <a:off x="4663440" y="2880360"/>
            <a:ext cx="4023360" cy="1645920"/>
          </a:xfrm>
          <a:prstGeom prst="roundRect">
            <a:avLst>
              <a:gd name="adj" fmla="val 4444"/>
            </a:avLst>
          </a:prstGeom>
          <a:solidFill>
            <a:schemeClr val="bg2"/>
          </a:solidFill>
          <a:ln/>
        </p:spPr>
      </p:sp>
      <p:sp>
        <p:nvSpPr>
          <p:cNvPr id="10" name="Text 8"/>
          <p:cNvSpPr txBox="1"/>
          <p:nvPr/>
        </p:nvSpPr>
        <p:spPr>
          <a:xfrm>
            <a:off x="4846320" y="2999232"/>
            <a:ext cx="3657600" cy="146304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The Gulf link</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Remittances, 29 percent of broad money a year, come largely from the Gulf. A Gulf war would raise India's oil bill and drain Nepal's liquidity together.</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972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Conclusion</a:t>
            </a:r>
            <a:endParaRPr lang="en-US" sz="4000" dirty="0"/>
          </a:p>
        </p:txBody>
      </p:sp>
      <p:sp>
        <p:nvSpPr>
          <p:cNvPr id="3" name="Text 0"/>
          <p:cNvSpPr/>
          <p:nvPr>
            <p:ph idx="101" type="body" hasCustomPrompt="1"/>
          </p:nvPr>
        </p:nvSpPr>
        <p:spPr>
          <a:xfrm>
            <a:off x="548640" y="2606040"/>
            <a:ext cx="8046720" cy="14630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CADCFC"/>
                </a:solidFill>
              </a:rPr>
              <a:t>India has entered a new hiking cycle. A second hike is more likely than not; the cycle most likely ends at 5.75 to 6.00, and oil decides which.</a:t>
            </a:r>
            <a:endParaRPr lang="en-US" sz="1800" dirty="0"/>
          </a:p>
          <a:p>
            <a:pPr marL="228600" indent="-228600">
              <a:spcAft>
                <a:spcPts val="800"/>
              </a:spcAft>
              <a:buSzPct val="100000"/>
              <a:buChar char="•"/>
            </a:pPr>
            <a:r>
              <a:rPr lang="en-US" sz="1800" dirty="0">
                <a:solidFill>
                  <a:srgbClr val="CADCFC"/>
                </a:solidFill>
              </a:rPr>
              <a:t>The peg carries India's prices into Nepal (0.88 since 2021). Nepal's market rate followed the RBI in only 6 of 12 cycles, but since the 2016 corridor the NRB moves about 0.5 point per RBI point.</a:t>
            </a:r>
            <a:endParaRPr lang="en-US" sz="1800" dirty="0"/>
          </a:p>
          <a:p>
            <a:pPr marL="228600" indent="-228600">
              <a:buSzPct val="100000"/>
              <a:buChar char="•"/>
            </a:pPr>
            <a:r>
              <a:rPr lang="en-US" sz="1800" dirty="0">
                <a:solidFill>
                  <a:srgbClr val="CADCFC"/>
                </a:solidFill>
              </a:rPr>
              <a:t>Over two years the model sees a short cycle peaking near 5.75 by April 2027, then easing back towards 5.25 by late 2028, with the NRB following at half strength. First test: December, against our recorded 0.56.</a:t>
            </a:r>
            <a:endParaRPr lang="en-US" sz="1800" dirty="0"/>
          </a:p>
        </p:txBody>
      </p:sp>
    </p:spTree>
  </p:cSld>
  <p:clrMapOvr>
    <a:masterClrMapping/>
  </p:clrMapOvr>
</p:sld>
</file>

<file path=ppt/theme/theme1.xml><?xml version="1.0" encoding="utf-8"?>
<a:theme xmlns:a="http://schemas.openxmlformats.org/drawingml/2006/main" name="RateCycle">
  <a:themeElements>
    <a:clrScheme name="RateCycle">
      <a:dk1>
        <a:srgbClr val="1B1F2A"/>
      </a:dk1>
      <a:lt1>
        <a:srgbClr val="FFFFFF"/>
      </a:lt1>
      <a:dk2>
        <a:srgbClr val="1F2D4A"/>
      </a:dk2>
      <a:lt2>
        <a:srgbClr val="F4F5F7"/>
      </a:lt2>
      <a:accent1>
        <a:srgbClr val="EB6834"/>
      </a:accent1>
      <a:accent2>
        <a:srgbClr val="2A78D6"/>
      </a:accent2>
      <a:accent3>
        <a:srgbClr val="1BAF7A"/>
      </a:accent3>
      <a:accent4>
        <a:srgbClr val="8A8F98"/>
      </a:accent4>
      <a:accent5>
        <a:srgbClr val="C8432B"/>
      </a:accent5>
      <a:accent6>
        <a:srgbClr val="F2B134"/>
      </a:accent6>
      <a:hlink>
        <a:srgbClr val="2A78D6"/>
      </a:hlink>
      <a:folHlink>
        <a:srgbClr val="1F2D4A"/>
      </a:folHlink>
    </a:clrScheme>
    <a:fontScheme name="RateCyc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 India enter a new rate cycle, and how does it reach Nepal?</dc:title>
  <dc:subject>PptxGenJS Presentation</dc:subject>
  <dc:creator>sakrit204-byte</dc:creator>
  <cp:lastModifiedBy>sakrit204-byte</cp:lastModifiedBy>
  <cp:revision>1</cp:revision>
  <dcterms:created xsi:type="dcterms:W3CDTF">2026-10-31T04:59:01Z</dcterms:created>
  <dcterms:modified xsi:type="dcterms:W3CDTF">2026-10-31T04:59:01Z</dcterms:modified>
</cp:coreProperties>
</file>